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Solar-Based RO Drinking Water Initiative: what will be installed in 10 government schools in Banaskatha District, how it will be delivered on the ground, who is responsible, how it is monitored, and how it keeps working after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challenge on the ground and the consequence it creates for the school. The last row explains why a conventional grid-powered RO is not enough, and why this project uses solar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describe the reach: 10 government schools, around 3,000 students, 140 teachers and more than 55,000 people in the surrounding communities. The bottom row lists the four things the project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how the system works, from sunlight to a child drinking clean water. Bottom grid: the specified components. Only specifications stated in the project document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backbone of the project. Steps 1 to 3 prepare the ground, steps 4 and 5 put the system in place and train people to use it, and step 6 keeps it working through 12 months of support before full ownership rests with the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explains how schools are chosen: transparently, using local data and a community needs assessment, against four criteria. Step 2 records the starting point at each school, during site visits, so that later changes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happens before anyone goes on site — sourcing equipment and aligning vendors. Right: the on-site sequence at each school, ending with testing and a quality and safety check before the system is used. The two frames on the right are for installation and testing photographs.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system is installed, the people who will run it are trained: teachers, school staff and local caretakers. Awareness sessions cover water safety, hygiene and sanitation, and community feedback is collected. The photo frame is for an image of a training or awareness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 Manager holds overall coordination. Four roles report in: technical delivery, water and sanitation, field supervision with schools and communities, and administration and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timeline top to bottom. Preparation happens in months 1 to 2, installation and training in months 2 to 3, initial operations in months 3 to 4, and sustained operations with regular maintenance run from month 4 to month 12. A mid-term review in month 6 and a final evaluation in month 12 measure progress and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runs as a cycle. It starts from the baseline, verifies the installation, and then keeps going through activity logs, photo and video evidence, checklists, monthly reports and feedback. Any issue leads to corrective action, and the cycle repeats. The right panel lists what is physically checked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gathered in the field — baseline data, installation records, photos and videos, training logs, feedback and financial records — is compiled into regular monthly and quarterly reports, case studies, an impact assessment and a final project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what happens after the installers leave. The school owns the system, trained staff and local personnel run it, 12 months of maintenance and water-quality testing support its operation, and periodic visits, usage monitoring and community involvement keep it in use. The two photo frames are for the inauguration or handover and for maintenance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outcomes the project expects in health, community and environment. Right: photographs from DigiGaon Foundation's previous field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jp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image" Target="../media/image-14-8.jpg"/><Relationship Id="rId9" Type="http://schemas.openxmlformats.org/officeDocument/2006/relationships/image" Target="../media/image-14-9.jp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4552"/>
        </a:solidFill>
      </p:bgPr>
    </p:bg>
    <p:spTree>
      <p:nvGrpSpPr>
        <p:cNvPr id="1" name=""/>
        <p:cNvGrpSpPr/>
        <p:nvPr/>
      </p:nvGrpSpPr>
      <p:grpSpPr>
        <a:xfrm>
          <a:off x="0" y="0"/>
          <a:ext cx="0" cy="0"/>
          <a:chOff x="0" y="0"/>
          <a:chExt cx="0" cy="0"/>
        </a:xfrm>
      </p:grpSpPr>
      <p:sp>
        <p:nvSpPr>
          <p:cNvPr id="2" name="Text 0"/>
          <p:cNvSpPr txBox="1"/>
          <p:nvPr/>
        </p:nvSpPr>
        <p:spPr>
          <a:xfrm>
            <a:off x="731520" y="1234440"/>
            <a:ext cx="6583680" cy="320040"/>
          </a:xfrm>
          <a:prstGeom prst="rect">
            <a:avLst/>
          </a:prstGeom>
          <a:noFill/>
          <a:ln/>
        </p:spPr>
        <p:txBody>
          <a:bodyPr wrap="square" lIns="0" tIns="0" rIns="0" bIns="0" rtlCol="0" anchor="t"/>
          <a:lstStyle/>
          <a:p>
            <a:pPr indent="0" marL="0">
              <a:buNone/>
            </a:pPr>
            <a:r>
              <a:rPr lang="en-US" sz="1400" b="1" spc="300" kern="0" dirty="0">
                <a:solidFill>
                  <a:srgbClr val="F2A33A"/>
                </a:solidFill>
                <a:latin typeface="Calibri" pitchFamily="34" charset="0"/>
                <a:ea typeface="Calibri" pitchFamily="34" charset="-122"/>
                <a:cs typeface="Calibri" pitchFamily="34" charset="-120"/>
              </a:rPr>
              <a:t>PROJECT EXPLANATION &amp; IMPLEMENTATION</a:t>
            </a:r>
            <a:endParaRPr lang="en-US" sz="1400" dirty="0"/>
          </a:p>
        </p:txBody>
      </p:sp>
      <p:sp>
        <p:nvSpPr>
          <p:cNvPr id="3" name="Text 1"/>
          <p:cNvSpPr txBox="1"/>
          <p:nvPr/>
        </p:nvSpPr>
        <p:spPr>
          <a:xfrm>
            <a:off x="731520" y="1645920"/>
            <a:ext cx="658368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Solar-Based RO Drinking Water Initiative</a:t>
            </a:r>
            <a:endParaRPr lang="en-US" sz="4400" dirty="0"/>
          </a:p>
        </p:txBody>
      </p:sp>
      <p:sp>
        <p:nvSpPr>
          <p:cNvPr id="4" name="Text 2"/>
          <p:cNvSpPr txBox="1"/>
          <p:nvPr/>
        </p:nvSpPr>
        <p:spPr>
          <a:xfrm>
            <a:off x="731520" y="3383280"/>
            <a:ext cx="6583680" cy="502920"/>
          </a:xfrm>
          <a:prstGeom prst="rect">
            <a:avLst/>
          </a:prstGeom>
          <a:noFill/>
          <a:ln/>
        </p:spPr>
        <p:txBody>
          <a:bodyPr wrap="square" lIns="0" tIns="0" rIns="0" bIns="0" rtlCol="0" anchor="t"/>
          <a:lstStyle/>
          <a:p>
            <a:pPr indent="0" marL="0">
              <a:buNone/>
            </a:pPr>
            <a:r>
              <a:rPr lang="en-US" sz="2200" dirty="0">
                <a:solidFill>
                  <a:srgbClr val="F6C57F"/>
                </a:solidFill>
                <a:latin typeface="Calibri" pitchFamily="34" charset="0"/>
                <a:ea typeface="Calibri" pitchFamily="34" charset="-122"/>
                <a:cs typeface="Calibri" pitchFamily="34" charset="-120"/>
              </a:rPr>
              <a:t>Implementation &amp; Project Delivery Overview</a:t>
            </a:r>
            <a:endParaRPr lang="en-US" sz="2200" dirty="0"/>
          </a:p>
        </p:txBody>
      </p:sp>
      <p:pic>
        <p:nvPicPr>
          <p:cNvPr id="5" name="Image 0" descr="preencoded.png">    </p:cNvPr>
          <p:cNvPicPr>
            <a:picLocks noChangeAspect="1"/>
          </p:cNvPicPr>
          <p:nvPr/>
        </p:nvPicPr>
        <p:blipFill>
          <a:blip r:embed="rId1"/>
          <a:stretch>
            <a:fillRect/>
          </a:stretch>
        </p:blipFill>
        <p:spPr>
          <a:xfrm>
            <a:off x="731520" y="4224528"/>
            <a:ext cx="274320" cy="329184"/>
          </a:xfrm>
          <a:prstGeom prst="rect">
            <a:avLst/>
          </a:prstGeom>
        </p:spPr>
      </p:pic>
      <p:sp>
        <p:nvSpPr>
          <p:cNvPr id="6" name="Text 3"/>
          <p:cNvSpPr txBox="1"/>
          <p:nvPr/>
        </p:nvSpPr>
        <p:spPr>
          <a:xfrm>
            <a:off x="1143000" y="4187952"/>
            <a:ext cx="621792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10 Government Schools  |  Banaskatha District, Gujarat</a:t>
            </a:r>
            <a:endParaRPr lang="en-US" sz="1800" dirty="0"/>
          </a:p>
        </p:txBody>
      </p:sp>
      <p:sp>
        <p:nvSpPr>
          <p:cNvPr id="7" name="Shape 4"/>
          <p:cNvSpPr/>
          <p:nvPr/>
        </p:nvSpPr>
        <p:spPr>
          <a:xfrm>
            <a:off x="731520" y="5120640"/>
            <a:ext cx="1234440" cy="1234440"/>
          </a:xfrm>
          <a:prstGeom prst="roundRect">
            <a:avLst>
              <a:gd name="adj" fmla="val 5926"/>
            </a:avLst>
          </a:prstGeom>
          <a:solidFill>
            <a:srgbClr val="FFFFFF"/>
          </a:solidFill>
          <a:ln w="12700">
            <a:solidFill>
              <a:srgbClr val="FFFFFF"/>
            </a:solidFill>
            <a:prstDash val="solid"/>
          </a:ln>
        </p:spPr>
      </p:sp>
      <p:pic>
        <p:nvPicPr>
          <p:cNvPr id="8" name="Image 1" descr="logo.png">    </p:cNvPr>
          <p:cNvPicPr>
            <a:picLocks noChangeAspect="1"/>
          </p:cNvPicPr>
          <p:nvPr/>
        </p:nvPicPr>
        <p:blipFill>
          <a:blip r:embed="rId2"/>
          <a:stretch>
            <a:fillRect/>
          </a:stretch>
        </p:blipFill>
        <p:spPr>
          <a:xfrm>
            <a:off x="822960" y="5212080"/>
            <a:ext cx="1051560" cy="1051560"/>
          </a:xfrm>
          <a:prstGeom prst="rect">
            <a:avLst/>
          </a:prstGeom>
        </p:spPr>
      </p:pic>
      <p:sp>
        <p:nvSpPr>
          <p:cNvPr id="9" name="Text 5"/>
          <p:cNvSpPr txBox="1"/>
          <p:nvPr/>
        </p:nvSpPr>
        <p:spPr>
          <a:xfrm>
            <a:off x="2194560" y="5212080"/>
            <a:ext cx="3657600" cy="10515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DigiGaon Foundation</a:t>
            </a:r>
            <a:endParaRPr lang="en-US" sz="1800" dirty="0"/>
          </a:p>
        </p:txBody>
      </p:sp>
      <p:sp>
        <p:nvSpPr>
          <p:cNvPr id="10" name="Shape 6"/>
          <p:cNvSpPr/>
          <p:nvPr/>
        </p:nvSpPr>
        <p:spPr>
          <a:xfrm>
            <a:off x="7589520" y="1600200"/>
            <a:ext cx="3657600" cy="3657600"/>
          </a:xfrm>
          <a:prstGeom prst="ellipse">
            <a:avLst/>
          </a:prstGeom>
          <a:solidFill>
            <a:srgbClr val="0A4552"/>
          </a:solidFill>
          <a:ln w="19050">
            <a:solidFill>
              <a:srgbClr val="2F9AAE"/>
            </a:solidFill>
            <a:prstDash val="dash"/>
          </a:ln>
        </p:spPr>
      </p:sp>
      <p:sp>
        <p:nvSpPr>
          <p:cNvPr id="11" name="Shape 7"/>
          <p:cNvSpPr/>
          <p:nvPr/>
        </p:nvSpPr>
        <p:spPr>
          <a:xfrm>
            <a:off x="8846820" y="1028700"/>
            <a:ext cx="1143000" cy="1143000"/>
          </a:xfrm>
          <a:prstGeom prst="ellipse">
            <a:avLst/>
          </a:prstGeom>
          <a:solidFill>
            <a:srgbClr val="F2A33A"/>
          </a:solidFill>
          <a:ln w="12700">
            <a:solidFill>
              <a:srgbClr val="F2A33A"/>
            </a:solidFill>
            <a:prstDash val="solid"/>
          </a:ln>
        </p:spPr>
      </p:sp>
      <p:pic>
        <p:nvPicPr>
          <p:cNvPr id="12" name="Image 2" descr="preencoded.png">    </p:cNvPr>
          <p:cNvPicPr>
            <a:picLocks noChangeAspect="1"/>
          </p:cNvPicPr>
          <p:nvPr/>
        </p:nvPicPr>
        <p:blipFill>
          <a:blip r:embed="rId3"/>
          <a:stretch>
            <a:fillRect/>
          </a:stretch>
        </p:blipFill>
        <p:spPr>
          <a:xfrm>
            <a:off x="9144000" y="1325880"/>
            <a:ext cx="548640" cy="548640"/>
          </a:xfrm>
          <a:prstGeom prst="rect">
            <a:avLst/>
          </a:prstGeom>
        </p:spPr>
      </p:pic>
      <p:sp>
        <p:nvSpPr>
          <p:cNvPr id="13" name="Text 8"/>
          <p:cNvSpPr txBox="1"/>
          <p:nvPr/>
        </p:nvSpPr>
        <p:spPr>
          <a:xfrm>
            <a:off x="8595360" y="2226564"/>
            <a:ext cx="164592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Solar energy</a:t>
            </a:r>
            <a:endParaRPr lang="en-US" sz="1300" dirty="0"/>
          </a:p>
        </p:txBody>
      </p:sp>
      <p:sp>
        <p:nvSpPr>
          <p:cNvPr id="14" name="Shape 9"/>
          <p:cNvSpPr/>
          <p:nvPr/>
        </p:nvSpPr>
        <p:spPr>
          <a:xfrm>
            <a:off x="7263033" y="3771900"/>
            <a:ext cx="1143000" cy="1143000"/>
          </a:xfrm>
          <a:prstGeom prst="ellipse">
            <a:avLst/>
          </a:prstGeom>
          <a:solidFill>
            <a:srgbClr val="2F9AAE"/>
          </a:solidFill>
          <a:ln w="12700">
            <a:solidFill>
              <a:srgbClr val="2F9AAE"/>
            </a:solidFill>
            <a:prstDash val="solid"/>
          </a:ln>
        </p:spPr>
      </p:sp>
      <p:pic>
        <p:nvPicPr>
          <p:cNvPr id="15" name="Image 3" descr="preencoded.png">    </p:cNvPr>
          <p:cNvPicPr>
            <a:picLocks noChangeAspect="1"/>
          </p:cNvPicPr>
          <p:nvPr/>
        </p:nvPicPr>
        <p:blipFill>
          <a:blip r:embed="rId4"/>
          <a:stretch>
            <a:fillRect/>
          </a:stretch>
        </p:blipFill>
        <p:spPr>
          <a:xfrm>
            <a:off x="7560213" y="4069080"/>
            <a:ext cx="548640" cy="548640"/>
          </a:xfrm>
          <a:prstGeom prst="rect">
            <a:avLst/>
          </a:prstGeom>
        </p:spPr>
      </p:pic>
      <p:sp>
        <p:nvSpPr>
          <p:cNvPr id="16" name="Text 10"/>
          <p:cNvSpPr txBox="1"/>
          <p:nvPr/>
        </p:nvSpPr>
        <p:spPr>
          <a:xfrm>
            <a:off x="7011573" y="4969764"/>
            <a:ext cx="164592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Safe water</a:t>
            </a:r>
            <a:endParaRPr lang="en-US" sz="1300" dirty="0"/>
          </a:p>
        </p:txBody>
      </p:sp>
      <p:sp>
        <p:nvSpPr>
          <p:cNvPr id="17" name="Shape 11"/>
          <p:cNvSpPr/>
          <p:nvPr/>
        </p:nvSpPr>
        <p:spPr>
          <a:xfrm>
            <a:off x="10430607" y="3771900"/>
            <a:ext cx="1143000" cy="1143000"/>
          </a:xfrm>
          <a:prstGeom prst="ellipse">
            <a:avLst/>
          </a:prstGeom>
          <a:solidFill>
            <a:srgbClr val="FFFFFF"/>
          </a:solidFill>
          <a:ln w="1270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727787" y="4069080"/>
            <a:ext cx="548640" cy="548640"/>
          </a:xfrm>
          <a:prstGeom prst="rect">
            <a:avLst/>
          </a:prstGeom>
        </p:spPr>
      </p:pic>
      <p:sp>
        <p:nvSpPr>
          <p:cNvPr id="19" name="Text 12"/>
          <p:cNvSpPr txBox="1"/>
          <p:nvPr/>
        </p:nvSpPr>
        <p:spPr>
          <a:xfrm>
            <a:off x="10179147" y="4969764"/>
            <a:ext cx="164592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Schools</a:t>
            </a:r>
            <a:endParaRPr lang="en-US" sz="1300" dirty="0"/>
          </a:p>
        </p:txBody>
      </p:sp>
      <p:sp>
        <p:nvSpPr>
          <p:cNvPr id="20" name="Text 13"/>
          <p:cNvSpPr txBox="1"/>
          <p:nvPr/>
        </p:nvSpPr>
        <p:spPr>
          <a:xfrm>
            <a:off x="8321040" y="3108960"/>
            <a:ext cx="2194560" cy="822960"/>
          </a:xfrm>
          <a:prstGeom prst="rect">
            <a:avLst/>
          </a:prstGeom>
          <a:noFill/>
          <a:ln/>
        </p:spPr>
        <p:txBody>
          <a:bodyPr wrap="square" lIns="0" tIns="0" rIns="0" bIns="0" rtlCol="0" anchor="ctr"/>
          <a:lstStyle/>
          <a:p>
            <a:pPr algn="ctr" indent="0" marL="0">
              <a:buNone/>
            </a:pPr>
            <a:r>
              <a:rPr lang="en-US" sz="1400" i="1" dirty="0">
                <a:solidFill>
                  <a:srgbClr val="CFE6EA"/>
                </a:solidFill>
                <a:latin typeface="Calibri" pitchFamily="34" charset="0"/>
                <a:ea typeface="Calibri" pitchFamily="34" charset="-122"/>
                <a:cs typeface="Calibri" pitchFamily="34" charset="-120"/>
              </a:rPr>
              <a:t>Clean drinking water for school children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THE CONTEXT</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Why This Project Is Needed</a:t>
            </a:r>
            <a:endParaRPr lang="en-US" sz="3200" dirty="0"/>
          </a:p>
        </p:txBody>
      </p:sp>
      <p:sp>
        <p:nvSpPr>
          <p:cNvPr id="4" name="Text 2"/>
          <p:cNvSpPr txBox="1"/>
          <p:nvPr/>
        </p:nvSpPr>
        <p:spPr>
          <a:xfrm>
            <a:off x="548640" y="1508760"/>
            <a:ext cx="539496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CHALLENGE ON THE GROUND</a:t>
            </a:r>
            <a:endParaRPr lang="en-US" sz="1200" dirty="0"/>
          </a:p>
        </p:txBody>
      </p:sp>
      <p:sp>
        <p:nvSpPr>
          <p:cNvPr id="5" name="Text 3"/>
          <p:cNvSpPr txBox="1"/>
          <p:nvPr/>
        </p:nvSpPr>
        <p:spPr>
          <a:xfrm>
            <a:off x="6675120" y="1508760"/>
            <a:ext cx="493776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WHAT IT LEADS TO</a:t>
            </a:r>
            <a:endParaRPr lang="en-US" sz="1200" dirty="0"/>
          </a:p>
        </p:txBody>
      </p:sp>
      <p:sp>
        <p:nvSpPr>
          <p:cNvPr id="6" name="Shape 4"/>
          <p:cNvSpPr/>
          <p:nvPr/>
        </p:nvSpPr>
        <p:spPr>
          <a:xfrm>
            <a:off x="548640" y="1828800"/>
            <a:ext cx="5394960" cy="841248"/>
          </a:xfrm>
          <a:prstGeom prst="roundRect">
            <a:avLst>
              <a:gd name="adj" fmla="val 8696"/>
            </a:avLst>
          </a:prstGeom>
          <a:solidFill>
            <a:srgbClr val="F8E7E0"/>
          </a:solidFill>
          <a:ln w="9525">
            <a:solidFill>
              <a:srgbClr val="F8E7E0"/>
            </a:solidFill>
            <a:prstDash val="solid"/>
          </a:ln>
        </p:spPr>
      </p:sp>
      <p:sp>
        <p:nvSpPr>
          <p:cNvPr id="7" name="Shape 5"/>
          <p:cNvSpPr/>
          <p:nvPr/>
        </p:nvSpPr>
        <p:spPr>
          <a:xfrm>
            <a:off x="731520" y="1975104"/>
            <a:ext cx="548640" cy="548640"/>
          </a:xfrm>
          <a:prstGeom prst="ellipse">
            <a:avLst/>
          </a:prstGeom>
          <a:solidFill>
            <a:srgbClr val="B94E2A"/>
          </a:solidFill>
          <a:ln w="12700">
            <a:solidFill>
              <a:srgbClr val="B94E2A"/>
            </a:solidFill>
            <a:prstDash val="solid"/>
          </a:ln>
        </p:spPr>
      </p:sp>
      <p:pic>
        <p:nvPicPr>
          <p:cNvPr id="8" name="Image 0" descr="preencoded.png">    </p:cNvPr>
          <p:cNvPicPr>
            <a:picLocks noChangeAspect="1"/>
          </p:cNvPicPr>
          <p:nvPr/>
        </p:nvPicPr>
        <p:blipFill>
          <a:blip r:embed="rId1"/>
          <a:stretch>
            <a:fillRect/>
          </a:stretch>
        </p:blipFill>
        <p:spPr>
          <a:xfrm>
            <a:off x="863194" y="2106778"/>
            <a:ext cx="285293" cy="285293"/>
          </a:xfrm>
          <a:prstGeom prst="rect">
            <a:avLst/>
          </a:prstGeom>
        </p:spPr>
      </p:pic>
      <p:sp>
        <p:nvSpPr>
          <p:cNvPr id="9" name="Text 6"/>
          <p:cNvSpPr txBox="1"/>
          <p:nvPr/>
        </p:nvSpPr>
        <p:spPr>
          <a:xfrm>
            <a:off x="1463040" y="1938528"/>
            <a:ext cx="43891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Groundwater contamination</a:t>
            </a:r>
            <a:endParaRPr lang="en-US" sz="1700" dirty="0"/>
          </a:p>
        </p:txBody>
      </p:sp>
      <p:sp>
        <p:nvSpPr>
          <p:cNvPr id="10" name="Text 7"/>
          <p:cNvSpPr txBox="1"/>
          <p:nvPr/>
        </p:nvSpPr>
        <p:spPr>
          <a:xfrm>
            <a:off x="1463040" y="2286000"/>
            <a:ext cx="43891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High TDS  ·  Fluoride  ·  Microbial contamination</a:t>
            </a:r>
            <a:endParaRPr lang="en-US" sz="1250" dirty="0"/>
          </a:p>
        </p:txBody>
      </p:sp>
      <p:sp>
        <p:nvSpPr>
          <p:cNvPr id="11" name="Shape 8"/>
          <p:cNvSpPr/>
          <p:nvPr/>
        </p:nvSpPr>
        <p:spPr>
          <a:xfrm>
            <a:off x="6071616" y="2075688"/>
            <a:ext cx="475488" cy="347472"/>
          </a:xfrm>
          <a:prstGeom prst="rightArrow">
            <a:avLst/>
          </a:prstGeom>
          <a:solidFill>
            <a:srgbClr val="F2A33A"/>
          </a:solidFill>
          <a:ln w="12700">
            <a:solidFill>
              <a:srgbClr val="F2A33A"/>
            </a:solidFill>
            <a:prstDash val="solid"/>
          </a:ln>
        </p:spPr>
      </p:sp>
      <p:sp>
        <p:nvSpPr>
          <p:cNvPr id="12" name="Shape 9"/>
          <p:cNvSpPr/>
          <p:nvPr/>
        </p:nvSpPr>
        <p:spPr>
          <a:xfrm>
            <a:off x="6675120" y="1828800"/>
            <a:ext cx="4965192" cy="841248"/>
          </a:xfrm>
          <a:prstGeom prst="roundRect">
            <a:avLst>
              <a:gd name="adj" fmla="val 8696"/>
            </a:avLst>
          </a:prstGeom>
          <a:solidFill>
            <a:srgbClr val="F2F5F6"/>
          </a:solidFill>
          <a:ln w="9525">
            <a:solidFill>
              <a:srgbClr val="F2F5F6"/>
            </a:solidFill>
            <a:prstDash val="solid"/>
          </a:ln>
        </p:spPr>
      </p:sp>
      <p:sp>
        <p:nvSpPr>
          <p:cNvPr id="13" name="Shape 10"/>
          <p:cNvSpPr/>
          <p:nvPr/>
        </p:nvSpPr>
        <p:spPr>
          <a:xfrm>
            <a:off x="6858000" y="1975104"/>
            <a:ext cx="548640" cy="548640"/>
          </a:xfrm>
          <a:prstGeom prst="ellipse">
            <a:avLst/>
          </a:prstGeom>
          <a:solidFill>
            <a:srgbClr val="1B2B34"/>
          </a:solidFill>
          <a:ln w="12700">
            <a:solidFill>
              <a:srgbClr val="1B2B34"/>
            </a:solidFill>
            <a:prstDash val="solid"/>
          </a:ln>
        </p:spPr>
      </p:sp>
      <p:pic>
        <p:nvPicPr>
          <p:cNvPr id="14" name="Image 1" descr="preencoded.png">    </p:cNvPr>
          <p:cNvPicPr>
            <a:picLocks noChangeAspect="1"/>
          </p:cNvPicPr>
          <p:nvPr/>
        </p:nvPicPr>
        <p:blipFill>
          <a:blip r:embed="rId2"/>
          <a:stretch>
            <a:fillRect/>
          </a:stretch>
        </p:blipFill>
        <p:spPr>
          <a:xfrm>
            <a:off x="6989674" y="2106778"/>
            <a:ext cx="285293" cy="285293"/>
          </a:xfrm>
          <a:prstGeom prst="rect">
            <a:avLst/>
          </a:prstGeom>
        </p:spPr>
      </p:pic>
      <p:sp>
        <p:nvSpPr>
          <p:cNvPr id="15" name="Text 11"/>
          <p:cNvSpPr txBox="1"/>
          <p:nvPr/>
        </p:nvSpPr>
        <p:spPr>
          <a:xfrm>
            <a:off x="7589520" y="1938528"/>
            <a:ext cx="39319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Water unsafe to drink untreated</a:t>
            </a:r>
            <a:endParaRPr lang="en-US" sz="1700" dirty="0"/>
          </a:p>
        </p:txBody>
      </p:sp>
      <p:sp>
        <p:nvSpPr>
          <p:cNvPr id="16" name="Text 12"/>
          <p:cNvSpPr txBox="1"/>
          <p:nvPr/>
        </p:nvSpPr>
        <p:spPr>
          <a:xfrm>
            <a:off x="7589520" y="2286000"/>
            <a:ext cx="39319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Fluoride exposure raises fluorosis risk</a:t>
            </a:r>
            <a:endParaRPr lang="en-US" sz="1250" dirty="0"/>
          </a:p>
        </p:txBody>
      </p:sp>
      <p:sp>
        <p:nvSpPr>
          <p:cNvPr id="17" name="Shape 13"/>
          <p:cNvSpPr/>
          <p:nvPr/>
        </p:nvSpPr>
        <p:spPr>
          <a:xfrm>
            <a:off x="548640" y="2779776"/>
            <a:ext cx="5394960" cy="841248"/>
          </a:xfrm>
          <a:prstGeom prst="roundRect">
            <a:avLst>
              <a:gd name="adj" fmla="val 8696"/>
            </a:avLst>
          </a:prstGeom>
          <a:solidFill>
            <a:srgbClr val="F8E7E0"/>
          </a:solidFill>
          <a:ln w="9525">
            <a:solidFill>
              <a:srgbClr val="F8E7E0"/>
            </a:solidFill>
            <a:prstDash val="solid"/>
          </a:ln>
        </p:spPr>
      </p:sp>
      <p:sp>
        <p:nvSpPr>
          <p:cNvPr id="18" name="Shape 14"/>
          <p:cNvSpPr/>
          <p:nvPr/>
        </p:nvSpPr>
        <p:spPr>
          <a:xfrm>
            <a:off x="731520" y="2926080"/>
            <a:ext cx="548640" cy="548640"/>
          </a:xfrm>
          <a:prstGeom prst="ellipse">
            <a:avLst/>
          </a:prstGeom>
          <a:solidFill>
            <a:srgbClr val="B94E2A"/>
          </a:solidFill>
          <a:ln w="12700">
            <a:solidFill>
              <a:srgbClr val="B94E2A"/>
            </a:solidFill>
            <a:prstDash val="solid"/>
          </a:ln>
        </p:spPr>
      </p:sp>
      <p:pic>
        <p:nvPicPr>
          <p:cNvPr id="19" name="Image 2" descr="preencoded.png">    </p:cNvPr>
          <p:cNvPicPr>
            <a:picLocks noChangeAspect="1"/>
          </p:cNvPicPr>
          <p:nvPr/>
        </p:nvPicPr>
        <p:blipFill>
          <a:blip r:embed="rId3"/>
          <a:stretch>
            <a:fillRect/>
          </a:stretch>
        </p:blipFill>
        <p:spPr>
          <a:xfrm>
            <a:off x="863194" y="3057754"/>
            <a:ext cx="285293" cy="285293"/>
          </a:xfrm>
          <a:prstGeom prst="rect">
            <a:avLst/>
          </a:prstGeom>
        </p:spPr>
      </p:pic>
      <p:sp>
        <p:nvSpPr>
          <p:cNvPr id="20" name="Text 15"/>
          <p:cNvSpPr txBox="1"/>
          <p:nvPr/>
        </p:nvSpPr>
        <p:spPr>
          <a:xfrm>
            <a:off x="1463040" y="2889504"/>
            <a:ext cx="43891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Dependence on untreated sources</a:t>
            </a:r>
            <a:endParaRPr lang="en-US" sz="1700" dirty="0"/>
          </a:p>
        </p:txBody>
      </p:sp>
      <p:sp>
        <p:nvSpPr>
          <p:cNvPr id="21" name="Text 16"/>
          <p:cNvSpPr txBox="1"/>
          <p:nvPr/>
        </p:nvSpPr>
        <p:spPr>
          <a:xfrm>
            <a:off x="1463040" y="3236976"/>
            <a:ext cx="43891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Unsafe handpumps and untreated water in many schools</a:t>
            </a:r>
            <a:endParaRPr lang="en-US" sz="1250" dirty="0"/>
          </a:p>
        </p:txBody>
      </p:sp>
      <p:sp>
        <p:nvSpPr>
          <p:cNvPr id="22" name="Shape 17"/>
          <p:cNvSpPr/>
          <p:nvPr/>
        </p:nvSpPr>
        <p:spPr>
          <a:xfrm>
            <a:off x="6071616" y="3026664"/>
            <a:ext cx="475488" cy="347472"/>
          </a:xfrm>
          <a:prstGeom prst="rightArrow">
            <a:avLst/>
          </a:prstGeom>
          <a:solidFill>
            <a:srgbClr val="F2A33A"/>
          </a:solidFill>
          <a:ln w="12700">
            <a:solidFill>
              <a:srgbClr val="F2A33A"/>
            </a:solidFill>
            <a:prstDash val="solid"/>
          </a:ln>
        </p:spPr>
      </p:sp>
      <p:sp>
        <p:nvSpPr>
          <p:cNvPr id="23" name="Shape 18"/>
          <p:cNvSpPr/>
          <p:nvPr/>
        </p:nvSpPr>
        <p:spPr>
          <a:xfrm>
            <a:off x="6675120" y="2779776"/>
            <a:ext cx="4965192" cy="841248"/>
          </a:xfrm>
          <a:prstGeom prst="roundRect">
            <a:avLst>
              <a:gd name="adj" fmla="val 8696"/>
            </a:avLst>
          </a:prstGeom>
          <a:solidFill>
            <a:srgbClr val="F2F5F6"/>
          </a:solidFill>
          <a:ln w="9525">
            <a:solidFill>
              <a:srgbClr val="F2F5F6"/>
            </a:solidFill>
            <a:prstDash val="solid"/>
          </a:ln>
        </p:spPr>
      </p:sp>
      <p:sp>
        <p:nvSpPr>
          <p:cNvPr id="24" name="Shape 19"/>
          <p:cNvSpPr/>
          <p:nvPr/>
        </p:nvSpPr>
        <p:spPr>
          <a:xfrm>
            <a:off x="6858000" y="2926080"/>
            <a:ext cx="548640" cy="548640"/>
          </a:xfrm>
          <a:prstGeom prst="ellipse">
            <a:avLst/>
          </a:prstGeom>
          <a:solidFill>
            <a:srgbClr val="1B2B34"/>
          </a:solidFill>
          <a:ln w="12700">
            <a:solidFill>
              <a:srgbClr val="1B2B34"/>
            </a:solidFill>
            <a:prstDash val="solid"/>
          </a:ln>
        </p:spPr>
      </p:sp>
      <p:pic>
        <p:nvPicPr>
          <p:cNvPr id="25" name="Image 3" descr="preencoded.png">    </p:cNvPr>
          <p:cNvPicPr>
            <a:picLocks noChangeAspect="1"/>
          </p:cNvPicPr>
          <p:nvPr/>
        </p:nvPicPr>
        <p:blipFill>
          <a:blip r:embed="rId4"/>
          <a:stretch>
            <a:fillRect/>
          </a:stretch>
        </p:blipFill>
        <p:spPr>
          <a:xfrm>
            <a:off x="6989674" y="3057754"/>
            <a:ext cx="285293" cy="285293"/>
          </a:xfrm>
          <a:prstGeom prst="rect">
            <a:avLst/>
          </a:prstGeom>
        </p:spPr>
      </p:pic>
      <p:sp>
        <p:nvSpPr>
          <p:cNvPr id="26" name="Text 20"/>
          <p:cNvSpPr txBox="1"/>
          <p:nvPr/>
        </p:nvSpPr>
        <p:spPr>
          <a:xfrm>
            <a:off x="7589520" y="2889504"/>
            <a:ext cx="39319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Waterborne disease risk</a:t>
            </a:r>
            <a:endParaRPr lang="en-US" sz="1700" dirty="0"/>
          </a:p>
        </p:txBody>
      </p:sp>
      <p:sp>
        <p:nvSpPr>
          <p:cNvPr id="27" name="Text 21"/>
          <p:cNvSpPr txBox="1"/>
          <p:nvPr/>
        </p:nvSpPr>
        <p:spPr>
          <a:xfrm>
            <a:off x="7589520" y="3236976"/>
            <a:ext cx="39319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High incidence reported among school children</a:t>
            </a:r>
            <a:endParaRPr lang="en-US" sz="1250" dirty="0"/>
          </a:p>
        </p:txBody>
      </p:sp>
      <p:sp>
        <p:nvSpPr>
          <p:cNvPr id="28" name="Shape 22"/>
          <p:cNvSpPr/>
          <p:nvPr/>
        </p:nvSpPr>
        <p:spPr>
          <a:xfrm>
            <a:off x="548640" y="3730752"/>
            <a:ext cx="5394960" cy="841248"/>
          </a:xfrm>
          <a:prstGeom prst="roundRect">
            <a:avLst>
              <a:gd name="adj" fmla="val 8696"/>
            </a:avLst>
          </a:prstGeom>
          <a:solidFill>
            <a:srgbClr val="F8E7E0"/>
          </a:solidFill>
          <a:ln w="9525">
            <a:solidFill>
              <a:srgbClr val="F8E7E0"/>
            </a:solidFill>
            <a:prstDash val="solid"/>
          </a:ln>
        </p:spPr>
      </p:sp>
      <p:sp>
        <p:nvSpPr>
          <p:cNvPr id="29" name="Shape 23"/>
          <p:cNvSpPr/>
          <p:nvPr/>
        </p:nvSpPr>
        <p:spPr>
          <a:xfrm>
            <a:off x="731520" y="3877056"/>
            <a:ext cx="548640" cy="548640"/>
          </a:xfrm>
          <a:prstGeom prst="ellipse">
            <a:avLst/>
          </a:prstGeom>
          <a:solidFill>
            <a:srgbClr val="B94E2A"/>
          </a:solidFill>
          <a:ln w="12700">
            <a:solidFill>
              <a:srgbClr val="B94E2A"/>
            </a:solidFill>
            <a:prstDash val="solid"/>
          </a:ln>
        </p:spPr>
      </p:sp>
      <p:pic>
        <p:nvPicPr>
          <p:cNvPr id="30" name="Image 4" descr="preencoded.png">    </p:cNvPr>
          <p:cNvPicPr>
            <a:picLocks noChangeAspect="1"/>
          </p:cNvPicPr>
          <p:nvPr/>
        </p:nvPicPr>
        <p:blipFill>
          <a:blip r:embed="rId5"/>
          <a:stretch>
            <a:fillRect/>
          </a:stretch>
        </p:blipFill>
        <p:spPr>
          <a:xfrm>
            <a:off x="863194" y="4008730"/>
            <a:ext cx="285293" cy="285293"/>
          </a:xfrm>
          <a:prstGeom prst="rect">
            <a:avLst/>
          </a:prstGeom>
        </p:spPr>
      </p:pic>
      <p:sp>
        <p:nvSpPr>
          <p:cNvPr id="31" name="Text 24"/>
          <p:cNvSpPr txBox="1"/>
          <p:nvPr/>
        </p:nvSpPr>
        <p:spPr>
          <a:xfrm>
            <a:off x="1463040" y="3840480"/>
            <a:ext cx="43891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Inconsistent electricity supply</a:t>
            </a:r>
            <a:endParaRPr lang="en-US" sz="1700" dirty="0"/>
          </a:p>
        </p:txBody>
      </p:sp>
      <p:sp>
        <p:nvSpPr>
          <p:cNvPr id="32" name="Text 25"/>
          <p:cNvSpPr txBox="1"/>
          <p:nvPr/>
        </p:nvSpPr>
        <p:spPr>
          <a:xfrm>
            <a:off x="1463040" y="4187952"/>
            <a:ext cx="43891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Power deficit in the region</a:t>
            </a:r>
            <a:endParaRPr lang="en-US" sz="1250" dirty="0"/>
          </a:p>
        </p:txBody>
      </p:sp>
      <p:sp>
        <p:nvSpPr>
          <p:cNvPr id="33" name="Shape 26"/>
          <p:cNvSpPr/>
          <p:nvPr/>
        </p:nvSpPr>
        <p:spPr>
          <a:xfrm>
            <a:off x="6071616" y="3977640"/>
            <a:ext cx="475488" cy="347472"/>
          </a:xfrm>
          <a:prstGeom prst="rightArrow">
            <a:avLst/>
          </a:prstGeom>
          <a:solidFill>
            <a:srgbClr val="F2A33A"/>
          </a:solidFill>
          <a:ln w="12700">
            <a:solidFill>
              <a:srgbClr val="F2A33A"/>
            </a:solidFill>
            <a:prstDash val="solid"/>
          </a:ln>
        </p:spPr>
      </p:sp>
      <p:sp>
        <p:nvSpPr>
          <p:cNvPr id="34" name="Shape 27"/>
          <p:cNvSpPr/>
          <p:nvPr/>
        </p:nvSpPr>
        <p:spPr>
          <a:xfrm>
            <a:off x="6675120" y="3730752"/>
            <a:ext cx="4965192" cy="841248"/>
          </a:xfrm>
          <a:prstGeom prst="roundRect">
            <a:avLst>
              <a:gd name="adj" fmla="val 8696"/>
            </a:avLst>
          </a:prstGeom>
          <a:solidFill>
            <a:srgbClr val="F2F5F6"/>
          </a:solidFill>
          <a:ln w="9525">
            <a:solidFill>
              <a:srgbClr val="F2F5F6"/>
            </a:solidFill>
            <a:prstDash val="solid"/>
          </a:ln>
        </p:spPr>
      </p:sp>
      <p:sp>
        <p:nvSpPr>
          <p:cNvPr id="35" name="Shape 28"/>
          <p:cNvSpPr/>
          <p:nvPr/>
        </p:nvSpPr>
        <p:spPr>
          <a:xfrm>
            <a:off x="6858000" y="3877056"/>
            <a:ext cx="548640" cy="548640"/>
          </a:xfrm>
          <a:prstGeom prst="ellipse">
            <a:avLst/>
          </a:prstGeom>
          <a:solidFill>
            <a:srgbClr val="1B2B34"/>
          </a:solidFill>
          <a:ln w="12700">
            <a:solidFill>
              <a:srgbClr val="1B2B34"/>
            </a:solidFill>
            <a:prstDash val="solid"/>
          </a:ln>
        </p:spPr>
      </p:sp>
      <p:pic>
        <p:nvPicPr>
          <p:cNvPr id="36" name="Image 5" descr="preencoded.png">    </p:cNvPr>
          <p:cNvPicPr>
            <a:picLocks noChangeAspect="1"/>
          </p:cNvPicPr>
          <p:nvPr/>
        </p:nvPicPr>
        <p:blipFill>
          <a:blip r:embed="rId6"/>
          <a:stretch>
            <a:fillRect/>
          </a:stretch>
        </p:blipFill>
        <p:spPr>
          <a:xfrm>
            <a:off x="6989674" y="4008730"/>
            <a:ext cx="285293" cy="285293"/>
          </a:xfrm>
          <a:prstGeom prst="rect">
            <a:avLst/>
          </a:prstGeom>
        </p:spPr>
      </p:pic>
      <p:sp>
        <p:nvSpPr>
          <p:cNvPr id="37" name="Text 29"/>
          <p:cNvSpPr txBox="1"/>
          <p:nvPr/>
        </p:nvSpPr>
        <p:spPr>
          <a:xfrm>
            <a:off x="7589520" y="3840480"/>
            <a:ext cx="39319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Conventional RO cannot run reliably</a:t>
            </a:r>
            <a:endParaRPr lang="en-US" sz="1700" dirty="0"/>
          </a:p>
        </p:txBody>
      </p:sp>
      <p:sp>
        <p:nvSpPr>
          <p:cNvPr id="38" name="Text 30"/>
          <p:cNvSpPr txBox="1"/>
          <p:nvPr/>
        </p:nvSpPr>
        <p:spPr>
          <a:xfrm>
            <a:off x="7589520" y="4187952"/>
            <a:ext cx="39319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Grid-dependent purification stops when power fails</a:t>
            </a:r>
            <a:endParaRPr lang="en-US" sz="1250" dirty="0"/>
          </a:p>
        </p:txBody>
      </p:sp>
      <p:sp>
        <p:nvSpPr>
          <p:cNvPr id="39" name="Shape 31"/>
          <p:cNvSpPr/>
          <p:nvPr/>
        </p:nvSpPr>
        <p:spPr>
          <a:xfrm>
            <a:off x="548640" y="4681728"/>
            <a:ext cx="5394960" cy="841248"/>
          </a:xfrm>
          <a:prstGeom prst="roundRect">
            <a:avLst>
              <a:gd name="adj" fmla="val 8696"/>
            </a:avLst>
          </a:prstGeom>
          <a:solidFill>
            <a:srgbClr val="F8E7E0"/>
          </a:solidFill>
          <a:ln w="9525">
            <a:solidFill>
              <a:srgbClr val="F8E7E0"/>
            </a:solidFill>
            <a:prstDash val="solid"/>
          </a:ln>
        </p:spPr>
      </p:sp>
      <p:sp>
        <p:nvSpPr>
          <p:cNvPr id="40" name="Shape 32"/>
          <p:cNvSpPr/>
          <p:nvPr/>
        </p:nvSpPr>
        <p:spPr>
          <a:xfrm>
            <a:off x="731520" y="4828032"/>
            <a:ext cx="548640" cy="548640"/>
          </a:xfrm>
          <a:prstGeom prst="ellipse">
            <a:avLst/>
          </a:prstGeom>
          <a:solidFill>
            <a:srgbClr val="B94E2A"/>
          </a:solidFill>
          <a:ln w="12700">
            <a:solidFill>
              <a:srgbClr val="B94E2A"/>
            </a:solidFill>
            <a:prstDash val="solid"/>
          </a:ln>
        </p:spPr>
      </p:sp>
      <p:pic>
        <p:nvPicPr>
          <p:cNvPr id="41" name="Image 6" descr="preencoded.png">    </p:cNvPr>
          <p:cNvPicPr>
            <a:picLocks noChangeAspect="1"/>
          </p:cNvPicPr>
          <p:nvPr/>
        </p:nvPicPr>
        <p:blipFill>
          <a:blip r:embed="rId7"/>
          <a:stretch>
            <a:fillRect/>
          </a:stretch>
        </p:blipFill>
        <p:spPr>
          <a:xfrm>
            <a:off x="863194" y="4959706"/>
            <a:ext cx="285293" cy="285293"/>
          </a:xfrm>
          <a:prstGeom prst="rect">
            <a:avLst/>
          </a:prstGeom>
        </p:spPr>
      </p:pic>
      <p:sp>
        <p:nvSpPr>
          <p:cNvPr id="42" name="Text 33"/>
          <p:cNvSpPr txBox="1"/>
          <p:nvPr/>
        </p:nvSpPr>
        <p:spPr>
          <a:xfrm>
            <a:off x="1463040" y="4791456"/>
            <a:ext cx="43891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Low awareness</a:t>
            </a:r>
            <a:endParaRPr lang="en-US" sz="1700" dirty="0"/>
          </a:p>
        </p:txBody>
      </p:sp>
      <p:sp>
        <p:nvSpPr>
          <p:cNvPr id="43" name="Text 34"/>
          <p:cNvSpPr txBox="1"/>
          <p:nvPr/>
        </p:nvSpPr>
        <p:spPr>
          <a:xfrm>
            <a:off x="1463040" y="5138928"/>
            <a:ext cx="43891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Water safety and hygiene practices</a:t>
            </a:r>
            <a:endParaRPr lang="en-US" sz="1250" dirty="0"/>
          </a:p>
        </p:txBody>
      </p:sp>
      <p:sp>
        <p:nvSpPr>
          <p:cNvPr id="44" name="Shape 35"/>
          <p:cNvSpPr/>
          <p:nvPr/>
        </p:nvSpPr>
        <p:spPr>
          <a:xfrm>
            <a:off x="6071616" y="4928616"/>
            <a:ext cx="475488" cy="347472"/>
          </a:xfrm>
          <a:prstGeom prst="rightArrow">
            <a:avLst/>
          </a:prstGeom>
          <a:solidFill>
            <a:srgbClr val="F2A33A"/>
          </a:solidFill>
          <a:ln w="12700">
            <a:solidFill>
              <a:srgbClr val="F2A33A"/>
            </a:solidFill>
            <a:prstDash val="solid"/>
          </a:ln>
        </p:spPr>
      </p:sp>
      <p:sp>
        <p:nvSpPr>
          <p:cNvPr id="45" name="Shape 36"/>
          <p:cNvSpPr/>
          <p:nvPr/>
        </p:nvSpPr>
        <p:spPr>
          <a:xfrm>
            <a:off x="6675120" y="4681728"/>
            <a:ext cx="4965192" cy="841248"/>
          </a:xfrm>
          <a:prstGeom prst="roundRect">
            <a:avLst>
              <a:gd name="adj" fmla="val 8696"/>
            </a:avLst>
          </a:prstGeom>
          <a:solidFill>
            <a:srgbClr val="F2F5F6"/>
          </a:solidFill>
          <a:ln w="9525">
            <a:solidFill>
              <a:srgbClr val="F2F5F6"/>
            </a:solidFill>
            <a:prstDash val="solid"/>
          </a:ln>
        </p:spPr>
      </p:sp>
      <p:sp>
        <p:nvSpPr>
          <p:cNvPr id="46" name="Shape 37"/>
          <p:cNvSpPr/>
          <p:nvPr/>
        </p:nvSpPr>
        <p:spPr>
          <a:xfrm>
            <a:off x="6858000" y="4828032"/>
            <a:ext cx="548640" cy="548640"/>
          </a:xfrm>
          <a:prstGeom prst="ellipse">
            <a:avLst/>
          </a:prstGeom>
          <a:solidFill>
            <a:srgbClr val="1B2B34"/>
          </a:solidFill>
          <a:ln w="12700">
            <a:solidFill>
              <a:srgbClr val="1B2B34"/>
            </a:solidFill>
            <a:prstDash val="solid"/>
          </a:ln>
        </p:spPr>
      </p:sp>
      <p:pic>
        <p:nvPicPr>
          <p:cNvPr id="47" name="Image 7" descr="preencoded.png">    </p:cNvPr>
          <p:cNvPicPr>
            <a:picLocks noChangeAspect="1"/>
          </p:cNvPicPr>
          <p:nvPr/>
        </p:nvPicPr>
        <p:blipFill>
          <a:blip r:embed="rId8"/>
          <a:stretch>
            <a:fillRect/>
          </a:stretch>
        </p:blipFill>
        <p:spPr>
          <a:xfrm>
            <a:off x="6989674" y="4959706"/>
            <a:ext cx="285293" cy="285293"/>
          </a:xfrm>
          <a:prstGeom prst="rect">
            <a:avLst/>
          </a:prstGeom>
        </p:spPr>
      </p:pic>
      <p:sp>
        <p:nvSpPr>
          <p:cNvPr id="48" name="Text 38"/>
          <p:cNvSpPr txBox="1"/>
          <p:nvPr/>
        </p:nvSpPr>
        <p:spPr>
          <a:xfrm>
            <a:off x="7589520" y="4791456"/>
            <a:ext cx="3931920" cy="329184"/>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Unsafe habits continue</a:t>
            </a:r>
            <a:endParaRPr lang="en-US" sz="1700" dirty="0"/>
          </a:p>
        </p:txBody>
      </p:sp>
      <p:sp>
        <p:nvSpPr>
          <p:cNvPr id="49" name="Text 39"/>
          <p:cNvSpPr txBox="1"/>
          <p:nvPr/>
        </p:nvSpPr>
        <p:spPr>
          <a:xfrm>
            <a:off x="7589520" y="5138928"/>
            <a:ext cx="3931920" cy="29260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Clean water alone is not enough without awareness</a:t>
            </a:r>
            <a:endParaRPr lang="en-US" sz="1250" dirty="0"/>
          </a:p>
        </p:txBody>
      </p:sp>
      <p:sp>
        <p:nvSpPr>
          <p:cNvPr id="50" name="Shape 40"/>
          <p:cNvSpPr/>
          <p:nvPr/>
        </p:nvSpPr>
        <p:spPr>
          <a:xfrm>
            <a:off x="548640" y="5669280"/>
            <a:ext cx="11091672" cy="621792"/>
          </a:xfrm>
          <a:prstGeom prst="roundRect">
            <a:avLst>
              <a:gd name="adj" fmla="val 11765"/>
            </a:avLst>
          </a:prstGeom>
          <a:solidFill>
            <a:srgbClr val="E4F1F3"/>
          </a:solidFill>
          <a:ln w="9525">
            <a:solidFill>
              <a:srgbClr val="E4F1F3"/>
            </a:solidFill>
            <a:prstDash val="solid"/>
          </a:ln>
        </p:spPr>
      </p:sp>
      <p:sp>
        <p:nvSpPr>
          <p:cNvPr id="51" name="Shape 41"/>
          <p:cNvSpPr/>
          <p:nvPr/>
        </p:nvSpPr>
        <p:spPr>
          <a:xfrm>
            <a:off x="713232" y="5733288"/>
            <a:ext cx="493776" cy="493776"/>
          </a:xfrm>
          <a:prstGeom prst="ellipse">
            <a:avLst/>
          </a:prstGeom>
          <a:solidFill>
            <a:srgbClr val="F2A33A"/>
          </a:solidFill>
          <a:ln w="12700">
            <a:solidFill>
              <a:srgbClr val="F2A33A"/>
            </a:solidFill>
            <a:prstDash val="solid"/>
          </a:ln>
        </p:spPr>
      </p:sp>
      <p:pic>
        <p:nvPicPr>
          <p:cNvPr id="52" name="Image 8" descr="preencoded.png">    </p:cNvPr>
          <p:cNvPicPr>
            <a:picLocks noChangeAspect="1"/>
          </p:cNvPicPr>
          <p:nvPr/>
        </p:nvPicPr>
        <p:blipFill>
          <a:blip r:embed="rId9"/>
          <a:stretch>
            <a:fillRect/>
          </a:stretch>
        </p:blipFill>
        <p:spPr>
          <a:xfrm>
            <a:off x="831738" y="5851794"/>
            <a:ext cx="256764" cy="256764"/>
          </a:xfrm>
          <a:prstGeom prst="rect">
            <a:avLst/>
          </a:prstGeom>
        </p:spPr>
      </p:pic>
      <p:sp>
        <p:nvSpPr>
          <p:cNvPr id="53" name="Text 42"/>
          <p:cNvSpPr txBox="1"/>
          <p:nvPr/>
        </p:nvSpPr>
        <p:spPr>
          <a:xfrm>
            <a:off x="1371600" y="5669280"/>
            <a:ext cx="10149840" cy="621792"/>
          </a:xfrm>
          <a:prstGeom prst="rect">
            <a:avLst/>
          </a:prstGeom>
          <a:noFill/>
          <a:ln/>
        </p:spPr>
        <p:txBody>
          <a:bodyPr wrap="square" lIns="0" tIns="0" rIns="0" bIns="0" rtlCol="0" anchor="ctr"/>
          <a:lstStyle/>
          <a:p>
            <a:pPr indent="0" marL="0">
              <a:buNone/>
            </a:pPr>
            <a:r>
              <a:rPr lang="en-US" sz="1600" b="1" dirty="0">
                <a:solidFill>
                  <a:srgbClr val="0E5E6F"/>
                </a:solidFill>
                <a:latin typeface="Calibri" pitchFamily="34" charset="0"/>
                <a:ea typeface="Calibri" pitchFamily="34" charset="-122"/>
                <a:cs typeface="Calibri" pitchFamily="34" charset="-120"/>
              </a:rPr>
              <a:t>The project response:  </a:t>
            </a:r>
            <a:pPr indent="0" marL="0">
              <a:buNone/>
            </a:pPr>
            <a:r>
              <a:rPr lang="en-US" sz="1600" dirty="0">
                <a:solidFill>
                  <a:srgbClr val="1B2B34"/>
                </a:solidFill>
                <a:latin typeface="Calibri" pitchFamily="34" charset="0"/>
                <a:ea typeface="Calibri" pitchFamily="34" charset="-122"/>
                <a:cs typeface="Calibri" pitchFamily="34" charset="-120"/>
              </a:rPr>
              <a:t>solar-powered RO purification that treats water on site, using renewable energy instead of unreliable grid power.</a:t>
            </a:r>
            <a:endParaRPr lang="en-US" sz="1600" dirty="0"/>
          </a:p>
        </p:txBody>
      </p:sp>
      <p:sp>
        <p:nvSpPr>
          <p:cNvPr id="54" name="Text 43"/>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55" name="Text 44"/>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THE PROJECT IN ONE VIEW</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Project at a Glance</a:t>
            </a:r>
            <a:endParaRPr lang="en-US" sz="3200" dirty="0"/>
          </a:p>
        </p:txBody>
      </p:sp>
      <p:sp>
        <p:nvSpPr>
          <p:cNvPr id="4" name="Shape 2"/>
          <p:cNvSpPr/>
          <p:nvPr/>
        </p:nvSpPr>
        <p:spPr>
          <a:xfrm>
            <a:off x="548640" y="1554480"/>
            <a:ext cx="2606040" cy="2148840"/>
          </a:xfrm>
          <a:prstGeom prst="roundRect">
            <a:avLst>
              <a:gd name="adj" fmla="val 340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804672" y="1783080"/>
            <a:ext cx="640080" cy="640080"/>
          </a:xfrm>
          <a:prstGeom prst="ellipse">
            <a:avLst/>
          </a:prstGeom>
          <a:solidFill>
            <a:srgbClr val="0E5E6F"/>
          </a:solidFill>
          <a:ln w="12700">
            <a:solidFill>
              <a:srgbClr val="0E5E6F"/>
            </a:solidFill>
            <a:prstDash val="solid"/>
          </a:ln>
        </p:spPr>
      </p:sp>
      <p:pic>
        <p:nvPicPr>
          <p:cNvPr id="6" name="Image 0" descr="preencoded.png">    </p:cNvPr>
          <p:cNvPicPr>
            <a:picLocks noChangeAspect="1"/>
          </p:cNvPicPr>
          <p:nvPr/>
        </p:nvPicPr>
        <p:blipFill>
          <a:blip r:embed="rId1"/>
          <a:stretch>
            <a:fillRect/>
          </a:stretch>
        </p:blipFill>
        <p:spPr>
          <a:xfrm>
            <a:off x="958291" y="1936699"/>
            <a:ext cx="332842" cy="332842"/>
          </a:xfrm>
          <a:prstGeom prst="rect">
            <a:avLst/>
          </a:prstGeom>
        </p:spPr>
      </p:pic>
      <p:sp>
        <p:nvSpPr>
          <p:cNvPr id="7" name="Text 4"/>
          <p:cNvSpPr txBox="1"/>
          <p:nvPr/>
        </p:nvSpPr>
        <p:spPr>
          <a:xfrm>
            <a:off x="804672" y="2560320"/>
            <a:ext cx="2194560" cy="658368"/>
          </a:xfrm>
          <a:prstGeom prst="rect">
            <a:avLst/>
          </a:prstGeom>
          <a:noFill/>
          <a:ln/>
        </p:spPr>
        <p:txBody>
          <a:bodyPr wrap="square" lIns="0" tIns="0" rIns="0" bIns="0" rtlCol="0" anchor="ctr"/>
          <a:lstStyle/>
          <a:p>
            <a:pPr indent="0" marL="0">
              <a:buNone/>
            </a:pPr>
            <a:r>
              <a:rPr lang="en-US" sz="4400" b="1" dirty="0">
                <a:solidFill>
                  <a:srgbClr val="0E5E6F"/>
                </a:solidFill>
                <a:latin typeface="Cambria" pitchFamily="34" charset="0"/>
                <a:ea typeface="Cambria" pitchFamily="34" charset="-122"/>
                <a:cs typeface="Cambria" pitchFamily="34" charset="-120"/>
              </a:rPr>
              <a:t>10</a:t>
            </a:r>
            <a:endParaRPr lang="en-US" sz="4400" dirty="0"/>
          </a:p>
        </p:txBody>
      </p:sp>
      <p:sp>
        <p:nvSpPr>
          <p:cNvPr id="8" name="Text 5"/>
          <p:cNvSpPr txBox="1"/>
          <p:nvPr/>
        </p:nvSpPr>
        <p:spPr>
          <a:xfrm>
            <a:off x="804672" y="3218688"/>
            <a:ext cx="2240280" cy="4114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Government schools</a:t>
            </a:r>
            <a:endParaRPr lang="en-US" sz="1300" dirty="0"/>
          </a:p>
        </p:txBody>
      </p:sp>
      <p:sp>
        <p:nvSpPr>
          <p:cNvPr id="9" name="Shape 6"/>
          <p:cNvSpPr/>
          <p:nvPr/>
        </p:nvSpPr>
        <p:spPr>
          <a:xfrm>
            <a:off x="3364992" y="1554480"/>
            <a:ext cx="2606040" cy="2148840"/>
          </a:xfrm>
          <a:prstGeom prst="roundRect">
            <a:avLst>
              <a:gd name="adj" fmla="val 340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0" name="Shape 7"/>
          <p:cNvSpPr/>
          <p:nvPr/>
        </p:nvSpPr>
        <p:spPr>
          <a:xfrm>
            <a:off x="3621024" y="1783080"/>
            <a:ext cx="640080" cy="640080"/>
          </a:xfrm>
          <a:prstGeom prst="ellipse">
            <a:avLst/>
          </a:prstGeom>
          <a:solidFill>
            <a:srgbClr val="2F9AAE"/>
          </a:solidFill>
          <a:ln w="12700">
            <a:solidFill>
              <a:srgbClr val="2F9AAE"/>
            </a:solidFill>
            <a:prstDash val="solid"/>
          </a:ln>
        </p:spPr>
      </p:sp>
      <p:pic>
        <p:nvPicPr>
          <p:cNvPr id="11" name="Image 1" descr="preencoded.png">    </p:cNvPr>
          <p:cNvPicPr>
            <a:picLocks noChangeAspect="1"/>
          </p:cNvPicPr>
          <p:nvPr/>
        </p:nvPicPr>
        <p:blipFill>
          <a:blip r:embed="rId2"/>
          <a:stretch>
            <a:fillRect/>
          </a:stretch>
        </p:blipFill>
        <p:spPr>
          <a:xfrm>
            <a:off x="3774643" y="1936699"/>
            <a:ext cx="332842" cy="332842"/>
          </a:xfrm>
          <a:prstGeom prst="rect">
            <a:avLst/>
          </a:prstGeom>
        </p:spPr>
      </p:pic>
      <p:sp>
        <p:nvSpPr>
          <p:cNvPr id="12" name="Text 8"/>
          <p:cNvSpPr txBox="1"/>
          <p:nvPr/>
        </p:nvSpPr>
        <p:spPr>
          <a:xfrm>
            <a:off x="3621024" y="2560320"/>
            <a:ext cx="2194560" cy="658368"/>
          </a:xfrm>
          <a:prstGeom prst="rect">
            <a:avLst/>
          </a:prstGeom>
          <a:noFill/>
          <a:ln/>
        </p:spPr>
        <p:txBody>
          <a:bodyPr wrap="square" lIns="0" tIns="0" rIns="0" bIns="0" rtlCol="0" anchor="ctr"/>
          <a:lstStyle/>
          <a:p>
            <a:pPr indent="0" marL="0">
              <a:buNone/>
            </a:pPr>
            <a:r>
              <a:rPr lang="en-US" sz="4400" b="1" dirty="0">
                <a:solidFill>
                  <a:srgbClr val="0E5E6F"/>
                </a:solidFill>
                <a:latin typeface="Cambria" pitchFamily="34" charset="0"/>
                <a:ea typeface="Cambria" pitchFamily="34" charset="-122"/>
                <a:cs typeface="Cambria" pitchFamily="34" charset="-120"/>
              </a:rPr>
              <a:t>~3,000</a:t>
            </a:r>
            <a:endParaRPr lang="en-US" sz="4400" dirty="0"/>
          </a:p>
        </p:txBody>
      </p:sp>
      <p:sp>
        <p:nvSpPr>
          <p:cNvPr id="13" name="Text 9"/>
          <p:cNvSpPr txBox="1"/>
          <p:nvPr/>
        </p:nvSpPr>
        <p:spPr>
          <a:xfrm>
            <a:off x="3621024" y="3218688"/>
            <a:ext cx="2240280" cy="4114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Students (approx.)</a:t>
            </a:r>
            <a:endParaRPr lang="en-US" sz="1300" dirty="0"/>
          </a:p>
        </p:txBody>
      </p:sp>
      <p:sp>
        <p:nvSpPr>
          <p:cNvPr id="14" name="Shape 10"/>
          <p:cNvSpPr/>
          <p:nvPr/>
        </p:nvSpPr>
        <p:spPr>
          <a:xfrm>
            <a:off x="6181344" y="1554480"/>
            <a:ext cx="2606040" cy="2148840"/>
          </a:xfrm>
          <a:prstGeom prst="roundRect">
            <a:avLst>
              <a:gd name="adj" fmla="val 340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5" name="Shape 11"/>
          <p:cNvSpPr/>
          <p:nvPr/>
        </p:nvSpPr>
        <p:spPr>
          <a:xfrm>
            <a:off x="6437376" y="1783080"/>
            <a:ext cx="640080" cy="640080"/>
          </a:xfrm>
          <a:prstGeom prst="ellipse">
            <a:avLst/>
          </a:prstGeom>
          <a:solidFill>
            <a:srgbClr val="F2A33A"/>
          </a:solidFill>
          <a:ln w="12700">
            <a:solidFill>
              <a:srgbClr val="F2A33A"/>
            </a:solidFill>
            <a:prstDash val="solid"/>
          </a:ln>
        </p:spPr>
      </p:sp>
      <p:pic>
        <p:nvPicPr>
          <p:cNvPr id="16" name="Image 2" descr="preencoded.png">    </p:cNvPr>
          <p:cNvPicPr>
            <a:picLocks noChangeAspect="1"/>
          </p:cNvPicPr>
          <p:nvPr/>
        </p:nvPicPr>
        <p:blipFill>
          <a:blip r:embed="rId3"/>
          <a:stretch>
            <a:fillRect/>
          </a:stretch>
        </p:blipFill>
        <p:spPr>
          <a:xfrm>
            <a:off x="6590995" y="1936699"/>
            <a:ext cx="332842" cy="332842"/>
          </a:xfrm>
          <a:prstGeom prst="rect">
            <a:avLst/>
          </a:prstGeom>
        </p:spPr>
      </p:pic>
      <p:sp>
        <p:nvSpPr>
          <p:cNvPr id="17" name="Text 12"/>
          <p:cNvSpPr txBox="1"/>
          <p:nvPr/>
        </p:nvSpPr>
        <p:spPr>
          <a:xfrm>
            <a:off x="6437376" y="2560320"/>
            <a:ext cx="2194560" cy="658368"/>
          </a:xfrm>
          <a:prstGeom prst="rect">
            <a:avLst/>
          </a:prstGeom>
          <a:noFill/>
          <a:ln/>
        </p:spPr>
        <p:txBody>
          <a:bodyPr wrap="square" lIns="0" tIns="0" rIns="0" bIns="0" rtlCol="0" anchor="ctr"/>
          <a:lstStyle/>
          <a:p>
            <a:pPr indent="0" marL="0">
              <a:buNone/>
            </a:pPr>
            <a:r>
              <a:rPr lang="en-US" sz="4400" b="1" dirty="0">
                <a:solidFill>
                  <a:srgbClr val="0E5E6F"/>
                </a:solidFill>
                <a:latin typeface="Cambria" pitchFamily="34" charset="0"/>
                <a:ea typeface="Cambria" pitchFamily="34" charset="-122"/>
                <a:cs typeface="Cambria" pitchFamily="34" charset="-120"/>
              </a:rPr>
              <a:t>140</a:t>
            </a:r>
            <a:endParaRPr lang="en-US" sz="4400" dirty="0"/>
          </a:p>
        </p:txBody>
      </p:sp>
      <p:sp>
        <p:nvSpPr>
          <p:cNvPr id="18" name="Text 13"/>
          <p:cNvSpPr txBox="1"/>
          <p:nvPr/>
        </p:nvSpPr>
        <p:spPr>
          <a:xfrm>
            <a:off x="6437376" y="3218688"/>
            <a:ext cx="2240280" cy="4114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Teachers</a:t>
            </a:r>
            <a:endParaRPr lang="en-US" sz="1300" dirty="0"/>
          </a:p>
        </p:txBody>
      </p:sp>
      <p:sp>
        <p:nvSpPr>
          <p:cNvPr id="19" name="Shape 14"/>
          <p:cNvSpPr/>
          <p:nvPr/>
        </p:nvSpPr>
        <p:spPr>
          <a:xfrm>
            <a:off x="8997696" y="1554480"/>
            <a:ext cx="2606040" cy="2148840"/>
          </a:xfrm>
          <a:prstGeom prst="roundRect">
            <a:avLst>
              <a:gd name="adj" fmla="val 340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0" name="Shape 15"/>
          <p:cNvSpPr/>
          <p:nvPr/>
        </p:nvSpPr>
        <p:spPr>
          <a:xfrm>
            <a:off x="9253728" y="1783080"/>
            <a:ext cx="640080" cy="640080"/>
          </a:xfrm>
          <a:prstGeom prst="ellipse">
            <a:avLst/>
          </a:prstGeom>
          <a:solidFill>
            <a:srgbClr val="B94E2A"/>
          </a:solidFill>
          <a:ln w="12700">
            <a:solidFill>
              <a:srgbClr val="B94E2A"/>
            </a:solidFill>
            <a:prstDash val="solid"/>
          </a:ln>
        </p:spPr>
      </p:sp>
      <p:pic>
        <p:nvPicPr>
          <p:cNvPr id="21" name="Image 3" descr="preencoded.png">    </p:cNvPr>
          <p:cNvPicPr>
            <a:picLocks noChangeAspect="1"/>
          </p:cNvPicPr>
          <p:nvPr/>
        </p:nvPicPr>
        <p:blipFill>
          <a:blip r:embed="rId4"/>
          <a:stretch>
            <a:fillRect/>
          </a:stretch>
        </p:blipFill>
        <p:spPr>
          <a:xfrm>
            <a:off x="9407347" y="1936699"/>
            <a:ext cx="332842" cy="332842"/>
          </a:xfrm>
          <a:prstGeom prst="rect">
            <a:avLst/>
          </a:prstGeom>
        </p:spPr>
      </p:pic>
      <p:sp>
        <p:nvSpPr>
          <p:cNvPr id="22" name="Text 16"/>
          <p:cNvSpPr txBox="1"/>
          <p:nvPr/>
        </p:nvSpPr>
        <p:spPr>
          <a:xfrm>
            <a:off x="9253728" y="2560320"/>
            <a:ext cx="2194560" cy="658368"/>
          </a:xfrm>
          <a:prstGeom prst="rect">
            <a:avLst/>
          </a:prstGeom>
          <a:noFill/>
          <a:ln/>
        </p:spPr>
        <p:txBody>
          <a:bodyPr wrap="square" lIns="0" tIns="0" rIns="0" bIns="0" rtlCol="0" anchor="ctr"/>
          <a:lstStyle/>
          <a:p>
            <a:pPr indent="0" marL="0">
              <a:buNone/>
            </a:pPr>
            <a:r>
              <a:rPr lang="en-US" sz="4400" b="1" dirty="0">
                <a:solidFill>
                  <a:srgbClr val="0E5E6F"/>
                </a:solidFill>
                <a:latin typeface="Cambria" pitchFamily="34" charset="0"/>
                <a:ea typeface="Cambria" pitchFamily="34" charset="-122"/>
                <a:cs typeface="Cambria" pitchFamily="34" charset="-120"/>
              </a:rPr>
              <a:t>55,000+</a:t>
            </a:r>
            <a:endParaRPr lang="en-US" sz="4400" dirty="0"/>
          </a:p>
        </p:txBody>
      </p:sp>
      <p:sp>
        <p:nvSpPr>
          <p:cNvPr id="23" name="Text 17"/>
          <p:cNvSpPr txBox="1"/>
          <p:nvPr/>
        </p:nvSpPr>
        <p:spPr>
          <a:xfrm>
            <a:off x="9253728" y="3218688"/>
            <a:ext cx="2240280" cy="41148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Community members in surrounding areas</a:t>
            </a:r>
            <a:endParaRPr lang="en-US" sz="1300" dirty="0"/>
          </a:p>
        </p:txBody>
      </p:sp>
      <p:pic>
        <p:nvPicPr>
          <p:cNvPr id="24" name="Image 4" descr="preencoded.png">    </p:cNvPr>
          <p:cNvPicPr>
            <a:picLocks noChangeAspect="1"/>
          </p:cNvPicPr>
          <p:nvPr/>
        </p:nvPicPr>
        <p:blipFill>
          <a:blip r:embed="rId5"/>
          <a:stretch>
            <a:fillRect/>
          </a:stretch>
        </p:blipFill>
        <p:spPr>
          <a:xfrm>
            <a:off x="548640" y="3995928"/>
            <a:ext cx="237744" cy="292608"/>
          </a:xfrm>
          <a:prstGeom prst="rect">
            <a:avLst/>
          </a:prstGeom>
        </p:spPr>
      </p:pic>
      <p:sp>
        <p:nvSpPr>
          <p:cNvPr id="25" name="Text 18"/>
          <p:cNvSpPr txBox="1"/>
          <p:nvPr/>
        </p:nvSpPr>
        <p:spPr>
          <a:xfrm>
            <a:off x="896112" y="3959352"/>
            <a:ext cx="4754880" cy="365760"/>
          </a:xfrm>
          <a:prstGeom prst="rect">
            <a:avLst/>
          </a:prstGeom>
          <a:noFill/>
          <a:ln/>
        </p:spPr>
        <p:txBody>
          <a:bodyPr wrap="square" lIns="0" tIns="0" rIns="0" bIns="0" rtlCol="0" anchor="ctr"/>
          <a:lstStyle/>
          <a:p>
            <a:pPr indent="0" marL="0">
              <a:buNone/>
            </a:pPr>
            <a:r>
              <a:rPr lang="en-US" sz="1700" b="1" dirty="0">
                <a:solidFill>
                  <a:srgbClr val="B94E2A"/>
                </a:solidFill>
                <a:latin typeface="Calibri" pitchFamily="34" charset="0"/>
                <a:ea typeface="Calibri" pitchFamily="34" charset="-122"/>
                <a:cs typeface="Calibri" pitchFamily="34" charset="-120"/>
              </a:rPr>
              <a:t>Location:  </a:t>
            </a:r>
            <a:pPr indent="0" marL="0">
              <a:buNone/>
            </a:pPr>
            <a:r>
              <a:rPr lang="en-US" sz="1700" b="1" dirty="0">
                <a:solidFill>
                  <a:srgbClr val="1B2B34"/>
                </a:solidFill>
                <a:latin typeface="Calibri" pitchFamily="34" charset="0"/>
                <a:ea typeface="Calibri" pitchFamily="34" charset="-122"/>
                <a:cs typeface="Calibri" pitchFamily="34" charset="-120"/>
              </a:rPr>
              <a:t>Banaskatha District, Gujarat</a:t>
            </a:r>
            <a:endParaRPr lang="en-US" sz="1700" dirty="0"/>
          </a:p>
        </p:txBody>
      </p:sp>
      <p:sp>
        <p:nvSpPr>
          <p:cNvPr id="26" name="Text 19"/>
          <p:cNvSpPr txBox="1"/>
          <p:nvPr/>
        </p:nvSpPr>
        <p:spPr>
          <a:xfrm>
            <a:off x="5669280" y="3959352"/>
            <a:ext cx="5971032" cy="365760"/>
          </a:xfrm>
          <a:prstGeom prst="rect">
            <a:avLst/>
          </a:prstGeom>
          <a:noFill/>
          <a:ln/>
        </p:spPr>
        <p:txBody>
          <a:bodyPr wrap="square" lIns="0" tIns="0" rIns="0" bIns="0" rtlCol="0" anchor="ctr"/>
          <a:lstStyle/>
          <a:p>
            <a:pPr algn="r" indent="0" marL="0">
              <a:buNone/>
            </a:pPr>
            <a:r>
              <a:rPr lang="en-US" sz="1300" i="1" dirty="0">
                <a:solidFill>
                  <a:srgbClr val="B94E2A"/>
                </a:solidFill>
                <a:latin typeface="Calibri" pitchFamily="34" charset="0"/>
                <a:ea typeface="Calibri" pitchFamily="34" charset="-122"/>
                <a:cs typeface="Calibri" pitchFamily="34" charset="-120"/>
              </a:rPr>
              <a:t>[School names: to be added once selection is finalised]</a:t>
            </a:r>
            <a:endParaRPr lang="en-US" sz="1300" dirty="0"/>
          </a:p>
        </p:txBody>
      </p:sp>
      <p:sp>
        <p:nvSpPr>
          <p:cNvPr id="27" name="Text 20"/>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WHAT THE PROJECT INCLUDES</a:t>
            </a:r>
            <a:endParaRPr lang="en-US" sz="1200" dirty="0"/>
          </a:p>
        </p:txBody>
      </p:sp>
      <p:sp>
        <p:nvSpPr>
          <p:cNvPr id="28" name="Shape 21"/>
          <p:cNvSpPr/>
          <p:nvPr/>
        </p:nvSpPr>
        <p:spPr>
          <a:xfrm>
            <a:off x="548640" y="4892040"/>
            <a:ext cx="2606040" cy="1234440"/>
          </a:xfrm>
          <a:prstGeom prst="roundRect">
            <a:avLst>
              <a:gd name="adj" fmla="val 5926"/>
            </a:avLst>
          </a:prstGeom>
          <a:solidFill>
            <a:srgbClr val="F2F5F6"/>
          </a:solidFill>
          <a:ln w="9525">
            <a:solidFill>
              <a:srgbClr val="F2F5F6"/>
            </a:solidFill>
            <a:prstDash val="solid"/>
          </a:ln>
        </p:spPr>
      </p:sp>
      <p:sp>
        <p:nvSpPr>
          <p:cNvPr id="29" name="Shape 22"/>
          <p:cNvSpPr/>
          <p:nvPr/>
        </p:nvSpPr>
        <p:spPr>
          <a:xfrm>
            <a:off x="731520" y="5230368"/>
            <a:ext cx="566928" cy="566928"/>
          </a:xfrm>
          <a:prstGeom prst="ellipse">
            <a:avLst/>
          </a:prstGeom>
          <a:solidFill>
            <a:srgbClr val="F2A33A"/>
          </a:solidFill>
          <a:ln w="12700">
            <a:solidFill>
              <a:srgbClr val="F2A33A"/>
            </a:solidFill>
            <a:prstDash val="solid"/>
          </a:ln>
        </p:spPr>
      </p:sp>
      <p:pic>
        <p:nvPicPr>
          <p:cNvPr id="30" name="Image 5" descr="preencoded.png">    </p:cNvPr>
          <p:cNvPicPr>
            <a:picLocks noChangeAspect="1"/>
          </p:cNvPicPr>
          <p:nvPr/>
        </p:nvPicPr>
        <p:blipFill>
          <a:blip r:embed="rId6"/>
          <a:stretch>
            <a:fillRect/>
          </a:stretch>
        </p:blipFill>
        <p:spPr>
          <a:xfrm>
            <a:off x="867583" y="5366431"/>
            <a:ext cx="294803" cy="294803"/>
          </a:xfrm>
          <a:prstGeom prst="rect">
            <a:avLst/>
          </a:prstGeom>
        </p:spPr>
      </p:pic>
      <p:sp>
        <p:nvSpPr>
          <p:cNvPr id="31" name="Text 23"/>
          <p:cNvSpPr txBox="1"/>
          <p:nvPr/>
        </p:nvSpPr>
        <p:spPr>
          <a:xfrm>
            <a:off x="1444752" y="4892040"/>
            <a:ext cx="1645920" cy="123444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Solar-powered RO purification</a:t>
            </a:r>
            <a:endParaRPr lang="en-US" sz="1500" dirty="0"/>
          </a:p>
        </p:txBody>
      </p:sp>
      <p:sp>
        <p:nvSpPr>
          <p:cNvPr id="32" name="Shape 24"/>
          <p:cNvSpPr/>
          <p:nvPr/>
        </p:nvSpPr>
        <p:spPr>
          <a:xfrm>
            <a:off x="3364992" y="4892040"/>
            <a:ext cx="2606040" cy="1234440"/>
          </a:xfrm>
          <a:prstGeom prst="roundRect">
            <a:avLst>
              <a:gd name="adj" fmla="val 5926"/>
            </a:avLst>
          </a:prstGeom>
          <a:solidFill>
            <a:srgbClr val="F2F5F6"/>
          </a:solidFill>
          <a:ln w="9525">
            <a:solidFill>
              <a:srgbClr val="F2F5F6"/>
            </a:solidFill>
            <a:prstDash val="solid"/>
          </a:ln>
        </p:spPr>
      </p:sp>
      <p:sp>
        <p:nvSpPr>
          <p:cNvPr id="33" name="Shape 25"/>
          <p:cNvSpPr/>
          <p:nvPr/>
        </p:nvSpPr>
        <p:spPr>
          <a:xfrm>
            <a:off x="3547872" y="5230368"/>
            <a:ext cx="566928" cy="566928"/>
          </a:xfrm>
          <a:prstGeom prst="ellipse">
            <a:avLst/>
          </a:prstGeom>
          <a:solidFill>
            <a:srgbClr val="2F9AAE"/>
          </a:solidFill>
          <a:ln w="12700">
            <a:solidFill>
              <a:srgbClr val="2F9AAE"/>
            </a:solidFill>
            <a:prstDash val="solid"/>
          </a:ln>
        </p:spPr>
      </p:sp>
      <p:pic>
        <p:nvPicPr>
          <p:cNvPr id="34" name="Image 6" descr="preencoded.png">    </p:cNvPr>
          <p:cNvPicPr>
            <a:picLocks noChangeAspect="1"/>
          </p:cNvPicPr>
          <p:nvPr/>
        </p:nvPicPr>
        <p:blipFill>
          <a:blip r:embed="rId7"/>
          <a:stretch>
            <a:fillRect/>
          </a:stretch>
        </p:blipFill>
        <p:spPr>
          <a:xfrm>
            <a:off x="3683935" y="5366431"/>
            <a:ext cx="294803" cy="294803"/>
          </a:xfrm>
          <a:prstGeom prst="rect">
            <a:avLst/>
          </a:prstGeom>
        </p:spPr>
      </p:pic>
      <p:sp>
        <p:nvSpPr>
          <p:cNvPr id="35" name="Text 26"/>
          <p:cNvSpPr txBox="1"/>
          <p:nvPr/>
        </p:nvSpPr>
        <p:spPr>
          <a:xfrm>
            <a:off x="4261104" y="4892040"/>
            <a:ext cx="1645920" cy="123444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Renewable Energy –Powered Water Facility</a:t>
            </a:r>
            <a:endParaRPr lang="en-US" sz="1500" dirty="0"/>
          </a:p>
        </p:txBody>
      </p:sp>
      <p:sp>
        <p:nvSpPr>
          <p:cNvPr id="36" name="Shape 27"/>
          <p:cNvSpPr/>
          <p:nvPr/>
        </p:nvSpPr>
        <p:spPr>
          <a:xfrm>
            <a:off x="6181344" y="4892040"/>
            <a:ext cx="2606040" cy="1234440"/>
          </a:xfrm>
          <a:prstGeom prst="roundRect">
            <a:avLst>
              <a:gd name="adj" fmla="val 5926"/>
            </a:avLst>
          </a:prstGeom>
          <a:solidFill>
            <a:srgbClr val="F2F5F6"/>
          </a:solidFill>
          <a:ln w="9525">
            <a:solidFill>
              <a:srgbClr val="F2F5F6"/>
            </a:solidFill>
            <a:prstDash val="solid"/>
          </a:ln>
        </p:spPr>
      </p:sp>
      <p:sp>
        <p:nvSpPr>
          <p:cNvPr id="37" name="Shape 28"/>
          <p:cNvSpPr/>
          <p:nvPr/>
        </p:nvSpPr>
        <p:spPr>
          <a:xfrm>
            <a:off x="6364224" y="5230368"/>
            <a:ext cx="566928" cy="566928"/>
          </a:xfrm>
          <a:prstGeom prst="ellipse">
            <a:avLst/>
          </a:prstGeom>
          <a:solidFill>
            <a:srgbClr val="4A8A45"/>
          </a:solidFill>
          <a:ln w="12700">
            <a:solidFill>
              <a:srgbClr val="4A8A45"/>
            </a:solidFill>
            <a:prstDash val="solid"/>
          </a:ln>
        </p:spPr>
      </p:sp>
      <p:pic>
        <p:nvPicPr>
          <p:cNvPr id="38" name="Image 7" descr="preencoded.png">    </p:cNvPr>
          <p:cNvPicPr>
            <a:picLocks noChangeAspect="1"/>
          </p:cNvPicPr>
          <p:nvPr/>
        </p:nvPicPr>
        <p:blipFill>
          <a:blip r:embed="rId8"/>
          <a:stretch>
            <a:fillRect/>
          </a:stretch>
        </p:blipFill>
        <p:spPr>
          <a:xfrm>
            <a:off x="6500287" y="5366431"/>
            <a:ext cx="294803" cy="294803"/>
          </a:xfrm>
          <a:prstGeom prst="rect">
            <a:avLst/>
          </a:prstGeom>
        </p:spPr>
      </p:pic>
      <p:sp>
        <p:nvSpPr>
          <p:cNvPr id="39" name="Text 29"/>
          <p:cNvSpPr txBox="1"/>
          <p:nvPr/>
        </p:nvSpPr>
        <p:spPr>
          <a:xfrm>
            <a:off x="7077456" y="4892040"/>
            <a:ext cx="1645920" cy="123444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Hygiene &amp; sanitation awareness</a:t>
            </a:r>
            <a:endParaRPr lang="en-US" sz="1500" dirty="0"/>
          </a:p>
        </p:txBody>
      </p:sp>
      <p:sp>
        <p:nvSpPr>
          <p:cNvPr id="40" name="Shape 30"/>
          <p:cNvSpPr/>
          <p:nvPr/>
        </p:nvSpPr>
        <p:spPr>
          <a:xfrm>
            <a:off x="8997696" y="4892040"/>
            <a:ext cx="2606040" cy="1234440"/>
          </a:xfrm>
          <a:prstGeom prst="roundRect">
            <a:avLst>
              <a:gd name="adj" fmla="val 5926"/>
            </a:avLst>
          </a:prstGeom>
          <a:solidFill>
            <a:srgbClr val="F2F5F6"/>
          </a:solidFill>
          <a:ln w="9525">
            <a:solidFill>
              <a:srgbClr val="F2F5F6"/>
            </a:solidFill>
            <a:prstDash val="solid"/>
          </a:ln>
        </p:spPr>
      </p:sp>
      <p:sp>
        <p:nvSpPr>
          <p:cNvPr id="41" name="Shape 31"/>
          <p:cNvSpPr/>
          <p:nvPr/>
        </p:nvSpPr>
        <p:spPr>
          <a:xfrm>
            <a:off x="9180576" y="5230368"/>
            <a:ext cx="566928" cy="566928"/>
          </a:xfrm>
          <a:prstGeom prst="ellipse">
            <a:avLst/>
          </a:prstGeom>
          <a:solidFill>
            <a:srgbClr val="0E5E6F"/>
          </a:solidFill>
          <a:ln w="12700">
            <a:solidFill>
              <a:srgbClr val="0E5E6F"/>
            </a:solidFill>
            <a:prstDash val="solid"/>
          </a:ln>
        </p:spPr>
      </p:sp>
      <p:pic>
        <p:nvPicPr>
          <p:cNvPr id="42" name="Image 8" descr="preencoded.png">    </p:cNvPr>
          <p:cNvPicPr>
            <a:picLocks noChangeAspect="1"/>
          </p:cNvPicPr>
          <p:nvPr/>
        </p:nvPicPr>
        <p:blipFill>
          <a:blip r:embed="rId9"/>
          <a:stretch>
            <a:fillRect/>
          </a:stretch>
        </p:blipFill>
        <p:spPr>
          <a:xfrm>
            <a:off x="9316639" y="5366431"/>
            <a:ext cx="294803" cy="294803"/>
          </a:xfrm>
          <a:prstGeom prst="rect">
            <a:avLst/>
          </a:prstGeom>
        </p:spPr>
      </p:pic>
      <p:sp>
        <p:nvSpPr>
          <p:cNvPr id="43" name="Text 32"/>
          <p:cNvSpPr txBox="1"/>
          <p:nvPr/>
        </p:nvSpPr>
        <p:spPr>
          <a:xfrm>
            <a:off x="9893808" y="4892040"/>
            <a:ext cx="1645920" cy="1234440"/>
          </a:xfrm>
          <a:prstGeom prst="rect">
            <a:avLst/>
          </a:prstGeom>
          <a:noFill/>
          <a:ln/>
        </p:spPr>
        <p:txBody>
          <a:bodyPr wrap="square" lIns="0" tIns="0" rIns="0" bIns="0" rtlCol="0" anchor="ctr"/>
          <a:lstStyle/>
          <a:p>
            <a:pPr indent="0" marL="0">
              <a:buNone/>
            </a:pPr>
            <a:r>
              <a:rPr lang="en-US" sz="1400" b="1" dirty="0">
                <a:solidFill>
                  <a:srgbClr val="1B2B34"/>
                </a:solidFill>
                <a:latin typeface="Calibri" pitchFamily="34" charset="0"/>
                <a:ea typeface="Calibri" pitchFamily="34" charset="-122"/>
                <a:cs typeface="Calibri" pitchFamily="34" charset="-120"/>
              </a:rPr>
              <a:t>12-month maintenance &amp; water-quality testing</a:t>
            </a:r>
            <a:endParaRPr lang="en-US" sz="1400" dirty="0"/>
          </a:p>
        </p:txBody>
      </p:sp>
      <p:sp>
        <p:nvSpPr>
          <p:cNvPr id="44" name="Text 33"/>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45" name="Text 34"/>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THE PHYSICAL INTERVENTION</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What Will Actually Be Installed</a:t>
            </a:r>
            <a:endParaRPr lang="en-US" sz="3200" dirty="0"/>
          </a:p>
        </p:txBody>
      </p:sp>
      <p:sp>
        <p:nvSpPr>
          <p:cNvPr id="4" name="Shape 2"/>
          <p:cNvSpPr/>
          <p:nvPr/>
        </p:nvSpPr>
        <p:spPr>
          <a:xfrm>
            <a:off x="906562" y="1554480"/>
            <a:ext cx="868680" cy="868680"/>
          </a:xfrm>
          <a:prstGeom prst="ellipse">
            <a:avLst/>
          </a:prstGeom>
          <a:solidFill>
            <a:srgbClr val="F2A33A"/>
          </a:solidFill>
          <a:ln w="12700">
            <a:solidFill>
              <a:srgbClr val="F2A33A"/>
            </a:solidFill>
            <a:prstDash val="solid"/>
          </a:ln>
        </p:spPr>
      </p:sp>
      <p:pic>
        <p:nvPicPr>
          <p:cNvPr id="5" name="Image 0" descr="preencoded.png">    </p:cNvPr>
          <p:cNvPicPr>
            <a:picLocks noChangeAspect="1"/>
          </p:cNvPicPr>
          <p:nvPr/>
        </p:nvPicPr>
        <p:blipFill>
          <a:blip r:embed="rId1"/>
          <a:stretch>
            <a:fillRect/>
          </a:stretch>
        </p:blipFill>
        <p:spPr>
          <a:xfrm>
            <a:off x="1115045" y="1762963"/>
            <a:ext cx="451714" cy="451714"/>
          </a:xfrm>
          <a:prstGeom prst="rect">
            <a:avLst/>
          </a:prstGeom>
        </p:spPr>
      </p:pic>
      <p:sp>
        <p:nvSpPr>
          <p:cNvPr id="6" name="Text 3"/>
          <p:cNvSpPr txBox="1"/>
          <p:nvPr/>
        </p:nvSpPr>
        <p:spPr>
          <a:xfrm>
            <a:off x="594360"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Solar panels</a:t>
            </a:r>
            <a:endParaRPr lang="en-US" sz="1300" dirty="0"/>
          </a:p>
        </p:txBody>
      </p:sp>
      <p:sp>
        <p:nvSpPr>
          <p:cNvPr id="7" name="Shape 4"/>
          <p:cNvSpPr/>
          <p:nvPr/>
        </p:nvSpPr>
        <p:spPr>
          <a:xfrm>
            <a:off x="1986861" y="1883664"/>
            <a:ext cx="292608" cy="219456"/>
          </a:xfrm>
          <a:prstGeom prst="rightArrow">
            <a:avLst/>
          </a:prstGeom>
          <a:solidFill>
            <a:srgbClr val="9FB3BA"/>
          </a:solidFill>
          <a:ln w="12700">
            <a:solidFill>
              <a:srgbClr val="9FB3BA"/>
            </a:solidFill>
            <a:prstDash val="solid"/>
          </a:ln>
        </p:spPr>
      </p:sp>
      <p:sp>
        <p:nvSpPr>
          <p:cNvPr id="8" name="Shape 5"/>
          <p:cNvSpPr/>
          <p:nvPr/>
        </p:nvSpPr>
        <p:spPr>
          <a:xfrm>
            <a:off x="2491087" y="1554480"/>
            <a:ext cx="868680" cy="868680"/>
          </a:xfrm>
          <a:prstGeom prst="ellipse">
            <a:avLst/>
          </a:prstGeom>
          <a:solidFill>
            <a:srgbClr val="F2A33A"/>
          </a:solidFill>
          <a:ln w="12700">
            <a:solidFill>
              <a:srgbClr val="F2A33A"/>
            </a:solidFill>
            <a:prstDash val="solid"/>
          </a:ln>
        </p:spPr>
      </p:sp>
      <p:pic>
        <p:nvPicPr>
          <p:cNvPr id="9" name="Image 1" descr="preencoded.png">    </p:cNvPr>
          <p:cNvPicPr>
            <a:picLocks noChangeAspect="1"/>
          </p:cNvPicPr>
          <p:nvPr/>
        </p:nvPicPr>
        <p:blipFill>
          <a:blip r:embed="rId2"/>
          <a:stretch>
            <a:fillRect/>
          </a:stretch>
        </p:blipFill>
        <p:spPr>
          <a:xfrm>
            <a:off x="2699570" y="1762963"/>
            <a:ext cx="451714" cy="451714"/>
          </a:xfrm>
          <a:prstGeom prst="rect">
            <a:avLst/>
          </a:prstGeom>
        </p:spPr>
      </p:pic>
      <p:sp>
        <p:nvSpPr>
          <p:cNvPr id="10" name="Text 6"/>
          <p:cNvSpPr txBox="1"/>
          <p:nvPr/>
        </p:nvSpPr>
        <p:spPr>
          <a:xfrm>
            <a:off x="2178885"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Battery / power system</a:t>
            </a:r>
            <a:endParaRPr lang="en-US" sz="1300" dirty="0"/>
          </a:p>
        </p:txBody>
      </p:sp>
      <p:sp>
        <p:nvSpPr>
          <p:cNvPr id="11" name="Shape 7"/>
          <p:cNvSpPr/>
          <p:nvPr/>
        </p:nvSpPr>
        <p:spPr>
          <a:xfrm>
            <a:off x="3571385" y="1883664"/>
            <a:ext cx="292608" cy="219456"/>
          </a:xfrm>
          <a:prstGeom prst="rightArrow">
            <a:avLst/>
          </a:prstGeom>
          <a:solidFill>
            <a:srgbClr val="9FB3BA"/>
          </a:solidFill>
          <a:ln w="12700">
            <a:solidFill>
              <a:srgbClr val="9FB3BA"/>
            </a:solidFill>
            <a:prstDash val="solid"/>
          </a:ln>
        </p:spPr>
      </p:sp>
      <p:sp>
        <p:nvSpPr>
          <p:cNvPr id="12" name="Shape 8"/>
          <p:cNvSpPr/>
          <p:nvPr/>
        </p:nvSpPr>
        <p:spPr>
          <a:xfrm>
            <a:off x="4075611" y="1554480"/>
            <a:ext cx="868680" cy="868680"/>
          </a:xfrm>
          <a:prstGeom prst="ellipse">
            <a:avLst/>
          </a:prstGeom>
          <a:solidFill>
            <a:srgbClr val="0E5E6F"/>
          </a:solidFill>
          <a:ln w="12700">
            <a:solidFill>
              <a:srgbClr val="0E5E6F"/>
            </a:solidFill>
            <a:prstDash val="solid"/>
          </a:ln>
        </p:spPr>
      </p:sp>
      <p:pic>
        <p:nvPicPr>
          <p:cNvPr id="13" name="Image 2" descr="preencoded.png">    </p:cNvPr>
          <p:cNvPicPr>
            <a:picLocks noChangeAspect="1"/>
          </p:cNvPicPr>
          <p:nvPr/>
        </p:nvPicPr>
        <p:blipFill>
          <a:blip r:embed="rId3"/>
          <a:stretch>
            <a:fillRect/>
          </a:stretch>
        </p:blipFill>
        <p:spPr>
          <a:xfrm>
            <a:off x="4284095" y="1762963"/>
            <a:ext cx="451714" cy="451714"/>
          </a:xfrm>
          <a:prstGeom prst="rect">
            <a:avLst/>
          </a:prstGeom>
        </p:spPr>
      </p:pic>
      <p:sp>
        <p:nvSpPr>
          <p:cNvPr id="14" name="Text 9"/>
          <p:cNvSpPr txBox="1"/>
          <p:nvPr/>
        </p:nvSpPr>
        <p:spPr>
          <a:xfrm>
            <a:off x="3763409"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RO purification</a:t>
            </a:r>
            <a:endParaRPr lang="en-US" sz="1300" dirty="0"/>
          </a:p>
        </p:txBody>
      </p:sp>
      <p:sp>
        <p:nvSpPr>
          <p:cNvPr id="15" name="Shape 10"/>
          <p:cNvSpPr/>
          <p:nvPr/>
        </p:nvSpPr>
        <p:spPr>
          <a:xfrm>
            <a:off x="5155910" y="1883664"/>
            <a:ext cx="292608" cy="219456"/>
          </a:xfrm>
          <a:prstGeom prst="rightArrow">
            <a:avLst/>
          </a:prstGeom>
          <a:solidFill>
            <a:srgbClr val="9FB3BA"/>
          </a:solidFill>
          <a:ln w="12700">
            <a:solidFill>
              <a:srgbClr val="9FB3BA"/>
            </a:solidFill>
            <a:prstDash val="solid"/>
          </a:ln>
        </p:spPr>
      </p:sp>
      <p:sp>
        <p:nvSpPr>
          <p:cNvPr id="16" name="Shape 11"/>
          <p:cNvSpPr/>
          <p:nvPr/>
        </p:nvSpPr>
        <p:spPr>
          <a:xfrm>
            <a:off x="5660136" y="1554480"/>
            <a:ext cx="868680" cy="868680"/>
          </a:xfrm>
          <a:prstGeom prst="ellipse">
            <a:avLst/>
          </a:prstGeom>
          <a:solidFill>
            <a:srgbClr val="0E5E6F"/>
          </a:solidFill>
          <a:ln w="12700">
            <a:solidFill>
              <a:srgbClr val="0E5E6F"/>
            </a:solidFill>
            <a:prstDash val="solid"/>
          </a:ln>
        </p:spPr>
      </p:sp>
      <p:pic>
        <p:nvPicPr>
          <p:cNvPr id="17" name="Image 3" descr="preencoded.png">    </p:cNvPr>
          <p:cNvPicPr>
            <a:picLocks noChangeAspect="1"/>
          </p:cNvPicPr>
          <p:nvPr/>
        </p:nvPicPr>
        <p:blipFill>
          <a:blip r:embed="rId4"/>
          <a:stretch>
            <a:fillRect/>
          </a:stretch>
        </p:blipFill>
        <p:spPr>
          <a:xfrm>
            <a:off x="5868619" y="1762963"/>
            <a:ext cx="451714" cy="451714"/>
          </a:xfrm>
          <a:prstGeom prst="rect">
            <a:avLst/>
          </a:prstGeom>
        </p:spPr>
      </p:pic>
      <p:sp>
        <p:nvSpPr>
          <p:cNvPr id="18" name="Text 12"/>
          <p:cNvSpPr txBox="1"/>
          <p:nvPr/>
        </p:nvSpPr>
        <p:spPr>
          <a:xfrm>
            <a:off x="5347934"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UV / filtration</a:t>
            </a:r>
            <a:endParaRPr lang="en-US" sz="1300" dirty="0"/>
          </a:p>
        </p:txBody>
      </p:sp>
      <p:sp>
        <p:nvSpPr>
          <p:cNvPr id="19" name="Shape 13"/>
          <p:cNvSpPr/>
          <p:nvPr/>
        </p:nvSpPr>
        <p:spPr>
          <a:xfrm>
            <a:off x="6740434" y="1883664"/>
            <a:ext cx="292608" cy="219456"/>
          </a:xfrm>
          <a:prstGeom prst="rightArrow">
            <a:avLst/>
          </a:prstGeom>
          <a:solidFill>
            <a:srgbClr val="9FB3BA"/>
          </a:solidFill>
          <a:ln w="12700">
            <a:solidFill>
              <a:srgbClr val="9FB3BA"/>
            </a:solidFill>
            <a:prstDash val="solid"/>
          </a:ln>
        </p:spPr>
      </p:sp>
      <p:sp>
        <p:nvSpPr>
          <p:cNvPr id="20" name="Shape 14"/>
          <p:cNvSpPr/>
          <p:nvPr/>
        </p:nvSpPr>
        <p:spPr>
          <a:xfrm>
            <a:off x="7244661" y="1554480"/>
            <a:ext cx="868680" cy="868680"/>
          </a:xfrm>
          <a:prstGeom prst="ellipse">
            <a:avLst/>
          </a:prstGeom>
          <a:solidFill>
            <a:srgbClr val="2F9AAE"/>
          </a:solidFill>
          <a:ln w="12700">
            <a:solidFill>
              <a:srgbClr val="2F9AAE"/>
            </a:solidFill>
            <a:prstDash val="solid"/>
          </a:ln>
        </p:spPr>
      </p:sp>
      <p:pic>
        <p:nvPicPr>
          <p:cNvPr id="21" name="Image 4" descr="preencoded.png">    </p:cNvPr>
          <p:cNvPicPr>
            <a:picLocks noChangeAspect="1"/>
          </p:cNvPicPr>
          <p:nvPr/>
        </p:nvPicPr>
        <p:blipFill>
          <a:blip r:embed="rId5"/>
          <a:stretch>
            <a:fillRect/>
          </a:stretch>
        </p:blipFill>
        <p:spPr>
          <a:xfrm>
            <a:off x="7453144" y="1762963"/>
            <a:ext cx="451714" cy="451714"/>
          </a:xfrm>
          <a:prstGeom prst="rect">
            <a:avLst/>
          </a:prstGeom>
        </p:spPr>
      </p:pic>
      <p:sp>
        <p:nvSpPr>
          <p:cNvPr id="22" name="Text 15"/>
          <p:cNvSpPr txBox="1"/>
          <p:nvPr/>
        </p:nvSpPr>
        <p:spPr>
          <a:xfrm>
            <a:off x="6932458"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Safe water storage</a:t>
            </a:r>
            <a:endParaRPr lang="en-US" sz="1300" dirty="0"/>
          </a:p>
        </p:txBody>
      </p:sp>
      <p:sp>
        <p:nvSpPr>
          <p:cNvPr id="23" name="Shape 16"/>
          <p:cNvSpPr/>
          <p:nvPr/>
        </p:nvSpPr>
        <p:spPr>
          <a:xfrm>
            <a:off x="8324959" y="1883664"/>
            <a:ext cx="292608" cy="219456"/>
          </a:xfrm>
          <a:prstGeom prst="rightArrow">
            <a:avLst/>
          </a:prstGeom>
          <a:solidFill>
            <a:srgbClr val="9FB3BA"/>
          </a:solidFill>
          <a:ln w="12700">
            <a:solidFill>
              <a:srgbClr val="9FB3BA"/>
            </a:solidFill>
            <a:prstDash val="solid"/>
          </a:ln>
        </p:spPr>
      </p:sp>
      <p:sp>
        <p:nvSpPr>
          <p:cNvPr id="24" name="Shape 17"/>
          <p:cNvSpPr/>
          <p:nvPr/>
        </p:nvSpPr>
        <p:spPr>
          <a:xfrm>
            <a:off x="8829185" y="1554480"/>
            <a:ext cx="868680" cy="868680"/>
          </a:xfrm>
          <a:prstGeom prst="ellipse">
            <a:avLst/>
          </a:prstGeom>
          <a:solidFill>
            <a:srgbClr val="2F9AAE"/>
          </a:solidFill>
          <a:ln w="12700">
            <a:solidFill>
              <a:srgbClr val="2F9AAE"/>
            </a:solidFill>
            <a:prstDash val="solid"/>
          </a:ln>
        </p:spPr>
      </p:sp>
      <p:pic>
        <p:nvPicPr>
          <p:cNvPr id="25" name="Image 5" descr="preencoded.png">    </p:cNvPr>
          <p:cNvPicPr>
            <a:picLocks noChangeAspect="1"/>
          </p:cNvPicPr>
          <p:nvPr/>
        </p:nvPicPr>
        <p:blipFill>
          <a:blip r:embed="rId6"/>
          <a:stretch>
            <a:fillRect/>
          </a:stretch>
        </p:blipFill>
        <p:spPr>
          <a:xfrm>
            <a:off x="9037668" y="1762963"/>
            <a:ext cx="451714" cy="451714"/>
          </a:xfrm>
          <a:prstGeom prst="rect">
            <a:avLst/>
          </a:prstGeom>
        </p:spPr>
      </p:pic>
      <p:sp>
        <p:nvSpPr>
          <p:cNvPr id="26" name="Text 18"/>
          <p:cNvSpPr txBox="1"/>
          <p:nvPr/>
        </p:nvSpPr>
        <p:spPr>
          <a:xfrm>
            <a:off x="8516983"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Water cooler</a:t>
            </a:r>
            <a:endParaRPr lang="en-US" sz="1300" dirty="0"/>
          </a:p>
        </p:txBody>
      </p:sp>
      <p:sp>
        <p:nvSpPr>
          <p:cNvPr id="27" name="Shape 19"/>
          <p:cNvSpPr/>
          <p:nvPr/>
        </p:nvSpPr>
        <p:spPr>
          <a:xfrm>
            <a:off x="9909483" y="1883664"/>
            <a:ext cx="292608" cy="219456"/>
          </a:xfrm>
          <a:prstGeom prst="rightArrow">
            <a:avLst/>
          </a:prstGeom>
          <a:solidFill>
            <a:srgbClr val="9FB3BA"/>
          </a:solidFill>
          <a:ln w="12700">
            <a:solidFill>
              <a:srgbClr val="9FB3BA"/>
            </a:solidFill>
            <a:prstDash val="solid"/>
          </a:ln>
        </p:spPr>
      </p:sp>
      <p:sp>
        <p:nvSpPr>
          <p:cNvPr id="28" name="Shape 20"/>
          <p:cNvSpPr/>
          <p:nvPr/>
        </p:nvSpPr>
        <p:spPr>
          <a:xfrm>
            <a:off x="10413710" y="1554480"/>
            <a:ext cx="868680" cy="868680"/>
          </a:xfrm>
          <a:prstGeom prst="ellipse">
            <a:avLst/>
          </a:prstGeom>
          <a:solidFill>
            <a:srgbClr val="B94E2A"/>
          </a:solidFill>
          <a:ln w="12700">
            <a:solidFill>
              <a:srgbClr val="B94E2A"/>
            </a:solidFill>
            <a:prstDash val="solid"/>
          </a:ln>
        </p:spPr>
      </p:sp>
      <p:pic>
        <p:nvPicPr>
          <p:cNvPr id="29" name="Image 6" descr="preencoded.png">    </p:cNvPr>
          <p:cNvPicPr>
            <a:picLocks noChangeAspect="1"/>
          </p:cNvPicPr>
          <p:nvPr/>
        </p:nvPicPr>
        <p:blipFill>
          <a:blip r:embed="rId7"/>
          <a:stretch>
            <a:fillRect/>
          </a:stretch>
        </p:blipFill>
        <p:spPr>
          <a:xfrm>
            <a:off x="10622193" y="1762963"/>
            <a:ext cx="451714" cy="451714"/>
          </a:xfrm>
          <a:prstGeom prst="rect">
            <a:avLst/>
          </a:prstGeom>
        </p:spPr>
      </p:pic>
      <p:sp>
        <p:nvSpPr>
          <p:cNvPr id="30" name="Text 21"/>
          <p:cNvSpPr txBox="1"/>
          <p:nvPr/>
        </p:nvSpPr>
        <p:spPr>
          <a:xfrm>
            <a:off x="10101507" y="2514600"/>
            <a:ext cx="1493085" cy="50292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Students &amp; school community</a:t>
            </a:r>
            <a:endParaRPr lang="en-US" sz="1300" dirty="0"/>
          </a:p>
        </p:txBody>
      </p:sp>
      <p:sp>
        <p:nvSpPr>
          <p:cNvPr id="31" name="Text 22"/>
          <p:cNvSpPr txBox="1"/>
          <p:nvPr/>
        </p:nvSpPr>
        <p:spPr>
          <a:xfrm>
            <a:off x="548640" y="3246120"/>
            <a:ext cx="73152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SYSTEM COMPONENTS</a:t>
            </a:r>
            <a:endParaRPr lang="en-US" sz="1200" dirty="0"/>
          </a:p>
        </p:txBody>
      </p:sp>
      <p:sp>
        <p:nvSpPr>
          <p:cNvPr id="32" name="Shape 23"/>
          <p:cNvSpPr/>
          <p:nvPr/>
        </p:nvSpPr>
        <p:spPr>
          <a:xfrm>
            <a:off x="548640" y="3611880"/>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3" name="Shape 24"/>
          <p:cNvSpPr/>
          <p:nvPr/>
        </p:nvSpPr>
        <p:spPr>
          <a:xfrm>
            <a:off x="731520" y="3794760"/>
            <a:ext cx="457200" cy="457200"/>
          </a:xfrm>
          <a:prstGeom prst="ellipse">
            <a:avLst/>
          </a:prstGeom>
          <a:solidFill>
            <a:srgbClr val="F2A33A"/>
          </a:solidFill>
          <a:ln w="12700">
            <a:solidFill>
              <a:srgbClr val="F2A33A"/>
            </a:solidFill>
            <a:prstDash val="solid"/>
          </a:ln>
        </p:spPr>
      </p:sp>
      <p:pic>
        <p:nvPicPr>
          <p:cNvPr id="34" name="Image 7" descr="preencoded.png">    </p:cNvPr>
          <p:cNvPicPr>
            <a:picLocks noChangeAspect="1"/>
          </p:cNvPicPr>
          <p:nvPr/>
        </p:nvPicPr>
        <p:blipFill>
          <a:blip r:embed="rId8"/>
          <a:stretch>
            <a:fillRect/>
          </a:stretch>
        </p:blipFill>
        <p:spPr>
          <a:xfrm>
            <a:off x="841248" y="3904488"/>
            <a:ext cx="237744" cy="237744"/>
          </a:xfrm>
          <a:prstGeom prst="rect">
            <a:avLst/>
          </a:prstGeom>
        </p:spPr>
      </p:pic>
      <p:sp>
        <p:nvSpPr>
          <p:cNvPr id="35" name="Text 25"/>
          <p:cNvSpPr txBox="1"/>
          <p:nvPr/>
        </p:nvSpPr>
        <p:spPr>
          <a:xfrm>
            <a:off x="1325880" y="3767328"/>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3.5 KW</a:t>
            </a:r>
            <a:endParaRPr lang="en-US" sz="2000" dirty="0"/>
          </a:p>
        </p:txBody>
      </p:sp>
      <p:sp>
        <p:nvSpPr>
          <p:cNvPr id="36" name="Text 26"/>
          <p:cNvSpPr txBox="1"/>
          <p:nvPr/>
        </p:nvSpPr>
        <p:spPr>
          <a:xfrm>
            <a:off x="731520" y="4315968"/>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Rooftop off-grid solar PV system</a:t>
            </a:r>
            <a:endParaRPr lang="en-US" sz="1250" dirty="0"/>
          </a:p>
        </p:txBody>
      </p:sp>
      <p:sp>
        <p:nvSpPr>
          <p:cNvPr id="37" name="Shape 27"/>
          <p:cNvSpPr/>
          <p:nvPr/>
        </p:nvSpPr>
        <p:spPr>
          <a:xfrm>
            <a:off x="3364992" y="3611880"/>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8" name="Shape 28"/>
          <p:cNvSpPr/>
          <p:nvPr/>
        </p:nvSpPr>
        <p:spPr>
          <a:xfrm>
            <a:off x="3547872" y="3794760"/>
            <a:ext cx="457200" cy="457200"/>
          </a:xfrm>
          <a:prstGeom prst="ellipse">
            <a:avLst/>
          </a:prstGeom>
          <a:solidFill>
            <a:srgbClr val="F2A33A"/>
          </a:solidFill>
          <a:ln w="12700">
            <a:solidFill>
              <a:srgbClr val="F2A33A"/>
            </a:solidFill>
            <a:prstDash val="solid"/>
          </a:ln>
        </p:spPr>
      </p:sp>
      <p:pic>
        <p:nvPicPr>
          <p:cNvPr id="39" name="Image 8" descr="preencoded.png">    </p:cNvPr>
          <p:cNvPicPr>
            <a:picLocks noChangeAspect="1"/>
          </p:cNvPicPr>
          <p:nvPr/>
        </p:nvPicPr>
        <p:blipFill>
          <a:blip r:embed="rId9"/>
          <a:stretch>
            <a:fillRect/>
          </a:stretch>
        </p:blipFill>
        <p:spPr>
          <a:xfrm>
            <a:off x="3657600" y="3904488"/>
            <a:ext cx="237744" cy="237744"/>
          </a:xfrm>
          <a:prstGeom prst="rect">
            <a:avLst/>
          </a:prstGeom>
        </p:spPr>
      </p:pic>
      <p:sp>
        <p:nvSpPr>
          <p:cNvPr id="40" name="Text 29"/>
          <p:cNvSpPr txBox="1"/>
          <p:nvPr/>
        </p:nvSpPr>
        <p:spPr>
          <a:xfrm>
            <a:off x="4142232" y="3767328"/>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5 batteries</a:t>
            </a:r>
            <a:endParaRPr lang="en-US" sz="2000" dirty="0"/>
          </a:p>
        </p:txBody>
      </p:sp>
      <p:sp>
        <p:nvSpPr>
          <p:cNvPr id="41" name="Text 30"/>
          <p:cNvSpPr txBox="1"/>
          <p:nvPr/>
        </p:nvSpPr>
        <p:spPr>
          <a:xfrm>
            <a:off x="3547872" y="4315968"/>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Battery storage at each site</a:t>
            </a:r>
            <a:endParaRPr lang="en-US" sz="1250" dirty="0"/>
          </a:p>
        </p:txBody>
      </p:sp>
      <p:sp>
        <p:nvSpPr>
          <p:cNvPr id="42" name="Shape 31"/>
          <p:cNvSpPr/>
          <p:nvPr/>
        </p:nvSpPr>
        <p:spPr>
          <a:xfrm>
            <a:off x="6181344" y="3611880"/>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43" name="Shape 32"/>
          <p:cNvSpPr/>
          <p:nvPr/>
        </p:nvSpPr>
        <p:spPr>
          <a:xfrm>
            <a:off x="6364224" y="3794760"/>
            <a:ext cx="457200" cy="457200"/>
          </a:xfrm>
          <a:prstGeom prst="ellipse">
            <a:avLst/>
          </a:prstGeom>
          <a:solidFill>
            <a:srgbClr val="F2A33A"/>
          </a:solidFill>
          <a:ln w="12700">
            <a:solidFill>
              <a:srgbClr val="F2A33A"/>
            </a:solidFill>
            <a:prstDash val="solid"/>
          </a:ln>
        </p:spPr>
      </p:sp>
      <p:pic>
        <p:nvPicPr>
          <p:cNvPr id="44" name="Image 9" descr="preencoded.png">    </p:cNvPr>
          <p:cNvPicPr>
            <a:picLocks noChangeAspect="1"/>
          </p:cNvPicPr>
          <p:nvPr/>
        </p:nvPicPr>
        <p:blipFill>
          <a:blip r:embed="rId10"/>
          <a:stretch>
            <a:fillRect/>
          </a:stretch>
        </p:blipFill>
        <p:spPr>
          <a:xfrm>
            <a:off x="6473952" y="3904488"/>
            <a:ext cx="237744" cy="237744"/>
          </a:xfrm>
          <a:prstGeom prst="rect">
            <a:avLst/>
          </a:prstGeom>
        </p:spPr>
      </p:pic>
      <p:sp>
        <p:nvSpPr>
          <p:cNvPr id="45" name="Text 33"/>
          <p:cNvSpPr txBox="1"/>
          <p:nvPr/>
        </p:nvSpPr>
        <p:spPr>
          <a:xfrm>
            <a:off x="6958584" y="3767328"/>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Inverter</a:t>
            </a:r>
            <a:endParaRPr lang="en-US" sz="2000" dirty="0"/>
          </a:p>
        </p:txBody>
      </p:sp>
      <p:sp>
        <p:nvSpPr>
          <p:cNvPr id="46" name="Text 34"/>
          <p:cNvSpPr txBox="1"/>
          <p:nvPr/>
        </p:nvSpPr>
        <p:spPr>
          <a:xfrm>
            <a:off x="6364224" y="4315968"/>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Inverter &amp; stabilizer</a:t>
            </a:r>
            <a:endParaRPr lang="en-US" sz="1250" dirty="0"/>
          </a:p>
        </p:txBody>
      </p:sp>
      <p:sp>
        <p:nvSpPr>
          <p:cNvPr id="47" name="Shape 35"/>
          <p:cNvSpPr/>
          <p:nvPr/>
        </p:nvSpPr>
        <p:spPr>
          <a:xfrm>
            <a:off x="8997696" y="3611880"/>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48" name="Shape 36"/>
          <p:cNvSpPr/>
          <p:nvPr/>
        </p:nvSpPr>
        <p:spPr>
          <a:xfrm>
            <a:off x="9180576" y="3794760"/>
            <a:ext cx="457200" cy="457200"/>
          </a:xfrm>
          <a:prstGeom prst="ellipse">
            <a:avLst/>
          </a:prstGeom>
          <a:solidFill>
            <a:srgbClr val="0E5E6F"/>
          </a:solidFill>
          <a:ln w="12700">
            <a:solidFill>
              <a:srgbClr val="0E5E6F"/>
            </a:solidFill>
            <a:prstDash val="solid"/>
          </a:ln>
        </p:spPr>
      </p:sp>
      <p:pic>
        <p:nvPicPr>
          <p:cNvPr id="49" name="Image 10" descr="preencoded.png">    </p:cNvPr>
          <p:cNvPicPr>
            <a:picLocks noChangeAspect="1"/>
          </p:cNvPicPr>
          <p:nvPr/>
        </p:nvPicPr>
        <p:blipFill>
          <a:blip r:embed="rId11"/>
          <a:stretch>
            <a:fillRect/>
          </a:stretch>
        </p:blipFill>
        <p:spPr>
          <a:xfrm>
            <a:off x="9290304" y="3904488"/>
            <a:ext cx="237744" cy="237744"/>
          </a:xfrm>
          <a:prstGeom prst="rect">
            <a:avLst/>
          </a:prstGeom>
        </p:spPr>
      </p:pic>
      <p:sp>
        <p:nvSpPr>
          <p:cNvPr id="50" name="Text 37"/>
          <p:cNvSpPr txBox="1"/>
          <p:nvPr/>
        </p:nvSpPr>
        <p:spPr>
          <a:xfrm>
            <a:off x="9774936" y="3767328"/>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250 LPH</a:t>
            </a:r>
            <a:endParaRPr lang="en-US" sz="2000" dirty="0"/>
          </a:p>
        </p:txBody>
      </p:sp>
      <p:sp>
        <p:nvSpPr>
          <p:cNvPr id="51" name="Text 38"/>
          <p:cNvSpPr txBox="1"/>
          <p:nvPr/>
        </p:nvSpPr>
        <p:spPr>
          <a:xfrm>
            <a:off x="9180576" y="4315968"/>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Water purification system</a:t>
            </a:r>
            <a:endParaRPr lang="en-US" sz="1250" dirty="0"/>
          </a:p>
        </p:txBody>
      </p:sp>
      <p:sp>
        <p:nvSpPr>
          <p:cNvPr id="52" name="Shape 39"/>
          <p:cNvSpPr/>
          <p:nvPr/>
        </p:nvSpPr>
        <p:spPr>
          <a:xfrm>
            <a:off x="548640" y="4910328"/>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53" name="Shape 40"/>
          <p:cNvSpPr/>
          <p:nvPr/>
        </p:nvSpPr>
        <p:spPr>
          <a:xfrm>
            <a:off x="731520" y="5093208"/>
            <a:ext cx="457200" cy="457200"/>
          </a:xfrm>
          <a:prstGeom prst="ellipse">
            <a:avLst/>
          </a:prstGeom>
          <a:solidFill>
            <a:srgbClr val="0E5E6F"/>
          </a:solidFill>
          <a:ln w="12700">
            <a:solidFill>
              <a:srgbClr val="0E5E6F"/>
            </a:solidFill>
            <a:prstDash val="solid"/>
          </a:ln>
        </p:spPr>
      </p:sp>
      <p:pic>
        <p:nvPicPr>
          <p:cNvPr id="54" name="Image 11" descr="preencoded.png">    </p:cNvPr>
          <p:cNvPicPr>
            <a:picLocks noChangeAspect="1"/>
          </p:cNvPicPr>
          <p:nvPr/>
        </p:nvPicPr>
        <p:blipFill>
          <a:blip r:embed="rId12"/>
          <a:stretch>
            <a:fillRect/>
          </a:stretch>
        </p:blipFill>
        <p:spPr>
          <a:xfrm>
            <a:off x="841248" y="5202936"/>
            <a:ext cx="237744" cy="237744"/>
          </a:xfrm>
          <a:prstGeom prst="rect">
            <a:avLst/>
          </a:prstGeom>
        </p:spPr>
      </p:pic>
      <p:sp>
        <p:nvSpPr>
          <p:cNvPr id="55" name="Text 41"/>
          <p:cNvSpPr txBox="1"/>
          <p:nvPr/>
        </p:nvSpPr>
        <p:spPr>
          <a:xfrm>
            <a:off x="1325880" y="5065776"/>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RO + UV</a:t>
            </a:r>
            <a:endParaRPr lang="en-US" sz="2000" dirty="0"/>
          </a:p>
        </p:txBody>
      </p:sp>
      <p:sp>
        <p:nvSpPr>
          <p:cNvPr id="56" name="Text 42"/>
          <p:cNvSpPr txBox="1"/>
          <p:nvPr/>
        </p:nvSpPr>
        <p:spPr>
          <a:xfrm>
            <a:off x="731520" y="5614416"/>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With carbon &amp; sediment filtration</a:t>
            </a:r>
            <a:endParaRPr lang="en-US" sz="1250" dirty="0"/>
          </a:p>
        </p:txBody>
      </p:sp>
      <p:sp>
        <p:nvSpPr>
          <p:cNvPr id="57" name="Shape 43"/>
          <p:cNvSpPr/>
          <p:nvPr/>
        </p:nvSpPr>
        <p:spPr>
          <a:xfrm>
            <a:off x="3364992" y="4910328"/>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58" name="Shape 44"/>
          <p:cNvSpPr/>
          <p:nvPr/>
        </p:nvSpPr>
        <p:spPr>
          <a:xfrm>
            <a:off x="3547872" y="5093208"/>
            <a:ext cx="457200" cy="457200"/>
          </a:xfrm>
          <a:prstGeom prst="ellipse">
            <a:avLst/>
          </a:prstGeom>
          <a:solidFill>
            <a:srgbClr val="2F9AAE"/>
          </a:solidFill>
          <a:ln w="12700">
            <a:solidFill>
              <a:srgbClr val="2F9AAE"/>
            </a:solidFill>
            <a:prstDash val="solid"/>
          </a:ln>
        </p:spPr>
      </p:sp>
      <p:pic>
        <p:nvPicPr>
          <p:cNvPr id="59" name="Image 12" descr="preencoded.png">    </p:cNvPr>
          <p:cNvPicPr>
            <a:picLocks noChangeAspect="1"/>
          </p:cNvPicPr>
          <p:nvPr/>
        </p:nvPicPr>
        <p:blipFill>
          <a:blip r:embed="rId13"/>
          <a:stretch>
            <a:fillRect/>
          </a:stretch>
        </p:blipFill>
        <p:spPr>
          <a:xfrm>
            <a:off x="3657600" y="5202936"/>
            <a:ext cx="237744" cy="237744"/>
          </a:xfrm>
          <a:prstGeom prst="rect">
            <a:avLst/>
          </a:prstGeom>
        </p:spPr>
      </p:pic>
      <p:sp>
        <p:nvSpPr>
          <p:cNvPr id="60" name="Text 45"/>
          <p:cNvSpPr txBox="1"/>
          <p:nvPr/>
        </p:nvSpPr>
        <p:spPr>
          <a:xfrm>
            <a:off x="4142232" y="5065776"/>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Fittings</a:t>
            </a:r>
            <a:endParaRPr lang="en-US" sz="2000" dirty="0"/>
          </a:p>
        </p:txBody>
      </p:sp>
      <p:sp>
        <p:nvSpPr>
          <p:cNvPr id="61" name="Text 46"/>
          <p:cNvSpPr txBox="1"/>
          <p:nvPr/>
        </p:nvSpPr>
        <p:spPr>
          <a:xfrm>
            <a:off x="3547872" y="5614416"/>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Storage, racking, wiring &amp; plumbing</a:t>
            </a:r>
            <a:endParaRPr lang="en-US" sz="1250" dirty="0"/>
          </a:p>
        </p:txBody>
      </p:sp>
      <p:sp>
        <p:nvSpPr>
          <p:cNvPr id="62" name="Shape 47"/>
          <p:cNvSpPr/>
          <p:nvPr/>
        </p:nvSpPr>
        <p:spPr>
          <a:xfrm>
            <a:off x="6181344" y="4910328"/>
            <a:ext cx="2606040" cy="1143000"/>
          </a:xfrm>
          <a:prstGeom prst="roundRect">
            <a:avLst>
              <a:gd name="adj" fmla="val 6400"/>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63" name="Shape 48"/>
          <p:cNvSpPr/>
          <p:nvPr/>
        </p:nvSpPr>
        <p:spPr>
          <a:xfrm>
            <a:off x="6364224" y="5093208"/>
            <a:ext cx="457200" cy="457200"/>
          </a:xfrm>
          <a:prstGeom prst="ellipse">
            <a:avLst/>
          </a:prstGeom>
          <a:solidFill>
            <a:srgbClr val="2F9AAE"/>
          </a:solidFill>
          <a:ln w="12700">
            <a:solidFill>
              <a:srgbClr val="2F9AAE"/>
            </a:solidFill>
            <a:prstDash val="solid"/>
          </a:ln>
        </p:spPr>
      </p:sp>
      <p:pic>
        <p:nvPicPr>
          <p:cNvPr id="64" name="Image 13" descr="preencoded.png">    </p:cNvPr>
          <p:cNvPicPr>
            <a:picLocks noChangeAspect="1"/>
          </p:cNvPicPr>
          <p:nvPr/>
        </p:nvPicPr>
        <p:blipFill>
          <a:blip r:embed="rId14"/>
          <a:stretch>
            <a:fillRect/>
          </a:stretch>
        </p:blipFill>
        <p:spPr>
          <a:xfrm>
            <a:off x="6473952" y="5202936"/>
            <a:ext cx="237744" cy="237744"/>
          </a:xfrm>
          <a:prstGeom prst="rect">
            <a:avLst/>
          </a:prstGeom>
        </p:spPr>
      </p:pic>
      <p:sp>
        <p:nvSpPr>
          <p:cNvPr id="65" name="Text 49"/>
          <p:cNvSpPr txBox="1"/>
          <p:nvPr/>
        </p:nvSpPr>
        <p:spPr>
          <a:xfrm>
            <a:off x="6958584" y="5065776"/>
            <a:ext cx="1737360" cy="457200"/>
          </a:xfrm>
          <a:prstGeom prst="rect">
            <a:avLst/>
          </a:prstGeom>
          <a:noFill/>
          <a:ln/>
        </p:spPr>
        <p:txBody>
          <a:bodyPr wrap="square" lIns="0" tIns="0" rIns="0" bIns="0" rtlCol="0" anchor="ctr"/>
          <a:lstStyle/>
          <a:p>
            <a:pPr indent="0" marL="0">
              <a:buNone/>
            </a:pPr>
            <a:r>
              <a:rPr lang="en-US" sz="2000" b="1" dirty="0">
                <a:solidFill>
                  <a:srgbClr val="0E5E6F"/>
                </a:solidFill>
                <a:latin typeface="Calibri" pitchFamily="34" charset="0"/>
                <a:ea typeface="Calibri" pitchFamily="34" charset="-122"/>
                <a:cs typeface="Calibri" pitchFamily="34" charset="-120"/>
              </a:rPr>
              <a:t>200–250 L</a:t>
            </a:r>
            <a:endParaRPr lang="en-US" sz="2000" dirty="0"/>
          </a:p>
        </p:txBody>
      </p:sp>
      <p:sp>
        <p:nvSpPr>
          <p:cNvPr id="66" name="Text 50"/>
          <p:cNvSpPr txBox="1"/>
          <p:nvPr/>
        </p:nvSpPr>
        <p:spPr>
          <a:xfrm>
            <a:off x="6364224" y="5614416"/>
            <a:ext cx="2331720" cy="384048"/>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Solar-powered water cooler</a:t>
            </a:r>
            <a:endParaRPr lang="en-US" sz="1250" dirty="0"/>
          </a:p>
        </p:txBody>
      </p:sp>
      <p:sp>
        <p:nvSpPr>
          <p:cNvPr id="67" name="Shape 51"/>
          <p:cNvSpPr/>
          <p:nvPr/>
        </p:nvSpPr>
        <p:spPr>
          <a:xfrm>
            <a:off x="8997696" y="4910328"/>
            <a:ext cx="2606040" cy="1143000"/>
          </a:xfrm>
          <a:prstGeom prst="roundRect">
            <a:avLst>
              <a:gd name="adj" fmla="val 6400"/>
            </a:avLst>
          </a:prstGeom>
          <a:solidFill>
            <a:srgbClr val="0E5E6F"/>
          </a:solidFill>
          <a:ln w="9525">
            <a:solidFill>
              <a:srgbClr val="0E5E6F"/>
            </a:solidFill>
            <a:prstDash val="solid"/>
          </a:ln>
        </p:spPr>
      </p:sp>
      <p:sp>
        <p:nvSpPr>
          <p:cNvPr id="68" name="Text 52"/>
          <p:cNvSpPr txBox="1"/>
          <p:nvPr/>
        </p:nvSpPr>
        <p:spPr>
          <a:xfrm>
            <a:off x="9226296" y="5047488"/>
            <a:ext cx="219456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 10 schools</a:t>
            </a:r>
            <a:endParaRPr lang="en-US" sz="2200" dirty="0"/>
          </a:p>
        </p:txBody>
      </p:sp>
      <p:sp>
        <p:nvSpPr>
          <p:cNvPr id="69" name="Text 53"/>
          <p:cNvSpPr txBox="1"/>
          <p:nvPr/>
        </p:nvSpPr>
        <p:spPr>
          <a:xfrm>
            <a:off x="9226296" y="5532120"/>
            <a:ext cx="2240280" cy="411480"/>
          </a:xfrm>
          <a:prstGeom prst="rect">
            <a:avLst/>
          </a:prstGeom>
          <a:noFill/>
          <a:ln/>
        </p:spPr>
        <p:txBody>
          <a:bodyPr wrap="square" lIns="0" tIns="0" rIns="0" bIns="0" rtlCol="0" anchor="t"/>
          <a:lstStyle/>
          <a:p>
            <a:pPr indent="0" marL="0">
              <a:buNone/>
            </a:pPr>
            <a:r>
              <a:rPr lang="en-US" sz="1300" dirty="0">
                <a:solidFill>
                  <a:srgbClr val="D6ECEF"/>
                </a:solidFill>
                <a:latin typeface="Calibri" pitchFamily="34" charset="0"/>
                <a:ea typeface="Calibri" pitchFamily="34" charset="-122"/>
                <a:cs typeface="Calibri" pitchFamily="34" charset="-120"/>
              </a:rPr>
              <a:t>One Solar RO system + cooler per school</a:t>
            </a:r>
            <a:endParaRPr lang="en-US" sz="1300" dirty="0"/>
          </a:p>
        </p:txBody>
      </p:sp>
      <p:sp>
        <p:nvSpPr>
          <p:cNvPr id="70" name="Text 54"/>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71" name="Text 55"/>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HOW THE PROJECT IS DELIVERED</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The Six-Step Implementation Journey</a:t>
            </a:r>
            <a:endParaRPr lang="en-US" sz="3200" dirty="0"/>
          </a:p>
        </p:txBody>
      </p:sp>
      <p:sp>
        <p:nvSpPr>
          <p:cNvPr id="4" name="Shape 2"/>
          <p:cNvSpPr/>
          <p:nvPr/>
        </p:nvSpPr>
        <p:spPr>
          <a:xfrm>
            <a:off x="1472946" y="2103120"/>
            <a:ext cx="9243060" cy="0"/>
          </a:xfrm>
          <a:prstGeom prst="line">
            <a:avLst/>
          </a:prstGeom>
          <a:noFill/>
          <a:ln w="38100">
            <a:solidFill>
              <a:srgbClr val="D3DDE1"/>
            </a:solidFill>
            <a:prstDash val="solid"/>
          </a:ln>
        </p:spPr>
      </p:sp>
      <p:sp>
        <p:nvSpPr>
          <p:cNvPr id="5" name="Shape 3"/>
          <p:cNvSpPr/>
          <p:nvPr/>
        </p:nvSpPr>
        <p:spPr>
          <a:xfrm>
            <a:off x="924306" y="1554480"/>
            <a:ext cx="1097280" cy="1097280"/>
          </a:xfrm>
          <a:prstGeom prst="ellipse">
            <a:avLst/>
          </a:prstGeom>
          <a:solidFill>
            <a:srgbClr val="0E5E6F"/>
          </a:solidFill>
          <a:ln w="12700">
            <a:solidFill>
              <a:srgbClr val="0E5E6F"/>
            </a:solidFill>
            <a:prstDash val="solid"/>
          </a:ln>
        </p:spPr>
      </p:sp>
      <p:pic>
        <p:nvPicPr>
          <p:cNvPr id="6" name="Image 0" descr="preencoded.png">    </p:cNvPr>
          <p:cNvPicPr>
            <a:picLocks noChangeAspect="1"/>
          </p:cNvPicPr>
          <p:nvPr/>
        </p:nvPicPr>
        <p:blipFill>
          <a:blip r:embed="rId1"/>
          <a:stretch>
            <a:fillRect/>
          </a:stretch>
        </p:blipFill>
        <p:spPr>
          <a:xfrm>
            <a:off x="1187653" y="1817827"/>
            <a:ext cx="570586" cy="570586"/>
          </a:xfrm>
          <a:prstGeom prst="rect">
            <a:avLst/>
          </a:prstGeom>
        </p:spPr>
      </p:pic>
      <p:sp>
        <p:nvSpPr>
          <p:cNvPr id="7" name="Shape 4"/>
          <p:cNvSpPr/>
          <p:nvPr/>
        </p:nvSpPr>
        <p:spPr>
          <a:xfrm>
            <a:off x="1747266" y="1481328"/>
            <a:ext cx="384048" cy="384048"/>
          </a:xfrm>
          <a:prstGeom prst="ellipse">
            <a:avLst/>
          </a:prstGeom>
          <a:solidFill>
            <a:srgbClr val="FFFFFF"/>
          </a:solidFill>
          <a:ln w="25400">
            <a:solidFill>
              <a:srgbClr val="0E5E6F"/>
            </a:solidFill>
            <a:prstDash val="solid"/>
          </a:ln>
        </p:spPr>
      </p:sp>
      <p:sp>
        <p:nvSpPr>
          <p:cNvPr id="8" name="Text 5"/>
          <p:cNvSpPr txBox="1"/>
          <p:nvPr/>
        </p:nvSpPr>
        <p:spPr>
          <a:xfrm>
            <a:off x="1747266" y="1481328"/>
            <a:ext cx="384048" cy="384048"/>
          </a:xfrm>
          <a:prstGeom prst="rect">
            <a:avLst/>
          </a:prstGeom>
          <a:noFill/>
          <a:ln/>
        </p:spPr>
        <p:txBody>
          <a:bodyPr wrap="square" lIns="0" tIns="0" rIns="0" bIns="0" rtlCol="0" anchor="ctr"/>
          <a:lstStyle/>
          <a:p>
            <a:pPr algn="ctr" indent="0" marL="0">
              <a:buNone/>
            </a:pPr>
            <a:r>
              <a:rPr lang="en-US" sz="1400" b="1" dirty="0">
                <a:solidFill>
                  <a:srgbClr val="0E5E6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621792"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School Identification</a:t>
            </a:r>
            <a:endParaRPr lang="en-US" sz="1600" dirty="0"/>
          </a:p>
        </p:txBody>
      </p:sp>
      <p:sp>
        <p:nvSpPr>
          <p:cNvPr id="10" name="Text 7"/>
          <p:cNvSpPr txBox="1"/>
          <p:nvPr/>
        </p:nvSpPr>
        <p:spPr>
          <a:xfrm>
            <a:off x="658368"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Transparent selection using local data</a:t>
            </a:r>
            <a:endParaRPr lang="en-US" sz="1300" dirty="0"/>
          </a:p>
        </p:txBody>
      </p:sp>
      <p:sp>
        <p:nvSpPr>
          <p:cNvPr id="11" name="Shape 8"/>
          <p:cNvSpPr/>
          <p:nvPr/>
        </p:nvSpPr>
        <p:spPr>
          <a:xfrm>
            <a:off x="2772918" y="1554480"/>
            <a:ext cx="1097280" cy="1097280"/>
          </a:xfrm>
          <a:prstGeom prst="ellipse">
            <a:avLst/>
          </a:prstGeom>
          <a:solidFill>
            <a:srgbClr val="0E5E6F"/>
          </a:solidFill>
          <a:ln w="12700">
            <a:solidFill>
              <a:srgbClr val="0E5E6F"/>
            </a:solidFill>
            <a:prstDash val="solid"/>
          </a:ln>
        </p:spPr>
      </p:sp>
      <p:pic>
        <p:nvPicPr>
          <p:cNvPr id="12" name="Image 1" descr="preencoded.png">    </p:cNvPr>
          <p:cNvPicPr>
            <a:picLocks noChangeAspect="1"/>
          </p:cNvPicPr>
          <p:nvPr/>
        </p:nvPicPr>
        <p:blipFill>
          <a:blip r:embed="rId2"/>
          <a:stretch>
            <a:fillRect/>
          </a:stretch>
        </p:blipFill>
        <p:spPr>
          <a:xfrm>
            <a:off x="3036265" y="1817827"/>
            <a:ext cx="570586" cy="570586"/>
          </a:xfrm>
          <a:prstGeom prst="rect">
            <a:avLst/>
          </a:prstGeom>
        </p:spPr>
      </p:pic>
      <p:sp>
        <p:nvSpPr>
          <p:cNvPr id="13" name="Shape 9"/>
          <p:cNvSpPr/>
          <p:nvPr/>
        </p:nvSpPr>
        <p:spPr>
          <a:xfrm>
            <a:off x="3595878" y="1481328"/>
            <a:ext cx="384048" cy="384048"/>
          </a:xfrm>
          <a:prstGeom prst="ellipse">
            <a:avLst/>
          </a:prstGeom>
          <a:solidFill>
            <a:srgbClr val="FFFFFF"/>
          </a:solidFill>
          <a:ln w="25400">
            <a:solidFill>
              <a:srgbClr val="0E5E6F"/>
            </a:solidFill>
            <a:prstDash val="solid"/>
          </a:ln>
        </p:spPr>
      </p:sp>
      <p:sp>
        <p:nvSpPr>
          <p:cNvPr id="14" name="Text 10"/>
          <p:cNvSpPr txBox="1"/>
          <p:nvPr/>
        </p:nvSpPr>
        <p:spPr>
          <a:xfrm>
            <a:off x="3595878" y="1481328"/>
            <a:ext cx="384048" cy="384048"/>
          </a:xfrm>
          <a:prstGeom prst="rect">
            <a:avLst/>
          </a:prstGeom>
          <a:noFill/>
          <a:ln/>
        </p:spPr>
        <p:txBody>
          <a:bodyPr wrap="square" lIns="0" tIns="0" rIns="0" bIns="0" rtlCol="0" anchor="ctr"/>
          <a:lstStyle/>
          <a:p>
            <a:pPr algn="ctr" indent="0" marL="0">
              <a:buNone/>
            </a:pPr>
            <a:r>
              <a:rPr lang="en-US" sz="1400" b="1" dirty="0">
                <a:solidFill>
                  <a:srgbClr val="0E5E6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2470404"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Baseline &amp; Water Assessment</a:t>
            </a:r>
            <a:endParaRPr lang="en-US" sz="1600" dirty="0"/>
          </a:p>
        </p:txBody>
      </p:sp>
      <p:sp>
        <p:nvSpPr>
          <p:cNvPr id="16" name="Text 12"/>
          <p:cNvSpPr txBox="1"/>
          <p:nvPr/>
        </p:nvSpPr>
        <p:spPr>
          <a:xfrm>
            <a:off x="2506980"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Infrastructure, students &amp; water quality recorded</a:t>
            </a:r>
            <a:endParaRPr lang="en-US" sz="1300" dirty="0"/>
          </a:p>
        </p:txBody>
      </p:sp>
      <p:sp>
        <p:nvSpPr>
          <p:cNvPr id="17" name="Shape 13"/>
          <p:cNvSpPr/>
          <p:nvPr/>
        </p:nvSpPr>
        <p:spPr>
          <a:xfrm>
            <a:off x="4621530" y="1554480"/>
            <a:ext cx="1097280" cy="1097280"/>
          </a:xfrm>
          <a:prstGeom prst="ellipse">
            <a:avLst/>
          </a:prstGeom>
          <a:solidFill>
            <a:srgbClr val="0E5E6F"/>
          </a:solidFill>
          <a:ln w="12700">
            <a:solidFill>
              <a:srgbClr val="0E5E6F"/>
            </a:solidFill>
            <a:prstDash val="solid"/>
          </a:ln>
        </p:spPr>
      </p:sp>
      <p:pic>
        <p:nvPicPr>
          <p:cNvPr id="18" name="Image 2" descr="preencoded.png">    </p:cNvPr>
          <p:cNvPicPr>
            <a:picLocks noChangeAspect="1"/>
          </p:cNvPicPr>
          <p:nvPr/>
        </p:nvPicPr>
        <p:blipFill>
          <a:blip r:embed="rId3"/>
          <a:stretch>
            <a:fillRect/>
          </a:stretch>
        </p:blipFill>
        <p:spPr>
          <a:xfrm>
            <a:off x="4884877" y="1817827"/>
            <a:ext cx="570586" cy="570586"/>
          </a:xfrm>
          <a:prstGeom prst="rect">
            <a:avLst/>
          </a:prstGeom>
        </p:spPr>
      </p:pic>
      <p:sp>
        <p:nvSpPr>
          <p:cNvPr id="19" name="Shape 14"/>
          <p:cNvSpPr/>
          <p:nvPr/>
        </p:nvSpPr>
        <p:spPr>
          <a:xfrm>
            <a:off x="5444490" y="1481328"/>
            <a:ext cx="384048" cy="384048"/>
          </a:xfrm>
          <a:prstGeom prst="ellipse">
            <a:avLst/>
          </a:prstGeom>
          <a:solidFill>
            <a:srgbClr val="FFFFFF"/>
          </a:solidFill>
          <a:ln w="25400">
            <a:solidFill>
              <a:srgbClr val="0E5E6F"/>
            </a:solidFill>
            <a:prstDash val="solid"/>
          </a:ln>
        </p:spPr>
      </p:sp>
      <p:sp>
        <p:nvSpPr>
          <p:cNvPr id="20" name="Text 15"/>
          <p:cNvSpPr txBox="1"/>
          <p:nvPr/>
        </p:nvSpPr>
        <p:spPr>
          <a:xfrm>
            <a:off x="5444490" y="1481328"/>
            <a:ext cx="384048" cy="384048"/>
          </a:xfrm>
          <a:prstGeom prst="rect">
            <a:avLst/>
          </a:prstGeom>
          <a:noFill/>
          <a:ln/>
        </p:spPr>
        <p:txBody>
          <a:bodyPr wrap="square" lIns="0" tIns="0" rIns="0" bIns="0" rtlCol="0" anchor="ctr"/>
          <a:lstStyle/>
          <a:p>
            <a:pPr algn="ctr" indent="0" marL="0">
              <a:buNone/>
            </a:pPr>
            <a:r>
              <a:rPr lang="en-US" sz="1400" b="1" dirty="0">
                <a:solidFill>
                  <a:srgbClr val="0E5E6F"/>
                </a:solidFill>
                <a:latin typeface="Calibri" pitchFamily="34" charset="0"/>
                <a:ea typeface="Calibri" pitchFamily="34" charset="-122"/>
                <a:cs typeface="Calibri" pitchFamily="34" charset="-120"/>
              </a:rPr>
              <a:t>3</a:t>
            </a:r>
            <a:endParaRPr lang="en-US" sz="1400" dirty="0"/>
          </a:p>
        </p:txBody>
      </p:sp>
      <p:sp>
        <p:nvSpPr>
          <p:cNvPr id="21" name="Text 16"/>
          <p:cNvSpPr txBox="1"/>
          <p:nvPr/>
        </p:nvSpPr>
        <p:spPr>
          <a:xfrm>
            <a:off x="4319016"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Procurement &amp; Planning</a:t>
            </a:r>
            <a:endParaRPr lang="en-US" sz="1600" dirty="0"/>
          </a:p>
        </p:txBody>
      </p:sp>
      <p:sp>
        <p:nvSpPr>
          <p:cNvPr id="22" name="Text 17"/>
          <p:cNvSpPr txBox="1"/>
          <p:nvPr/>
        </p:nvSpPr>
        <p:spPr>
          <a:xfrm>
            <a:off x="4355592"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Equipment, vendors &amp; site plans</a:t>
            </a:r>
            <a:endParaRPr lang="en-US" sz="1300" dirty="0"/>
          </a:p>
        </p:txBody>
      </p:sp>
      <p:sp>
        <p:nvSpPr>
          <p:cNvPr id="23" name="Shape 18"/>
          <p:cNvSpPr/>
          <p:nvPr/>
        </p:nvSpPr>
        <p:spPr>
          <a:xfrm>
            <a:off x="6470142" y="1554480"/>
            <a:ext cx="1097280" cy="1097280"/>
          </a:xfrm>
          <a:prstGeom prst="ellipse">
            <a:avLst/>
          </a:prstGeom>
          <a:solidFill>
            <a:srgbClr val="B86E0C"/>
          </a:solidFill>
          <a:ln w="12700">
            <a:solidFill>
              <a:srgbClr val="B86E0C"/>
            </a:solidFill>
            <a:prstDash val="solid"/>
          </a:ln>
        </p:spPr>
      </p:sp>
      <p:pic>
        <p:nvPicPr>
          <p:cNvPr id="24" name="Image 3" descr="preencoded.png">    </p:cNvPr>
          <p:cNvPicPr>
            <a:picLocks noChangeAspect="1"/>
          </p:cNvPicPr>
          <p:nvPr/>
        </p:nvPicPr>
        <p:blipFill>
          <a:blip r:embed="rId4"/>
          <a:stretch>
            <a:fillRect/>
          </a:stretch>
        </p:blipFill>
        <p:spPr>
          <a:xfrm>
            <a:off x="6733489" y="1817827"/>
            <a:ext cx="570586" cy="570586"/>
          </a:xfrm>
          <a:prstGeom prst="rect">
            <a:avLst/>
          </a:prstGeom>
        </p:spPr>
      </p:pic>
      <p:sp>
        <p:nvSpPr>
          <p:cNvPr id="25" name="Shape 19"/>
          <p:cNvSpPr/>
          <p:nvPr/>
        </p:nvSpPr>
        <p:spPr>
          <a:xfrm>
            <a:off x="7293102" y="1481328"/>
            <a:ext cx="384048" cy="384048"/>
          </a:xfrm>
          <a:prstGeom prst="ellipse">
            <a:avLst/>
          </a:prstGeom>
          <a:solidFill>
            <a:srgbClr val="FFFFFF"/>
          </a:solidFill>
          <a:ln w="25400">
            <a:solidFill>
              <a:srgbClr val="B86E0C"/>
            </a:solidFill>
            <a:prstDash val="solid"/>
          </a:ln>
        </p:spPr>
      </p:sp>
      <p:sp>
        <p:nvSpPr>
          <p:cNvPr id="26" name="Text 20"/>
          <p:cNvSpPr txBox="1"/>
          <p:nvPr/>
        </p:nvSpPr>
        <p:spPr>
          <a:xfrm>
            <a:off x="7293102" y="1481328"/>
            <a:ext cx="384048" cy="384048"/>
          </a:xfrm>
          <a:prstGeom prst="rect">
            <a:avLst/>
          </a:prstGeom>
          <a:noFill/>
          <a:ln/>
        </p:spPr>
        <p:txBody>
          <a:bodyPr wrap="square" lIns="0" tIns="0" rIns="0" bIns="0" rtlCol="0" anchor="ctr"/>
          <a:lstStyle/>
          <a:p>
            <a:pPr algn="ctr" indent="0" marL="0">
              <a:buNone/>
            </a:pPr>
            <a:r>
              <a:rPr lang="en-US" sz="1400" b="1" dirty="0">
                <a:solidFill>
                  <a:srgbClr val="B86E0C"/>
                </a:solidFill>
                <a:latin typeface="Calibri" pitchFamily="34" charset="0"/>
                <a:ea typeface="Calibri" pitchFamily="34" charset="-122"/>
                <a:cs typeface="Calibri" pitchFamily="34" charset="-120"/>
              </a:rPr>
              <a:t>4</a:t>
            </a:r>
            <a:endParaRPr lang="en-US" sz="1400" dirty="0"/>
          </a:p>
        </p:txBody>
      </p:sp>
      <p:sp>
        <p:nvSpPr>
          <p:cNvPr id="27" name="Text 21"/>
          <p:cNvSpPr txBox="1"/>
          <p:nvPr/>
        </p:nvSpPr>
        <p:spPr>
          <a:xfrm>
            <a:off x="6167628"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Installation</a:t>
            </a:r>
            <a:endParaRPr lang="en-US" sz="1600" dirty="0"/>
          </a:p>
        </p:txBody>
      </p:sp>
      <p:sp>
        <p:nvSpPr>
          <p:cNvPr id="28" name="Text 22"/>
          <p:cNvSpPr txBox="1"/>
          <p:nvPr/>
        </p:nvSpPr>
        <p:spPr>
          <a:xfrm>
            <a:off x="6204204"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Solar, RO &amp; cooler installed and tested</a:t>
            </a:r>
            <a:endParaRPr lang="en-US" sz="1300" dirty="0"/>
          </a:p>
        </p:txBody>
      </p:sp>
      <p:sp>
        <p:nvSpPr>
          <p:cNvPr id="29" name="Shape 23"/>
          <p:cNvSpPr/>
          <p:nvPr/>
        </p:nvSpPr>
        <p:spPr>
          <a:xfrm>
            <a:off x="8318754" y="1554480"/>
            <a:ext cx="1097280" cy="1097280"/>
          </a:xfrm>
          <a:prstGeom prst="ellipse">
            <a:avLst/>
          </a:prstGeom>
          <a:solidFill>
            <a:srgbClr val="B86E0C"/>
          </a:solidFill>
          <a:ln w="12700">
            <a:solidFill>
              <a:srgbClr val="B86E0C"/>
            </a:solidFill>
            <a:prstDash val="solid"/>
          </a:ln>
        </p:spPr>
      </p:sp>
      <p:pic>
        <p:nvPicPr>
          <p:cNvPr id="30" name="Image 4" descr="preencoded.png">    </p:cNvPr>
          <p:cNvPicPr>
            <a:picLocks noChangeAspect="1"/>
          </p:cNvPicPr>
          <p:nvPr/>
        </p:nvPicPr>
        <p:blipFill>
          <a:blip r:embed="rId5"/>
          <a:stretch>
            <a:fillRect/>
          </a:stretch>
        </p:blipFill>
        <p:spPr>
          <a:xfrm>
            <a:off x="8582101" y="1817827"/>
            <a:ext cx="570586" cy="570586"/>
          </a:xfrm>
          <a:prstGeom prst="rect">
            <a:avLst/>
          </a:prstGeom>
        </p:spPr>
      </p:pic>
      <p:sp>
        <p:nvSpPr>
          <p:cNvPr id="31" name="Shape 24"/>
          <p:cNvSpPr/>
          <p:nvPr/>
        </p:nvSpPr>
        <p:spPr>
          <a:xfrm>
            <a:off x="9141714" y="1481328"/>
            <a:ext cx="384048" cy="384048"/>
          </a:xfrm>
          <a:prstGeom prst="ellipse">
            <a:avLst/>
          </a:prstGeom>
          <a:solidFill>
            <a:srgbClr val="FFFFFF"/>
          </a:solidFill>
          <a:ln w="25400">
            <a:solidFill>
              <a:srgbClr val="B86E0C"/>
            </a:solidFill>
            <a:prstDash val="solid"/>
          </a:ln>
        </p:spPr>
      </p:sp>
      <p:sp>
        <p:nvSpPr>
          <p:cNvPr id="32" name="Text 25"/>
          <p:cNvSpPr txBox="1"/>
          <p:nvPr/>
        </p:nvSpPr>
        <p:spPr>
          <a:xfrm>
            <a:off x="9141714" y="1481328"/>
            <a:ext cx="384048" cy="384048"/>
          </a:xfrm>
          <a:prstGeom prst="rect">
            <a:avLst/>
          </a:prstGeom>
          <a:noFill/>
          <a:ln/>
        </p:spPr>
        <p:txBody>
          <a:bodyPr wrap="square" lIns="0" tIns="0" rIns="0" bIns="0" rtlCol="0" anchor="ctr"/>
          <a:lstStyle/>
          <a:p>
            <a:pPr algn="ctr" indent="0" marL="0">
              <a:buNone/>
            </a:pPr>
            <a:r>
              <a:rPr lang="en-US" sz="1400" b="1" dirty="0">
                <a:solidFill>
                  <a:srgbClr val="B86E0C"/>
                </a:solidFill>
                <a:latin typeface="Calibri" pitchFamily="34" charset="0"/>
                <a:ea typeface="Calibri" pitchFamily="34" charset="-122"/>
                <a:cs typeface="Calibri" pitchFamily="34" charset="-120"/>
              </a:rPr>
              <a:t>5</a:t>
            </a:r>
            <a:endParaRPr lang="en-US" sz="1400" dirty="0"/>
          </a:p>
        </p:txBody>
      </p:sp>
      <p:sp>
        <p:nvSpPr>
          <p:cNvPr id="33" name="Text 26"/>
          <p:cNvSpPr txBox="1"/>
          <p:nvPr/>
        </p:nvSpPr>
        <p:spPr>
          <a:xfrm>
            <a:off x="8016240"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Training &amp; Awareness</a:t>
            </a:r>
            <a:endParaRPr lang="en-US" sz="1600" dirty="0"/>
          </a:p>
        </p:txBody>
      </p:sp>
      <p:sp>
        <p:nvSpPr>
          <p:cNvPr id="34" name="Text 27"/>
          <p:cNvSpPr txBox="1"/>
          <p:nvPr/>
        </p:nvSpPr>
        <p:spPr>
          <a:xfrm>
            <a:off x="8052816"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Staff, caretakers &amp; community</a:t>
            </a:r>
            <a:endParaRPr lang="en-US" sz="1300" dirty="0"/>
          </a:p>
        </p:txBody>
      </p:sp>
      <p:sp>
        <p:nvSpPr>
          <p:cNvPr id="35" name="Shape 28"/>
          <p:cNvSpPr/>
          <p:nvPr/>
        </p:nvSpPr>
        <p:spPr>
          <a:xfrm>
            <a:off x="10167366" y="1554480"/>
            <a:ext cx="1097280" cy="1097280"/>
          </a:xfrm>
          <a:prstGeom prst="ellipse">
            <a:avLst/>
          </a:prstGeom>
          <a:solidFill>
            <a:srgbClr val="4A8A45"/>
          </a:solidFill>
          <a:ln w="12700">
            <a:solidFill>
              <a:srgbClr val="4A8A45"/>
            </a:solidFill>
            <a:prstDash val="solid"/>
          </a:ln>
        </p:spPr>
      </p:sp>
      <p:pic>
        <p:nvPicPr>
          <p:cNvPr id="36" name="Image 5" descr="preencoded.png">    </p:cNvPr>
          <p:cNvPicPr>
            <a:picLocks noChangeAspect="1"/>
          </p:cNvPicPr>
          <p:nvPr/>
        </p:nvPicPr>
        <p:blipFill>
          <a:blip r:embed="rId6"/>
          <a:stretch>
            <a:fillRect/>
          </a:stretch>
        </p:blipFill>
        <p:spPr>
          <a:xfrm>
            <a:off x="10430713" y="1817827"/>
            <a:ext cx="570586" cy="570586"/>
          </a:xfrm>
          <a:prstGeom prst="rect">
            <a:avLst/>
          </a:prstGeom>
        </p:spPr>
      </p:pic>
      <p:sp>
        <p:nvSpPr>
          <p:cNvPr id="37" name="Shape 29"/>
          <p:cNvSpPr/>
          <p:nvPr/>
        </p:nvSpPr>
        <p:spPr>
          <a:xfrm>
            <a:off x="10990326" y="1481328"/>
            <a:ext cx="384048" cy="384048"/>
          </a:xfrm>
          <a:prstGeom prst="ellipse">
            <a:avLst/>
          </a:prstGeom>
          <a:solidFill>
            <a:srgbClr val="FFFFFF"/>
          </a:solidFill>
          <a:ln w="25400">
            <a:solidFill>
              <a:srgbClr val="4A8A45"/>
            </a:solidFill>
            <a:prstDash val="solid"/>
          </a:ln>
        </p:spPr>
      </p:sp>
      <p:sp>
        <p:nvSpPr>
          <p:cNvPr id="38" name="Text 30"/>
          <p:cNvSpPr txBox="1"/>
          <p:nvPr/>
        </p:nvSpPr>
        <p:spPr>
          <a:xfrm>
            <a:off x="10990326" y="1481328"/>
            <a:ext cx="384048" cy="384048"/>
          </a:xfrm>
          <a:prstGeom prst="rect">
            <a:avLst/>
          </a:prstGeom>
          <a:noFill/>
          <a:ln/>
        </p:spPr>
        <p:txBody>
          <a:bodyPr wrap="square" lIns="0" tIns="0" rIns="0" bIns="0" rtlCol="0" anchor="ctr"/>
          <a:lstStyle/>
          <a:p>
            <a:pPr algn="ctr" indent="0" marL="0">
              <a:buNone/>
            </a:pPr>
            <a:r>
              <a:rPr lang="en-US" sz="1400" b="1" dirty="0">
                <a:solidFill>
                  <a:srgbClr val="4A8A45"/>
                </a:solidFill>
                <a:latin typeface="Calibri" pitchFamily="34" charset="0"/>
                <a:ea typeface="Calibri" pitchFamily="34" charset="-122"/>
                <a:cs typeface="Calibri" pitchFamily="34" charset="-120"/>
              </a:rPr>
              <a:t>6</a:t>
            </a:r>
            <a:endParaRPr lang="en-US" sz="1400" dirty="0"/>
          </a:p>
        </p:txBody>
      </p:sp>
      <p:sp>
        <p:nvSpPr>
          <p:cNvPr id="39" name="Text 31"/>
          <p:cNvSpPr txBox="1"/>
          <p:nvPr/>
        </p:nvSpPr>
        <p:spPr>
          <a:xfrm>
            <a:off x="9864852" y="2788920"/>
            <a:ext cx="1702308" cy="914400"/>
          </a:xfrm>
          <a:prstGeom prst="rect">
            <a:avLst/>
          </a:prstGeom>
          <a:noFill/>
          <a:ln/>
        </p:spPr>
        <p:txBody>
          <a:bodyPr wrap="square" lIns="0" tIns="0" rIns="0" bIns="0" rtlCol="0" anchor="t"/>
          <a:lstStyle/>
          <a:p>
            <a:pPr algn="ctr" indent="0" marL="0">
              <a:buNone/>
            </a:pPr>
            <a:r>
              <a:rPr lang="en-US" sz="1600" b="1" dirty="0">
                <a:solidFill>
                  <a:srgbClr val="1B2B34"/>
                </a:solidFill>
                <a:latin typeface="Calibri" pitchFamily="34" charset="0"/>
                <a:ea typeface="Calibri" pitchFamily="34" charset="-122"/>
                <a:cs typeface="Calibri" pitchFamily="34" charset="-120"/>
              </a:rPr>
              <a:t>Monitoring, Maintenance &amp; Handover</a:t>
            </a:r>
            <a:endParaRPr lang="en-US" sz="1600" dirty="0"/>
          </a:p>
        </p:txBody>
      </p:sp>
      <p:sp>
        <p:nvSpPr>
          <p:cNvPr id="40" name="Text 32"/>
          <p:cNvSpPr txBox="1"/>
          <p:nvPr/>
        </p:nvSpPr>
        <p:spPr>
          <a:xfrm>
            <a:off x="9901428" y="3767328"/>
            <a:ext cx="1629156"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12-month support; ownership to schools</a:t>
            </a:r>
            <a:endParaRPr lang="en-US" sz="1300" dirty="0"/>
          </a:p>
        </p:txBody>
      </p:sp>
      <p:sp>
        <p:nvSpPr>
          <p:cNvPr id="41" name="Shape 33"/>
          <p:cNvSpPr/>
          <p:nvPr/>
        </p:nvSpPr>
        <p:spPr>
          <a:xfrm>
            <a:off x="603504" y="4663440"/>
            <a:ext cx="5436108" cy="960120"/>
          </a:xfrm>
          <a:prstGeom prst="roundRect">
            <a:avLst>
              <a:gd name="adj" fmla="val 7619"/>
            </a:avLst>
          </a:prstGeom>
          <a:solidFill>
            <a:srgbClr val="E4F1F3"/>
          </a:solidFill>
          <a:ln w="9525">
            <a:solidFill>
              <a:srgbClr val="E4F1F3"/>
            </a:solidFill>
            <a:prstDash val="solid"/>
          </a:ln>
        </p:spPr>
      </p:sp>
      <p:sp>
        <p:nvSpPr>
          <p:cNvPr id="42" name="Text 34"/>
          <p:cNvSpPr txBox="1"/>
          <p:nvPr/>
        </p:nvSpPr>
        <p:spPr>
          <a:xfrm>
            <a:off x="603504" y="4663440"/>
            <a:ext cx="5436108" cy="960120"/>
          </a:xfrm>
          <a:prstGeom prst="rect">
            <a:avLst/>
          </a:prstGeom>
          <a:noFill/>
          <a:ln/>
        </p:spPr>
        <p:txBody>
          <a:bodyPr wrap="square" lIns="0" tIns="0" rIns="0" bIns="0" rtlCol="0" anchor="ctr"/>
          <a:lstStyle/>
          <a:p>
            <a:pPr algn="ctr" indent="0" marL="0">
              <a:buNone/>
            </a:pPr>
            <a:r>
              <a:rPr lang="en-US" sz="1500" b="1" spc="200" kern="0" dirty="0">
                <a:solidFill>
                  <a:srgbClr val="0E5E6F"/>
                </a:solidFill>
                <a:latin typeface="Calibri" pitchFamily="34" charset="0"/>
                <a:ea typeface="Calibri" pitchFamily="34" charset="-122"/>
                <a:cs typeface="Calibri" pitchFamily="34" charset="-120"/>
              </a:rPr>
              <a:t>PREPARE</a:t>
            </a:r>
            <a:endParaRPr lang="en-US" sz="1500" dirty="0"/>
          </a:p>
          <a:p>
            <a:pPr algn="ctr" indent="0" marL="0">
              <a:buNone/>
            </a:pPr>
            <a:r>
              <a:rPr lang="en-US" sz="1300" dirty="0">
                <a:solidFill>
                  <a:srgbClr val="1B2B34"/>
                </a:solidFill>
                <a:latin typeface="Calibri" pitchFamily="34" charset="0"/>
                <a:ea typeface="Calibri" pitchFamily="34" charset="-122"/>
                <a:cs typeface="Calibri" pitchFamily="34" charset="-120"/>
              </a:rPr>
              <a:t>Month 1–2</a:t>
            </a:r>
            <a:endParaRPr lang="en-US" sz="1500" dirty="0"/>
          </a:p>
        </p:txBody>
      </p:sp>
      <p:sp>
        <p:nvSpPr>
          <p:cNvPr id="43" name="Shape 35"/>
          <p:cNvSpPr/>
          <p:nvPr/>
        </p:nvSpPr>
        <p:spPr>
          <a:xfrm>
            <a:off x="6149340" y="4663440"/>
            <a:ext cx="3587496" cy="960120"/>
          </a:xfrm>
          <a:prstGeom prst="roundRect">
            <a:avLst>
              <a:gd name="adj" fmla="val 7619"/>
            </a:avLst>
          </a:prstGeom>
          <a:solidFill>
            <a:srgbClr val="FDF0DC"/>
          </a:solidFill>
          <a:ln w="9525">
            <a:solidFill>
              <a:srgbClr val="FDF0DC"/>
            </a:solidFill>
            <a:prstDash val="solid"/>
          </a:ln>
        </p:spPr>
      </p:sp>
      <p:sp>
        <p:nvSpPr>
          <p:cNvPr id="44" name="Text 36"/>
          <p:cNvSpPr txBox="1"/>
          <p:nvPr/>
        </p:nvSpPr>
        <p:spPr>
          <a:xfrm>
            <a:off x="6149340" y="4663440"/>
            <a:ext cx="3587496" cy="960120"/>
          </a:xfrm>
          <a:prstGeom prst="rect">
            <a:avLst/>
          </a:prstGeom>
          <a:noFill/>
          <a:ln/>
        </p:spPr>
        <p:txBody>
          <a:bodyPr wrap="square" lIns="0" tIns="0" rIns="0" bIns="0" rtlCol="0" anchor="ctr"/>
          <a:lstStyle/>
          <a:p>
            <a:pPr algn="ctr" indent="0" marL="0">
              <a:buNone/>
            </a:pPr>
            <a:r>
              <a:rPr lang="en-US" sz="1500" b="1" spc="200" kern="0" dirty="0">
                <a:solidFill>
                  <a:srgbClr val="B86E0C"/>
                </a:solidFill>
                <a:latin typeface="Calibri" pitchFamily="34" charset="0"/>
                <a:ea typeface="Calibri" pitchFamily="34" charset="-122"/>
                <a:cs typeface="Calibri" pitchFamily="34" charset="-120"/>
              </a:rPr>
              <a:t>BUILD &amp; TRAIN</a:t>
            </a:r>
            <a:endParaRPr lang="en-US" sz="1500" dirty="0"/>
          </a:p>
          <a:p>
            <a:pPr algn="ctr" indent="0" marL="0">
              <a:buNone/>
            </a:pPr>
            <a:r>
              <a:rPr lang="en-US" sz="1300" dirty="0">
                <a:solidFill>
                  <a:srgbClr val="1B2B34"/>
                </a:solidFill>
                <a:latin typeface="Calibri" pitchFamily="34" charset="0"/>
                <a:ea typeface="Calibri" pitchFamily="34" charset="-122"/>
                <a:cs typeface="Calibri" pitchFamily="34" charset="-120"/>
              </a:rPr>
              <a:t>Month 2–3</a:t>
            </a:r>
            <a:endParaRPr lang="en-US" sz="1500" dirty="0"/>
          </a:p>
        </p:txBody>
      </p:sp>
      <p:sp>
        <p:nvSpPr>
          <p:cNvPr id="45" name="Shape 37"/>
          <p:cNvSpPr/>
          <p:nvPr/>
        </p:nvSpPr>
        <p:spPr>
          <a:xfrm>
            <a:off x="9846564" y="4663440"/>
            <a:ext cx="1738884" cy="960120"/>
          </a:xfrm>
          <a:prstGeom prst="roundRect">
            <a:avLst>
              <a:gd name="adj" fmla="val 7619"/>
            </a:avLst>
          </a:prstGeom>
          <a:solidFill>
            <a:srgbClr val="E7F1E4"/>
          </a:solidFill>
          <a:ln w="9525">
            <a:solidFill>
              <a:srgbClr val="E7F1E4"/>
            </a:solidFill>
            <a:prstDash val="solid"/>
          </a:ln>
        </p:spPr>
      </p:sp>
      <p:sp>
        <p:nvSpPr>
          <p:cNvPr id="46" name="Text 38"/>
          <p:cNvSpPr txBox="1"/>
          <p:nvPr/>
        </p:nvSpPr>
        <p:spPr>
          <a:xfrm>
            <a:off x="9846564" y="4663440"/>
            <a:ext cx="1738884" cy="960120"/>
          </a:xfrm>
          <a:prstGeom prst="rect">
            <a:avLst/>
          </a:prstGeom>
          <a:noFill/>
          <a:ln/>
        </p:spPr>
        <p:txBody>
          <a:bodyPr wrap="square" lIns="0" tIns="0" rIns="0" bIns="0" rtlCol="0" anchor="ctr"/>
          <a:lstStyle/>
          <a:p>
            <a:pPr algn="ctr" indent="0" marL="0">
              <a:buNone/>
            </a:pPr>
            <a:r>
              <a:rPr lang="en-US" sz="1500" b="1" spc="200" kern="0" dirty="0">
                <a:solidFill>
                  <a:srgbClr val="4A8A45"/>
                </a:solidFill>
                <a:latin typeface="Calibri" pitchFamily="34" charset="0"/>
                <a:ea typeface="Calibri" pitchFamily="34" charset="-122"/>
                <a:cs typeface="Calibri" pitchFamily="34" charset="-120"/>
              </a:rPr>
              <a:t>OPERATE &amp; SUSTAIN</a:t>
            </a:r>
            <a:endParaRPr lang="en-US" sz="1500" dirty="0"/>
          </a:p>
          <a:p>
            <a:pPr algn="ctr" indent="0" marL="0">
              <a:buNone/>
            </a:pPr>
            <a:r>
              <a:rPr lang="en-US" sz="1300" dirty="0">
                <a:solidFill>
                  <a:srgbClr val="1B2B34"/>
                </a:solidFill>
                <a:latin typeface="Calibri" pitchFamily="34" charset="0"/>
                <a:ea typeface="Calibri" pitchFamily="34" charset="-122"/>
                <a:cs typeface="Calibri" pitchFamily="34" charset="-120"/>
              </a:rPr>
              <a:t>Month 3–12</a:t>
            </a:r>
            <a:endParaRPr lang="en-US" sz="1500" dirty="0"/>
          </a:p>
        </p:txBody>
      </p:sp>
      <p:sp>
        <p:nvSpPr>
          <p:cNvPr id="47" name="Text 39"/>
          <p:cNvSpPr txBox="1"/>
          <p:nvPr/>
        </p:nvSpPr>
        <p:spPr>
          <a:xfrm>
            <a:off x="548640" y="5852160"/>
            <a:ext cx="11091672" cy="365760"/>
          </a:xfrm>
          <a:prstGeom prst="rect">
            <a:avLst/>
          </a:prstGeom>
          <a:noFill/>
          <a:ln/>
        </p:spPr>
        <p:txBody>
          <a:bodyPr wrap="square" lIns="0" tIns="0" rIns="0" bIns="0" rtlCol="0" anchor="t"/>
          <a:lstStyle/>
          <a:p>
            <a:pPr algn="ctr" indent="0" marL="0">
              <a:buNone/>
            </a:pPr>
            <a:r>
              <a:rPr lang="en-US" sz="1400" i="1" dirty="0">
                <a:solidFill>
                  <a:srgbClr val="0E5E6F"/>
                </a:solidFill>
                <a:latin typeface="Calibri" pitchFamily="34" charset="0"/>
                <a:ea typeface="Calibri" pitchFamily="34" charset="-122"/>
                <a:cs typeface="Calibri" pitchFamily="34" charset="-120"/>
              </a:rPr>
              <a:t>From planning to functioning water infrastructure — each step feeds the next.</a:t>
            </a:r>
            <a:endParaRPr lang="en-US" sz="1400" dirty="0"/>
          </a:p>
        </p:txBody>
      </p:sp>
      <p:sp>
        <p:nvSpPr>
          <p:cNvPr id="48" name="Text 40"/>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49" name="Text 41"/>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STEPS 1 &amp; 2</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School Selection &amp; Baseline Assessment</a:t>
            </a:r>
            <a:endParaRPr lang="en-US" sz="3200" dirty="0"/>
          </a:p>
        </p:txBody>
      </p:sp>
      <p:sp>
        <p:nvSpPr>
          <p:cNvPr id="4" name="Shape 2"/>
          <p:cNvSpPr/>
          <p:nvPr/>
        </p:nvSpPr>
        <p:spPr>
          <a:xfrm>
            <a:off x="548640" y="1463040"/>
            <a:ext cx="4343400" cy="4709160"/>
          </a:xfrm>
          <a:prstGeom prst="roundRect">
            <a:avLst>
              <a:gd name="adj" fmla="val 1684"/>
            </a:avLst>
          </a:prstGeom>
          <a:solidFill>
            <a:srgbClr val="E4F1F3"/>
          </a:solidFill>
          <a:ln w="9525">
            <a:solidFill>
              <a:srgbClr val="E4F1F3"/>
            </a:solidFill>
            <a:prstDash val="solid"/>
          </a:ln>
        </p:spPr>
      </p:sp>
      <p:sp>
        <p:nvSpPr>
          <p:cNvPr id="5" name="Shape 3"/>
          <p:cNvSpPr/>
          <p:nvPr/>
        </p:nvSpPr>
        <p:spPr>
          <a:xfrm>
            <a:off x="731520" y="1645920"/>
            <a:ext cx="457200" cy="457200"/>
          </a:xfrm>
          <a:prstGeom prst="ellipse">
            <a:avLst/>
          </a:prstGeom>
          <a:solidFill>
            <a:srgbClr val="0E5E6F"/>
          </a:solidFill>
          <a:ln w="12700">
            <a:solidFill>
              <a:srgbClr val="0E5E6F"/>
            </a:solidFill>
            <a:prstDash val="solid"/>
          </a:ln>
        </p:spPr>
      </p:sp>
      <p:pic>
        <p:nvPicPr>
          <p:cNvPr id="6" name="Image 0" descr="preencoded.png">    </p:cNvPr>
          <p:cNvPicPr>
            <a:picLocks noChangeAspect="1"/>
          </p:cNvPicPr>
          <p:nvPr/>
        </p:nvPicPr>
        <p:blipFill>
          <a:blip r:embed="rId1"/>
          <a:stretch>
            <a:fillRect/>
          </a:stretch>
        </p:blipFill>
        <p:spPr>
          <a:xfrm>
            <a:off x="841248" y="1755648"/>
            <a:ext cx="237744" cy="237744"/>
          </a:xfrm>
          <a:prstGeom prst="rect">
            <a:avLst/>
          </a:prstGeom>
        </p:spPr>
      </p:pic>
      <p:sp>
        <p:nvSpPr>
          <p:cNvPr id="7" name="Text 4"/>
          <p:cNvSpPr txBox="1"/>
          <p:nvPr/>
        </p:nvSpPr>
        <p:spPr>
          <a:xfrm>
            <a:off x="1325880" y="1645920"/>
            <a:ext cx="3429000" cy="457200"/>
          </a:xfrm>
          <a:prstGeom prst="rect">
            <a:avLst/>
          </a:prstGeom>
          <a:noFill/>
          <a:ln/>
        </p:spPr>
        <p:txBody>
          <a:bodyPr wrap="square" lIns="0" tIns="0" rIns="0" bIns="0" rtlCol="0" anchor="ctr"/>
          <a:lstStyle/>
          <a:p>
            <a:pPr indent="0" marL="0">
              <a:buNone/>
            </a:pPr>
            <a:r>
              <a:rPr lang="en-US" sz="1800" b="1" dirty="0">
                <a:solidFill>
                  <a:srgbClr val="1B2B34"/>
                </a:solidFill>
                <a:latin typeface="Cambria" pitchFamily="34" charset="0"/>
                <a:ea typeface="Cambria" pitchFamily="34" charset="-122"/>
                <a:cs typeface="Cambria" pitchFamily="34" charset="-120"/>
              </a:rPr>
              <a:t>Step 1 · School Selection</a:t>
            </a:r>
            <a:endParaRPr lang="en-US" sz="1800" dirty="0"/>
          </a:p>
        </p:txBody>
      </p:sp>
      <p:sp>
        <p:nvSpPr>
          <p:cNvPr id="8" name="Shape 5"/>
          <p:cNvSpPr/>
          <p:nvPr/>
        </p:nvSpPr>
        <p:spPr>
          <a:xfrm>
            <a:off x="685800" y="2286000"/>
            <a:ext cx="1295400" cy="603504"/>
          </a:xfrm>
          <a:prstGeom prst="roundRect">
            <a:avLst>
              <a:gd name="adj" fmla="val 12121"/>
            </a:avLst>
          </a:prstGeom>
          <a:solidFill>
            <a:srgbClr val="FFFFFF"/>
          </a:solidFill>
          <a:ln w="9525">
            <a:solidFill>
              <a:srgbClr val="FFFFFF"/>
            </a:solidFill>
            <a:prstDash val="solid"/>
          </a:ln>
        </p:spPr>
      </p:sp>
      <p:sp>
        <p:nvSpPr>
          <p:cNvPr id="9" name="Text 6"/>
          <p:cNvSpPr txBox="1"/>
          <p:nvPr/>
        </p:nvSpPr>
        <p:spPr>
          <a:xfrm>
            <a:off x="731520" y="2286000"/>
            <a:ext cx="1203960" cy="603504"/>
          </a:xfrm>
          <a:prstGeom prst="rect">
            <a:avLst/>
          </a:prstGeom>
          <a:noFill/>
          <a:ln/>
        </p:spPr>
        <p:txBody>
          <a:bodyPr wrap="square" lIns="0" tIns="0" rIns="0" bIns="0" rtlCol="0" anchor="ctr"/>
          <a:lstStyle/>
          <a:p>
            <a:pPr algn="ctr" indent="0" marL="0">
              <a:buNone/>
            </a:pPr>
            <a:r>
              <a:rPr lang="en-US" sz="1200" b="1" dirty="0">
                <a:solidFill>
                  <a:srgbClr val="0E5E6F"/>
                </a:solidFill>
                <a:latin typeface="Calibri" pitchFamily="34" charset="0"/>
                <a:ea typeface="Calibri" pitchFamily="34" charset="-122"/>
                <a:cs typeface="Calibri" pitchFamily="34" charset="-120"/>
              </a:rPr>
              <a:t>Transparent selection</a:t>
            </a:r>
            <a:endParaRPr lang="en-US" sz="1200" dirty="0"/>
          </a:p>
        </p:txBody>
      </p:sp>
      <p:sp>
        <p:nvSpPr>
          <p:cNvPr id="10" name="Shape 7"/>
          <p:cNvSpPr/>
          <p:nvPr/>
        </p:nvSpPr>
        <p:spPr>
          <a:xfrm>
            <a:off x="2072640" y="2286000"/>
            <a:ext cx="1295400" cy="603504"/>
          </a:xfrm>
          <a:prstGeom prst="roundRect">
            <a:avLst>
              <a:gd name="adj" fmla="val 12121"/>
            </a:avLst>
          </a:prstGeom>
          <a:solidFill>
            <a:srgbClr val="FFFFFF"/>
          </a:solidFill>
          <a:ln w="9525">
            <a:solidFill>
              <a:srgbClr val="FFFFFF"/>
            </a:solidFill>
            <a:prstDash val="solid"/>
          </a:ln>
        </p:spPr>
      </p:sp>
      <p:sp>
        <p:nvSpPr>
          <p:cNvPr id="11" name="Text 8"/>
          <p:cNvSpPr txBox="1"/>
          <p:nvPr/>
        </p:nvSpPr>
        <p:spPr>
          <a:xfrm>
            <a:off x="2118360" y="2286000"/>
            <a:ext cx="1203960" cy="603504"/>
          </a:xfrm>
          <a:prstGeom prst="rect">
            <a:avLst/>
          </a:prstGeom>
          <a:noFill/>
          <a:ln/>
        </p:spPr>
        <p:txBody>
          <a:bodyPr wrap="square" lIns="0" tIns="0" rIns="0" bIns="0" rtlCol="0" anchor="ctr"/>
          <a:lstStyle/>
          <a:p>
            <a:pPr algn="ctr" indent="0" marL="0">
              <a:buNone/>
            </a:pPr>
            <a:r>
              <a:rPr lang="en-US" sz="1200" b="1" dirty="0">
                <a:solidFill>
                  <a:srgbClr val="0E5E6F"/>
                </a:solidFill>
                <a:latin typeface="Calibri" pitchFamily="34" charset="0"/>
                <a:ea typeface="Calibri" pitchFamily="34" charset="-122"/>
                <a:cs typeface="Calibri" pitchFamily="34" charset="-120"/>
              </a:rPr>
              <a:t>Local data collection</a:t>
            </a:r>
            <a:endParaRPr lang="en-US" sz="1200" dirty="0"/>
          </a:p>
        </p:txBody>
      </p:sp>
      <p:sp>
        <p:nvSpPr>
          <p:cNvPr id="12" name="Shape 9"/>
          <p:cNvSpPr/>
          <p:nvPr/>
        </p:nvSpPr>
        <p:spPr>
          <a:xfrm>
            <a:off x="3459480" y="2286000"/>
            <a:ext cx="1295400" cy="603504"/>
          </a:xfrm>
          <a:prstGeom prst="roundRect">
            <a:avLst>
              <a:gd name="adj" fmla="val 12121"/>
            </a:avLst>
          </a:prstGeom>
          <a:solidFill>
            <a:srgbClr val="FFFFFF"/>
          </a:solidFill>
          <a:ln w="9525">
            <a:solidFill>
              <a:srgbClr val="FFFFFF"/>
            </a:solidFill>
            <a:prstDash val="solid"/>
          </a:ln>
        </p:spPr>
      </p:sp>
      <p:sp>
        <p:nvSpPr>
          <p:cNvPr id="13" name="Text 10"/>
          <p:cNvSpPr txBox="1"/>
          <p:nvPr/>
        </p:nvSpPr>
        <p:spPr>
          <a:xfrm>
            <a:off x="3505200" y="2286000"/>
            <a:ext cx="1203960" cy="603504"/>
          </a:xfrm>
          <a:prstGeom prst="rect">
            <a:avLst/>
          </a:prstGeom>
          <a:noFill/>
          <a:ln/>
        </p:spPr>
        <p:txBody>
          <a:bodyPr wrap="square" lIns="0" tIns="0" rIns="0" bIns="0" rtlCol="0" anchor="ctr"/>
          <a:lstStyle/>
          <a:p>
            <a:pPr algn="ctr" indent="0" marL="0">
              <a:buNone/>
            </a:pPr>
            <a:r>
              <a:rPr lang="en-US" sz="1200" b="1" dirty="0">
                <a:solidFill>
                  <a:srgbClr val="0E5E6F"/>
                </a:solidFill>
                <a:latin typeface="Calibri" pitchFamily="34" charset="0"/>
                <a:ea typeface="Calibri" pitchFamily="34" charset="-122"/>
                <a:cs typeface="Calibri" pitchFamily="34" charset="-120"/>
              </a:rPr>
              <a:t>Community needs assessment</a:t>
            </a:r>
            <a:endParaRPr lang="en-US" sz="1200" dirty="0"/>
          </a:p>
        </p:txBody>
      </p:sp>
      <p:sp>
        <p:nvSpPr>
          <p:cNvPr id="14" name="Text 11"/>
          <p:cNvSpPr txBox="1"/>
          <p:nvPr/>
        </p:nvSpPr>
        <p:spPr>
          <a:xfrm>
            <a:off x="685800" y="3072384"/>
            <a:ext cx="4069080" cy="274320"/>
          </a:xfrm>
          <a:prstGeom prst="rect">
            <a:avLst/>
          </a:prstGeom>
          <a:noFill/>
          <a:ln/>
        </p:spPr>
        <p:txBody>
          <a:bodyPr wrap="square" lIns="0" tIns="0" rIns="0" bIns="0" rtlCol="0" anchor="t"/>
          <a:lstStyle/>
          <a:p>
            <a:pPr indent="0" marL="0">
              <a:buNone/>
            </a:pPr>
            <a:r>
              <a:rPr lang="en-US" sz="1150" b="1" spc="100" kern="0" dirty="0">
                <a:solidFill>
                  <a:srgbClr val="5B6770"/>
                </a:solidFill>
                <a:latin typeface="Calibri" pitchFamily="34" charset="0"/>
                <a:ea typeface="Calibri" pitchFamily="34" charset="-122"/>
                <a:cs typeface="Calibri" pitchFamily="34" charset="-120"/>
              </a:rPr>
              <a:t>PRIORITY GIVEN TO SCHOOLS WITH</a:t>
            </a:r>
            <a:endParaRPr lang="en-US" sz="1150" dirty="0"/>
          </a:p>
        </p:txBody>
      </p:sp>
      <p:sp>
        <p:nvSpPr>
          <p:cNvPr id="15" name="Shape 12"/>
          <p:cNvSpPr/>
          <p:nvPr/>
        </p:nvSpPr>
        <p:spPr>
          <a:xfrm>
            <a:off x="685800" y="3429000"/>
            <a:ext cx="1979676" cy="1188720"/>
          </a:xfrm>
          <a:prstGeom prst="roundRect">
            <a:avLst>
              <a:gd name="adj" fmla="val 6154"/>
            </a:avLst>
          </a:prstGeom>
          <a:solidFill>
            <a:srgbClr val="FFFFFF"/>
          </a:solidFill>
          <a:ln w="9525">
            <a:solidFill>
              <a:srgbClr val="FFFFFF"/>
            </a:solidFill>
            <a:prstDash val="solid"/>
          </a:ln>
        </p:spPr>
      </p:sp>
      <p:sp>
        <p:nvSpPr>
          <p:cNvPr id="16" name="Shape 13"/>
          <p:cNvSpPr/>
          <p:nvPr/>
        </p:nvSpPr>
        <p:spPr>
          <a:xfrm>
            <a:off x="813816" y="3794760"/>
            <a:ext cx="457200" cy="457200"/>
          </a:xfrm>
          <a:prstGeom prst="ellipse">
            <a:avLst/>
          </a:prstGeom>
          <a:solidFill>
            <a:srgbClr val="2F9AAE"/>
          </a:solidFill>
          <a:ln w="12700">
            <a:solidFill>
              <a:srgbClr val="2F9AAE"/>
            </a:solidFill>
            <a:prstDash val="solid"/>
          </a:ln>
        </p:spPr>
      </p:sp>
      <p:pic>
        <p:nvPicPr>
          <p:cNvPr id="17" name="Image 1" descr="preencoded.png">    </p:cNvPr>
          <p:cNvPicPr>
            <a:picLocks noChangeAspect="1"/>
          </p:cNvPicPr>
          <p:nvPr/>
        </p:nvPicPr>
        <p:blipFill>
          <a:blip r:embed="rId2"/>
          <a:stretch>
            <a:fillRect/>
          </a:stretch>
        </p:blipFill>
        <p:spPr>
          <a:xfrm>
            <a:off x="923544" y="3904488"/>
            <a:ext cx="237744" cy="237744"/>
          </a:xfrm>
          <a:prstGeom prst="rect">
            <a:avLst/>
          </a:prstGeom>
        </p:spPr>
      </p:pic>
      <p:sp>
        <p:nvSpPr>
          <p:cNvPr id="18" name="Text 14"/>
          <p:cNvSpPr txBox="1"/>
          <p:nvPr/>
        </p:nvSpPr>
        <p:spPr>
          <a:xfrm>
            <a:off x="1362456" y="3429000"/>
            <a:ext cx="1229868" cy="118872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Highest student density</a:t>
            </a:r>
            <a:endParaRPr lang="en-US" sz="1350" dirty="0"/>
          </a:p>
        </p:txBody>
      </p:sp>
      <p:sp>
        <p:nvSpPr>
          <p:cNvPr id="19" name="Shape 15"/>
          <p:cNvSpPr/>
          <p:nvPr/>
        </p:nvSpPr>
        <p:spPr>
          <a:xfrm>
            <a:off x="2775204" y="3429000"/>
            <a:ext cx="1979676" cy="1188720"/>
          </a:xfrm>
          <a:prstGeom prst="roundRect">
            <a:avLst>
              <a:gd name="adj" fmla="val 6154"/>
            </a:avLst>
          </a:prstGeom>
          <a:solidFill>
            <a:srgbClr val="FFFFFF"/>
          </a:solidFill>
          <a:ln w="9525">
            <a:solidFill>
              <a:srgbClr val="FFFFFF"/>
            </a:solidFill>
            <a:prstDash val="solid"/>
          </a:ln>
        </p:spPr>
      </p:sp>
      <p:sp>
        <p:nvSpPr>
          <p:cNvPr id="20" name="Shape 16"/>
          <p:cNvSpPr/>
          <p:nvPr/>
        </p:nvSpPr>
        <p:spPr>
          <a:xfrm>
            <a:off x="2903220" y="3794760"/>
            <a:ext cx="457200" cy="457200"/>
          </a:xfrm>
          <a:prstGeom prst="ellipse">
            <a:avLst/>
          </a:prstGeom>
          <a:solidFill>
            <a:srgbClr val="2F9AAE"/>
          </a:solidFill>
          <a:ln w="12700">
            <a:solidFill>
              <a:srgbClr val="2F9AAE"/>
            </a:solidFill>
            <a:prstDash val="solid"/>
          </a:ln>
        </p:spPr>
      </p:sp>
      <p:pic>
        <p:nvPicPr>
          <p:cNvPr id="21" name="Image 2" descr="preencoded.png">    </p:cNvPr>
          <p:cNvPicPr>
            <a:picLocks noChangeAspect="1"/>
          </p:cNvPicPr>
          <p:nvPr/>
        </p:nvPicPr>
        <p:blipFill>
          <a:blip r:embed="rId3"/>
          <a:stretch>
            <a:fillRect/>
          </a:stretch>
        </p:blipFill>
        <p:spPr>
          <a:xfrm>
            <a:off x="3012948" y="3904488"/>
            <a:ext cx="237744" cy="237744"/>
          </a:xfrm>
          <a:prstGeom prst="rect">
            <a:avLst/>
          </a:prstGeom>
        </p:spPr>
      </p:pic>
      <p:sp>
        <p:nvSpPr>
          <p:cNvPr id="22" name="Text 17"/>
          <p:cNvSpPr txBox="1"/>
          <p:nvPr/>
        </p:nvSpPr>
        <p:spPr>
          <a:xfrm>
            <a:off x="3451860" y="3429000"/>
            <a:ext cx="1229868" cy="118872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Poorest water quality</a:t>
            </a:r>
            <a:endParaRPr lang="en-US" sz="1350" dirty="0"/>
          </a:p>
        </p:txBody>
      </p:sp>
      <p:sp>
        <p:nvSpPr>
          <p:cNvPr id="23" name="Shape 18"/>
          <p:cNvSpPr/>
          <p:nvPr/>
        </p:nvSpPr>
        <p:spPr>
          <a:xfrm>
            <a:off x="685800" y="4736592"/>
            <a:ext cx="1979676" cy="1188720"/>
          </a:xfrm>
          <a:prstGeom prst="roundRect">
            <a:avLst>
              <a:gd name="adj" fmla="val 6154"/>
            </a:avLst>
          </a:prstGeom>
          <a:solidFill>
            <a:srgbClr val="FFFFFF"/>
          </a:solidFill>
          <a:ln w="9525">
            <a:solidFill>
              <a:srgbClr val="FFFFFF"/>
            </a:solidFill>
            <a:prstDash val="solid"/>
          </a:ln>
        </p:spPr>
      </p:sp>
      <p:sp>
        <p:nvSpPr>
          <p:cNvPr id="24" name="Shape 19"/>
          <p:cNvSpPr/>
          <p:nvPr/>
        </p:nvSpPr>
        <p:spPr>
          <a:xfrm>
            <a:off x="813816" y="5102352"/>
            <a:ext cx="457200" cy="457200"/>
          </a:xfrm>
          <a:prstGeom prst="ellipse">
            <a:avLst/>
          </a:prstGeom>
          <a:solidFill>
            <a:srgbClr val="2F9AAE"/>
          </a:solidFill>
          <a:ln w="12700">
            <a:solidFill>
              <a:srgbClr val="2F9AAE"/>
            </a:solidFill>
            <a:prstDash val="solid"/>
          </a:ln>
        </p:spPr>
      </p:sp>
      <p:pic>
        <p:nvPicPr>
          <p:cNvPr id="25" name="Image 3" descr="preencoded.png">    </p:cNvPr>
          <p:cNvPicPr>
            <a:picLocks noChangeAspect="1"/>
          </p:cNvPicPr>
          <p:nvPr/>
        </p:nvPicPr>
        <p:blipFill>
          <a:blip r:embed="rId4"/>
          <a:stretch>
            <a:fillRect/>
          </a:stretch>
        </p:blipFill>
        <p:spPr>
          <a:xfrm>
            <a:off x="923544" y="5212080"/>
            <a:ext cx="237744" cy="237744"/>
          </a:xfrm>
          <a:prstGeom prst="rect">
            <a:avLst/>
          </a:prstGeom>
        </p:spPr>
      </p:pic>
      <p:sp>
        <p:nvSpPr>
          <p:cNvPr id="26" name="Text 20"/>
          <p:cNvSpPr txBox="1"/>
          <p:nvPr/>
        </p:nvSpPr>
        <p:spPr>
          <a:xfrm>
            <a:off x="1362456" y="4736592"/>
            <a:ext cx="1229868" cy="118872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Community commitment to sustainability</a:t>
            </a:r>
            <a:endParaRPr lang="en-US" sz="1350" dirty="0"/>
          </a:p>
        </p:txBody>
      </p:sp>
      <p:sp>
        <p:nvSpPr>
          <p:cNvPr id="27" name="Shape 21"/>
          <p:cNvSpPr/>
          <p:nvPr/>
        </p:nvSpPr>
        <p:spPr>
          <a:xfrm>
            <a:off x="2775204" y="4736592"/>
            <a:ext cx="1979676" cy="1188720"/>
          </a:xfrm>
          <a:prstGeom prst="roundRect">
            <a:avLst>
              <a:gd name="adj" fmla="val 6154"/>
            </a:avLst>
          </a:prstGeom>
          <a:solidFill>
            <a:srgbClr val="FFFFFF"/>
          </a:solidFill>
          <a:ln w="9525">
            <a:solidFill>
              <a:srgbClr val="FFFFFF"/>
            </a:solidFill>
            <a:prstDash val="solid"/>
          </a:ln>
        </p:spPr>
      </p:sp>
      <p:sp>
        <p:nvSpPr>
          <p:cNvPr id="28" name="Shape 22"/>
          <p:cNvSpPr/>
          <p:nvPr/>
        </p:nvSpPr>
        <p:spPr>
          <a:xfrm>
            <a:off x="2903220" y="5102352"/>
            <a:ext cx="457200" cy="457200"/>
          </a:xfrm>
          <a:prstGeom prst="ellipse">
            <a:avLst/>
          </a:prstGeom>
          <a:solidFill>
            <a:srgbClr val="2F9AAE"/>
          </a:solidFill>
          <a:ln w="12700">
            <a:solidFill>
              <a:srgbClr val="2F9AAE"/>
            </a:solidFill>
            <a:prstDash val="solid"/>
          </a:ln>
        </p:spPr>
      </p:sp>
      <p:pic>
        <p:nvPicPr>
          <p:cNvPr id="29" name="Image 4" descr="preencoded.png">    </p:cNvPr>
          <p:cNvPicPr>
            <a:picLocks noChangeAspect="1"/>
          </p:cNvPicPr>
          <p:nvPr/>
        </p:nvPicPr>
        <p:blipFill>
          <a:blip r:embed="rId5"/>
          <a:stretch>
            <a:fillRect/>
          </a:stretch>
        </p:blipFill>
        <p:spPr>
          <a:xfrm>
            <a:off x="3012948" y="5212080"/>
            <a:ext cx="237744" cy="237744"/>
          </a:xfrm>
          <a:prstGeom prst="rect">
            <a:avLst/>
          </a:prstGeom>
        </p:spPr>
      </p:pic>
      <p:sp>
        <p:nvSpPr>
          <p:cNvPr id="30" name="Text 23"/>
          <p:cNvSpPr txBox="1"/>
          <p:nvPr/>
        </p:nvSpPr>
        <p:spPr>
          <a:xfrm>
            <a:off x="3451860" y="4736592"/>
            <a:ext cx="1229868" cy="1188720"/>
          </a:xfrm>
          <a:prstGeom prst="rect">
            <a:avLst/>
          </a:prstGeom>
          <a:noFill/>
          <a:ln/>
        </p:spPr>
        <p:txBody>
          <a:bodyPr wrap="square" lIns="0" tIns="0" rIns="0" bIns="0" rtlCol="0" anchor="ctr"/>
          <a:lstStyle/>
          <a:p>
            <a:pPr indent="0" marL="0">
              <a:buNone/>
            </a:pPr>
            <a:r>
              <a:rPr lang="en-US" sz="1200" b="1" dirty="0">
                <a:solidFill>
                  <a:srgbClr val="1B2B34"/>
                </a:solidFill>
                <a:latin typeface="Calibri" pitchFamily="34" charset="0"/>
                <a:ea typeface="Calibri" pitchFamily="34" charset="-122"/>
                <a:cs typeface="Calibri" pitchFamily="34" charset="-120"/>
              </a:rPr>
              <a:t>Existing infrastructure (space, roof, plumbing)</a:t>
            </a:r>
            <a:endParaRPr lang="en-US" sz="1200" dirty="0"/>
          </a:p>
        </p:txBody>
      </p:sp>
      <p:sp>
        <p:nvSpPr>
          <p:cNvPr id="31" name="Shape 24"/>
          <p:cNvSpPr/>
          <p:nvPr/>
        </p:nvSpPr>
        <p:spPr>
          <a:xfrm>
            <a:off x="5074920" y="1463040"/>
            <a:ext cx="2850642" cy="4709160"/>
          </a:xfrm>
          <a:prstGeom prst="roundRect">
            <a:avLst>
              <a:gd name="adj" fmla="val 2566"/>
            </a:avLst>
          </a:prstGeom>
          <a:solidFill>
            <a:srgbClr val="FDF0DC"/>
          </a:solidFill>
          <a:ln w="9525">
            <a:solidFill>
              <a:srgbClr val="FDF0DC"/>
            </a:solidFill>
            <a:prstDash val="solid"/>
          </a:ln>
        </p:spPr>
      </p:sp>
      <p:sp>
        <p:nvSpPr>
          <p:cNvPr id="32" name="Shape 25"/>
          <p:cNvSpPr/>
          <p:nvPr/>
        </p:nvSpPr>
        <p:spPr>
          <a:xfrm>
            <a:off x="5257800" y="1645920"/>
            <a:ext cx="457200" cy="457200"/>
          </a:xfrm>
          <a:prstGeom prst="ellipse">
            <a:avLst/>
          </a:prstGeom>
          <a:solidFill>
            <a:srgbClr val="B86E0C"/>
          </a:solidFill>
          <a:ln w="12700">
            <a:solidFill>
              <a:srgbClr val="B86E0C"/>
            </a:solidFill>
            <a:prstDash val="solid"/>
          </a:ln>
        </p:spPr>
      </p:sp>
      <p:pic>
        <p:nvPicPr>
          <p:cNvPr id="33" name="Image 5" descr="preencoded.png">    </p:cNvPr>
          <p:cNvPicPr>
            <a:picLocks noChangeAspect="1"/>
          </p:cNvPicPr>
          <p:nvPr/>
        </p:nvPicPr>
        <p:blipFill>
          <a:blip r:embed="rId6"/>
          <a:stretch>
            <a:fillRect/>
          </a:stretch>
        </p:blipFill>
        <p:spPr>
          <a:xfrm>
            <a:off x="5367528" y="1755648"/>
            <a:ext cx="237744" cy="237744"/>
          </a:xfrm>
          <a:prstGeom prst="rect">
            <a:avLst/>
          </a:prstGeom>
        </p:spPr>
      </p:pic>
      <p:sp>
        <p:nvSpPr>
          <p:cNvPr id="34" name="Text 26"/>
          <p:cNvSpPr txBox="1"/>
          <p:nvPr/>
        </p:nvSpPr>
        <p:spPr>
          <a:xfrm>
            <a:off x="5852160" y="1572768"/>
            <a:ext cx="1981962" cy="640080"/>
          </a:xfrm>
          <a:prstGeom prst="rect">
            <a:avLst/>
          </a:prstGeom>
          <a:noFill/>
          <a:ln/>
        </p:spPr>
        <p:txBody>
          <a:bodyPr wrap="square" lIns="0" tIns="0" rIns="0" bIns="0" rtlCol="0" anchor="ctr"/>
          <a:lstStyle/>
          <a:p>
            <a:pPr indent="0" marL="0">
              <a:buNone/>
            </a:pPr>
            <a:r>
              <a:rPr lang="en-US" sz="1700" b="1" dirty="0">
                <a:solidFill>
                  <a:srgbClr val="1B2B34"/>
                </a:solidFill>
                <a:latin typeface="Cambria" pitchFamily="34" charset="0"/>
                <a:ea typeface="Cambria" pitchFamily="34" charset="-122"/>
                <a:cs typeface="Cambria" pitchFamily="34" charset="-120"/>
              </a:rPr>
              <a:t>Step 2 · Baseline Data Collected</a:t>
            </a:r>
            <a:endParaRPr lang="en-US" sz="1700" dirty="0"/>
          </a:p>
        </p:txBody>
      </p:sp>
      <p:sp>
        <p:nvSpPr>
          <p:cNvPr id="35" name="Shape 27"/>
          <p:cNvSpPr/>
          <p:nvPr/>
        </p:nvSpPr>
        <p:spPr>
          <a:xfrm>
            <a:off x="5212080" y="2423160"/>
            <a:ext cx="2576322" cy="768096"/>
          </a:xfrm>
          <a:prstGeom prst="roundRect">
            <a:avLst>
              <a:gd name="adj" fmla="val 9524"/>
            </a:avLst>
          </a:prstGeom>
          <a:solidFill>
            <a:srgbClr val="FFFFFF"/>
          </a:solidFill>
          <a:ln w="9525">
            <a:solidFill>
              <a:srgbClr val="FFFFFF"/>
            </a:solidFill>
            <a:prstDash val="solid"/>
          </a:ln>
        </p:spPr>
      </p:sp>
      <p:sp>
        <p:nvSpPr>
          <p:cNvPr id="36" name="Shape 28"/>
          <p:cNvSpPr/>
          <p:nvPr/>
        </p:nvSpPr>
        <p:spPr>
          <a:xfrm>
            <a:off x="5330952" y="2606040"/>
            <a:ext cx="402336" cy="402336"/>
          </a:xfrm>
          <a:prstGeom prst="ellipse">
            <a:avLst/>
          </a:prstGeom>
          <a:solidFill>
            <a:srgbClr val="4A8A45"/>
          </a:solidFill>
          <a:ln w="12700">
            <a:solidFill>
              <a:srgbClr val="4A8A45"/>
            </a:solidFill>
            <a:prstDash val="solid"/>
          </a:ln>
        </p:spPr>
      </p:sp>
      <p:pic>
        <p:nvPicPr>
          <p:cNvPr id="37" name="Image 6" descr="preencoded.png">    </p:cNvPr>
          <p:cNvPicPr>
            <a:picLocks noChangeAspect="1"/>
          </p:cNvPicPr>
          <p:nvPr/>
        </p:nvPicPr>
        <p:blipFill>
          <a:blip r:embed="rId7"/>
          <a:stretch>
            <a:fillRect/>
          </a:stretch>
        </p:blipFill>
        <p:spPr>
          <a:xfrm>
            <a:off x="5439583" y="2714671"/>
            <a:ext cx="185075" cy="185075"/>
          </a:xfrm>
          <a:prstGeom prst="rect">
            <a:avLst/>
          </a:prstGeom>
        </p:spPr>
      </p:pic>
      <p:sp>
        <p:nvSpPr>
          <p:cNvPr id="38" name="Text 29"/>
          <p:cNvSpPr txBox="1"/>
          <p:nvPr/>
        </p:nvSpPr>
        <p:spPr>
          <a:xfrm>
            <a:off x="5852160" y="2423160"/>
            <a:ext cx="1890522" cy="768096"/>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School infrastructure status</a:t>
            </a:r>
            <a:endParaRPr lang="en-US" sz="1350" dirty="0"/>
          </a:p>
        </p:txBody>
      </p:sp>
      <p:sp>
        <p:nvSpPr>
          <p:cNvPr id="39" name="Shape 30"/>
          <p:cNvSpPr/>
          <p:nvPr/>
        </p:nvSpPr>
        <p:spPr>
          <a:xfrm>
            <a:off x="5212080" y="3337560"/>
            <a:ext cx="2576322" cy="768096"/>
          </a:xfrm>
          <a:prstGeom prst="roundRect">
            <a:avLst>
              <a:gd name="adj" fmla="val 9524"/>
            </a:avLst>
          </a:prstGeom>
          <a:solidFill>
            <a:srgbClr val="FFFFFF"/>
          </a:solidFill>
          <a:ln w="9525">
            <a:solidFill>
              <a:srgbClr val="FFFFFF"/>
            </a:solidFill>
            <a:prstDash val="solid"/>
          </a:ln>
        </p:spPr>
      </p:sp>
      <p:sp>
        <p:nvSpPr>
          <p:cNvPr id="40" name="Shape 31"/>
          <p:cNvSpPr/>
          <p:nvPr/>
        </p:nvSpPr>
        <p:spPr>
          <a:xfrm>
            <a:off x="5330952" y="3520440"/>
            <a:ext cx="402336" cy="402336"/>
          </a:xfrm>
          <a:prstGeom prst="ellipse">
            <a:avLst/>
          </a:prstGeom>
          <a:solidFill>
            <a:srgbClr val="4A8A45"/>
          </a:solidFill>
          <a:ln w="12700">
            <a:solidFill>
              <a:srgbClr val="4A8A45"/>
            </a:solidFill>
            <a:prstDash val="solid"/>
          </a:ln>
        </p:spPr>
      </p:sp>
      <p:pic>
        <p:nvPicPr>
          <p:cNvPr id="41" name="Image 7" descr="preencoded.png">    </p:cNvPr>
          <p:cNvPicPr>
            <a:picLocks noChangeAspect="1"/>
          </p:cNvPicPr>
          <p:nvPr/>
        </p:nvPicPr>
        <p:blipFill>
          <a:blip r:embed="rId8"/>
          <a:stretch>
            <a:fillRect/>
          </a:stretch>
        </p:blipFill>
        <p:spPr>
          <a:xfrm>
            <a:off x="5439583" y="3629071"/>
            <a:ext cx="185075" cy="185075"/>
          </a:xfrm>
          <a:prstGeom prst="rect">
            <a:avLst/>
          </a:prstGeom>
        </p:spPr>
      </p:pic>
      <p:sp>
        <p:nvSpPr>
          <p:cNvPr id="42" name="Text 32"/>
          <p:cNvSpPr txBox="1"/>
          <p:nvPr/>
        </p:nvSpPr>
        <p:spPr>
          <a:xfrm>
            <a:off x="5852160" y="3337560"/>
            <a:ext cx="1890522" cy="768096"/>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Student strength / attendance</a:t>
            </a:r>
            <a:endParaRPr lang="en-US" sz="1350" dirty="0"/>
          </a:p>
        </p:txBody>
      </p:sp>
      <p:sp>
        <p:nvSpPr>
          <p:cNvPr id="43" name="Shape 33"/>
          <p:cNvSpPr/>
          <p:nvPr/>
        </p:nvSpPr>
        <p:spPr>
          <a:xfrm>
            <a:off x="5212080" y="4251960"/>
            <a:ext cx="2576322" cy="768096"/>
          </a:xfrm>
          <a:prstGeom prst="roundRect">
            <a:avLst>
              <a:gd name="adj" fmla="val 9524"/>
            </a:avLst>
          </a:prstGeom>
          <a:solidFill>
            <a:srgbClr val="FFFFFF"/>
          </a:solidFill>
          <a:ln w="9525">
            <a:solidFill>
              <a:srgbClr val="FFFFFF"/>
            </a:solidFill>
            <a:prstDash val="solid"/>
          </a:ln>
        </p:spPr>
      </p:sp>
      <p:sp>
        <p:nvSpPr>
          <p:cNvPr id="44" name="Shape 34"/>
          <p:cNvSpPr/>
          <p:nvPr/>
        </p:nvSpPr>
        <p:spPr>
          <a:xfrm>
            <a:off x="5330952" y="4434840"/>
            <a:ext cx="402336" cy="402336"/>
          </a:xfrm>
          <a:prstGeom prst="ellipse">
            <a:avLst/>
          </a:prstGeom>
          <a:solidFill>
            <a:srgbClr val="4A8A45"/>
          </a:solidFill>
          <a:ln w="12700">
            <a:solidFill>
              <a:srgbClr val="4A8A45"/>
            </a:solidFill>
            <a:prstDash val="solid"/>
          </a:ln>
        </p:spPr>
      </p:sp>
      <p:pic>
        <p:nvPicPr>
          <p:cNvPr id="45" name="Image 8" descr="preencoded.png">    </p:cNvPr>
          <p:cNvPicPr>
            <a:picLocks noChangeAspect="1"/>
          </p:cNvPicPr>
          <p:nvPr/>
        </p:nvPicPr>
        <p:blipFill>
          <a:blip r:embed="rId9"/>
          <a:stretch>
            <a:fillRect/>
          </a:stretch>
        </p:blipFill>
        <p:spPr>
          <a:xfrm>
            <a:off x="5439583" y="4543471"/>
            <a:ext cx="185075" cy="185075"/>
          </a:xfrm>
          <a:prstGeom prst="rect">
            <a:avLst/>
          </a:prstGeom>
        </p:spPr>
      </p:pic>
      <p:sp>
        <p:nvSpPr>
          <p:cNvPr id="46" name="Text 35"/>
          <p:cNvSpPr txBox="1"/>
          <p:nvPr/>
        </p:nvSpPr>
        <p:spPr>
          <a:xfrm>
            <a:off x="5852160" y="4251960"/>
            <a:ext cx="1890522" cy="768096"/>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Water quality</a:t>
            </a:r>
            <a:endParaRPr lang="en-US" sz="1350" dirty="0"/>
          </a:p>
        </p:txBody>
      </p:sp>
      <p:sp>
        <p:nvSpPr>
          <p:cNvPr id="47" name="Shape 36"/>
          <p:cNvSpPr/>
          <p:nvPr/>
        </p:nvSpPr>
        <p:spPr>
          <a:xfrm>
            <a:off x="5212080" y="5166360"/>
            <a:ext cx="2576322" cy="768096"/>
          </a:xfrm>
          <a:prstGeom prst="roundRect">
            <a:avLst>
              <a:gd name="adj" fmla="val 9524"/>
            </a:avLst>
          </a:prstGeom>
          <a:solidFill>
            <a:srgbClr val="FFFFFF"/>
          </a:solidFill>
          <a:ln w="9525">
            <a:solidFill>
              <a:srgbClr val="FFFFFF"/>
            </a:solidFill>
            <a:prstDash val="solid"/>
          </a:ln>
        </p:spPr>
      </p:sp>
      <p:sp>
        <p:nvSpPr>
          <p:cNvPr id="48" name="Shape 37"/>
          <p:cNvSpPr/>
          <p:nvPr/>
        </p:nvSpPr>
        <p:spPr>
          <a:xfrm>
            <a:off x="5330952" y="5349240"/>
            <a:ext cx="402336" cy="402336"/>
          </a:xfrm>
          <a:prstGeom prst="ellipse">
            <a:avLst/>
          </a:prstGeom>
          <a:solidFill>
            <a:srgbClr val="4A8A45"/>
          </a:solidFill>
          <a:ln w="12700">
            <a:solidFill>
              <a:srgbClr val="4A8A45"/>
            </a:solidFill>
            <a:prstDash val="solid"/>
          </a:ln>
        </p:spPr>
      </p:sp>
      <p:pic>
        <p:nvPicPr>
          <p:cNvPr id="49" name="Image 9" descr="preencoded.png">    </p:cNvPr>
          <p:cNvPicPr>
            <a:picLocks noChangeAspect="1"/>
          </p:cNvPicPr>
          <p:nvPr/>
        </p:nvPicPr>
        <p:blipFill>
          <a:blip r:embed="rId10"/>
          <a:stretch>
            <a:fillRect/>
          </a:stretch>
        </p:blipFill>
        <p:spPr>
          <a:xfrm>
            <a:off x="5439583" y="5457871"/>
            <a:ext cx="185075" cy="185075"/>
          </a:xfrm>
          <a:prstGeom prst="rect">
            <a:avLst/>
          </a:prstGeom>
        </p:spPr>
      </p:pic>
      <p:sp>
        <p:nvSpPr>
          <p:cNvPr id="50" name="Text 38"/>
          <p:cNvSpPr txBox="1"/>
          <p:nvPr/>
        </p:nvSpPr>
        <p:spPr>
          <a:xfrm>
            <a:off x="5852160" y="5166360"/>
            <a:ext cx="1890522" cy="768096"/>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Existing water source</a:t>
            </a:r>
            <a:endParaRPr lang="en-US" sz="1350" dirty="0"/>
          </a:p>
        </p:txBody>
      </p:sp>
      <p:pic>
        <p:nvPicPr>
          <p:cNvPr id="51" name="Image 10" descr="Site visit">    </p:cNvPr>
          <p:cNvPicPr>
            <a:picLocks noChangeAspect="1"/>
          </p:cNvPicPr>
          <p:nvPr/>
        </p:nvPicPr>
        <p:blipFill>
          <a:blip r:embed="rId11"/>
          <a:stretch>
            <a:fillRect/>
          </a:stretch>
        </p:blipFill>
        <p:spPr>
          <a:xfrm>
            <a:off x="8108442" y="1463040"/>
            <a:ext cx="3531870" cy="4709160"/>
          </a:xfrm>
          <a:prstGeom prst="rect">
            <a:avLst/>
          </a:prstGeom>
        </p:spPr>
      </p:pic>
      <p:sp>
        <p:nvSpPr>
          <p:cNvPr id="52" name="Shape 39"/>
          <p:cNvSpPr/>
          <p:nvPr/>
        </p:nvSpPr>
        <p:spPr>
          <a:xfrm>
            <a:off x="8199882" y="1554480"/>
            <a:ext cx="1051560"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53" name="Text 40"/>
          <p:cNvSpPr txBox="1"/>
          <p:nvPr/>
        </p:nvSpPr>
        <p:spPr>
          <a:xfrm>
            <a:off x="8199882" y="1554480"/>
            <a:ext cx="105156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SITE VISIT</a:t>
            </a:r>
            <a:endParaRPr lang="en-US" sz="1000" dirty="0"/>
          </a:p>
        </p:txBody>
      </p:sp>
      <p:sp>
        <p:nvSpPr>
          <p:cNvPr id="54" name="Text 41"/>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55" name="Text 42"/>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STEPS 3 &amp; 4</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From Procurement to a Working System</a:t>
            </a:r>
            <a:endParaRPr lang="en-US" sz="3200" dirty="0"/>
          </a:p>
        </p:txBody>
      </p:sp>
      <p:pic>
        <p:nvPicPr>
          <p:cNvPr id="4" name="Image 0" descr="Installation">    </p:cNvPr>
          <p:cNvPicPr>
            <a:picLocks noChangeAspect="1"/>
          </p:cNvPicPr>
          <p:nvPr/>
        </p:nvPicPr>
        <p:blipFill>
          <a:blip r:embed="rId1"/>
          <a:stretch>
            <a:fillRect/>
          </a:stretch>
        </p:blipFill>
        <p:spPr>
          <a:xfrm>
            <a:off x="9388693" y="1463040"/>
            <a:ext cx="2251619" cy="3002158"/>
          </a:xfrm>
          <a:prstGeom prst="rect">
            <a:avLst/>
          </a:prstGeom>
        </p:spPr>
      </p:pic>
      <p:sp>
        <p:nvSpPr>
          <p:cNvPr id="5" name="Shape 2"/>
          <p:cNvSpPr/>
          <p:nvPr/>
        </p:nvSpPr>
        <p:spPr>
          <a:xfrm>
            <a:off x="9480133" y="1554480"/>
            <a:ext cx="1207008"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6" name="Text 3"/>
          <p:cNvSpPr txBox="1"/>
          <p:nvPr/>
        </p:nvSpPr>
        <p:spPr>
          <a:xfrm>
            <a:off x="9480133" y="1554480"/>
            <a:ext cx="1207008"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INSTALLATION</a:t>
            </a:r>
            <a:endParaRPr lang="en-US" sz="1000" dirty="0"/>
          </a:p>
        </p:txBody>
      </p:sp>
      <p:pic>
        <p:nvPicPr>
          <p:cNvPr id="7" name="Image 1" descr="Testing">    </p:cNvPr>
          <p:cNvPicPr>
            <a:picLocks noChangeAspect="1"/>
          </p:cNvPicPr>
          <p:nvPr/>
        </p:nvPicPr>
        <p:blipFill>
          <a:blip r:embed="rId2"/>
          <a:stretch>
            <a:fillRect/>
          </a:stretch>
        </p:blipFill>
        <p:spPr>
          <a:xfrm>
            <a:off x="9388693" y="4574926"/>
            <a:ext cx="2251619" cy="1688714"/>
          </a:xfrm>
          <a:prstGeom prst="rect">
            <a:avLst/>
          </a:prstGeom>
        </p:spPr>
      </p:pic>
      <p:sp>
        <p:nvSpPr>
          <p:cNvPr id="8" name="Shape 4"/>
          <p:cNvSpPr/>
          <p:nvPr/>
        </p:nvSpPr>
        <p:spPr>
          <a:xfrm>
            <a:off x="9480133" y="4666366"/>
            <a:ext cx="818388"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9" name="Text 5"/>
          <p:cNvSpPr txBox="1"/>
          <p:nvPr/>
        </p:nvSpPr>
        <p:spPr>
          <a:xfrm>
            <a:off x="9480133" y="4666366"/>
            <a:ext cx="818388"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TESTING</a:t>
            </a:r>
            <a:endParaRPr lang="en-US" sz="1000" dirty="0"/>
          </a:p>
        </p:txBody>
      </p:sp>
      <p:sp>
        <p:nvSpPr>
          <p:cNvPr id="10" name="Shape 6"/>
          <p:cNvSpPr/>
          <p:nvPr/>
        </p:nvSpPr>
        <p:spPr>
          <a:xfrm>
            <a:off x="548640" y="1463040"/>
            <a:ext cx="2468880" cy="4206240"/>
          </a:xfrm>
          <a:prstGeom prst="roundRect">
            <a:avLst>
              <a:gd name="adj" fmla="val 2963"/>
            </a:avLst>
          </a:prstGeom>
          <a:solidFill>
            <a:srgbClr val="FDF0DC"/>
          </a:solidFill>
          <a:ln w="9525">
            <a:solidFill>
              <a:srgbClr val="FDF0DC"/>
            </a:solidFill>
            <a:prstDash val="solid"/>
          </a:ln>
        </p:spPr>
      </p:sp>
      <p:sp>
        <p:nvSpPr>
          <p:cNvPr id="11" name="Text 7"/>
          <p:cNvSpPr txBox="1"/>
          <p:nvPr/>
        </p:nvSpPr>
        <p:spPr>
          <a:xfrm>
            <a:off x="685800" y="1572768"/>
            <a:ext cx="2286000" cy="274320"/>
          </a:xfrm>
          <a:prstGeom prst="rect">
            <a:avLst/>
          </a:prstGeom>
          <a:noFill/>
          <a:ln/>
        </p:spPr>
        <p:txBody>
          <a:bodyPr wrap="square" lIns="0" tIns="0" rIns="0" bIns="0" rtlCol="0" anchor="t"/>
          <a:lstStyle/>
          <a:p>
            <a:pPr indent="0" marL="0">
              <a:buNone/>
            </a:pPr>
            <a:r>
              <a:rPr lang="en-US" sz="1150" b="1" dirty="0">
                <a:solidFill>
                  <a:srgbClr val="B86E0C"/>
                </a:solidFill>
                <a:latin typeface="Calibri" pitchFamily="34" charset="0"/>
                <a:ea typeface="Calibri" pitchFamily="34" charset="-122"/>
                <a:cs typeface="Calibri" pitchFamily="34" charset="-120"/>
              </a:rPr>
              <a:t>PLANNING &amp; PROCUREMENT</a:t>
            </a:r>
            <a:endParaRPr lang="en-US" sz="1150" dirty="0"/>
          </a:p>
        </p:txBody>
      </p:sp>
      <p:sp>
        <p:nvSpPr>
          <p:cNvPr id="12" name="Text 8"/>
          <p:cNvSpPr txBox="1"/>
          <p:nvPr/>
        </p:nvSpPr>
        <p:spPr>
          <a:xfrm>
            <a:off x="685800" y="1828800"/>
            <a:ext cx="2286000" cy="2743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Off-site preparation</a:t>
            </a:r>
            <a:endParaRPr lang="en-US" sz="1200" dirty="0"/>
          </a:p>
        </p:txBody>
      </p:sp>
      <p:sp>
        <p:nvSpPr>
          <p:cNvPr id="13" name="Shape 9"/>
          <p:cNvSpPr/>
          <p:nvPr/>
        </p:nvSpPr>
        <p:spPr>
          <a:xfrm>
            <a:off x="685800" y="2194560"/>
            <a:ext cx="2194560"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4" name="Shape 10"/>
          <p:cNvSpPr/>
          <p:nvPr/>
        </p:nvSpPr>
        <p:spPr>
          <a:xfrm>
            <a:off x="822960" y="2359152"/>
            <a:ext cx="457200" cy="457200"/>
          </a:xfrm>
          <a:prstGeom prst="ellipse">
            <a:avLst/>
          </a:prstGeom>
          <a:solidFill>
            <a:srgbClr val="B86E0C"/>
          </a:solidFill>
          <a:ln w="12700">
            <a:solidFill>
              <a:srgbClr val="B86E0C"/>
            </a:solidFill>
            <a:prstDash val="solid"/>
          </a:ln>
        </p:spPr>
      </p:sp>
      <p:pic>
        <p:nvPicPr>
          <p:cNvPr id="15" name="Image 2" descr="preencoded.png">    </p:cNvPr>
          <p:cNvPicPr>
            <a:picLocks noChangeAspect="1"/>
          </p:cNvPicPr>
          <p:nvPr/>
        </p:nvPicPr>
        <p:blipFill>
          <a:blip r:embed="rId3"/>
          <a:stretch>
            <a:fillRect/>
          </a:stretch>
        </p:blipFill>
        <p:spPr>
          <a:xfrm>
            <a:off x="932688" y="2468880"/>
            <a:ext cx="237744" cy="237744"/>
          </a:xfrm>
          <a:prstGeom prst="rect">
            <a:avLst/>
          </a:prstGeom>
        </p:spPr>
      </p:pic>
      <p:sp>
        <p:nvSpPr>
          <p:cNvPr id="16" name="Text 11"/>
          <p:cNvSpPr txBox="1"/>
          <p:nvPr/>
        </p:nvSpPr>
        <p:spPr>
          <a:xfrm>
            <a:off x="1371600" y="2304288"/>
            <a:ext cx="1463040" cy="566928"/>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1  Procurement</a:t>
            </a:r>
            <a:endParaRPr lang="en-US" sz="1350" dirty="0"/>
          </a:p>
        </p:txBody>
      </p:sp>
      <p:sp>
        <p:nvSpPr>
          <p:cNvPr id="17" name="Text 12"/>
          <p:cNvSpPr txBox="1"/>
          <p:nvPr/>
        </p:nvSpPr>
        <p:spPr>
          <a:xfrm>
            <a:off x="822960" y="2971800"/>
            <a:ext cx="1965960" cy="68580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Equipment &amp; materials sourced</a:t>
            </a:r>
            <a:endParaRPr lang="en-US" sz="1200" dirty="0"/>
          </a:p>
        </p:txBody>
      </p:sp>
      <p:sp>
        <p:nvSpPr>
          <p:cNvPr id="18" name="Shape 13"/>
          <p:cNvSpPr/>
          <p:nvPr/>
        </p:nvSpPr>
        <p:spPr>
          <a:xfrm>
            <a:off x="685800" y="3931920"/>
            <a:ext cx="2194560"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822960" y="4096512"/>
            <a:ext cx="457200" cy="457200"/>
          </a:xfrm>
          <a:prstGeom prst="ellipse">
            <a:avLst/>
          </a:prstGeom>
          <a:solidFill>
            <a:srgbClr val="B86E0C"/>
          </a:solidFill>
          <a:ln w="12700">
            <a:solidFill>
              <a:srgbClr val="B86E0C"/>
            </a:solidFill>
            <a:prstDash val="solid"/>
          </a:ln>
        </p:spPr>
      </p:sp>
      <p:pic>
        <p:nvPicPr>
          <p:cNvPr id="20" name="Image 3" descr="preencoded.png">    </p:cNvPr>
          <p:cNvPicPr>
            <a:picLocks noChangeAspect="1"/>
          </p:cNvPicPr>
          <p:nvPr/>
        </p:nvPicPr>
        <p:blipFill>
          <a:blip r:embed="rId4"/>
          <a:stretch>
            <a:fillRect/>
          </a:stretch>
        </p:blipFill>
        <p:spPr>
          <a:xfrm>
            <a:off x="932688" y="4206240"/>
            <a:ext cx="237744" cy="237744"/>
          </a:xfrm>
          <a:prstGeom prst="rect">
            <a:avLst/>
          </a:prstGeom>
        </p:spPr>
      </p:pic>
      <p:sp>
        <p:nvSpPr>
          <p:cNvPr id="21" name="Text 15"/>
          <p:cNvSpPr txBox="1"/>
          <p:nvPr/>
        </p:nvSpPr>
        <p:spPr>
          <a:xfrm>
            <a:off x="1371600" y="4041648"/>
            <a:ext cx="1463040" cy="566928"/>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2  Vendor coordination</a:t>
            </a:r>
            <a:endParaRPr lang="en-US" sz="1350" dirty="0"/>
          </a:p>
        </p:txBody>
      </p:sp>
      <p:sp>
        <p:nvSpPr>
          <p:cNvPr id="22" name="Text 16"/>
          <p:cNvSpPr txBox="1"/>
          <p:nvPr/>
        </p:nvSpPr>
        <p:spPr>
          <a:xfrm>
            <a:off x="822960" y="4709160"/>
            <a:ext cx="1965960" cy="68580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Supply &amp; installation aligned with vendors</a:t>
            </a:r>
            <a:endParaRPr lang="en-US" sz="1200" dirty="0"/>
          </a:p>
        </p:txBody>
      </p:sp>
      <p:sp>
        <p:nvSpPr>
          <p:cNvPr id="23" name="Shape 17"/>
          <p:cNvSpPr/>
          <p:nvPr/>
        </p:nvSpPr>
        <p:spPr>
          <a:xfrm>
            <a:off x="3090672" y="3383280"/>
            <a:ext cx="274320" cy="365760"/>
          </a:xfrm>
          <a:prstGeom prst="rightArrow">
            <a:avLst/>
          </a:prstGeom>
          <a:solidFill>
            <a:srgbClr val="F2A33A"/>
          </a:solidFill>
          <a:ln w="12700">
            <a:solidFill>
              <a:srgbClr val="F2A33A"/>
            </a:solidFill>
            <a:prstDash val="solid"/>
          </a:ln>
        </p:spPr>
      </p:sp>
      <p:sp>
        <p:nvSpPr>
          <p:cNvPr id="24" name="Shape 18"/>
          <p:cNvSpPr/>
          <p:nvPr/>
        </p:nvSpPr>
        <p:spPr>
          <a:xfrm>
            <a:off x="3438144" y="1463040"/>
            <a:ext cx="5767669" cy="4206240"/>
          </a:xfrm>
          <a:prstGeom prst="roundRect">
            <a:avLst>
              <a:gd name="adj" fmla="val 1739"/>
            </a:avLst>
          </a:prstGeom>
          <a:solidFill>
            <a:srgbClr val="E4F1F3"/>
          </a:solidFill>
          <a:ln w="9525">
            <a:solidFill>
              <a:srgbClr val="E4F1F3"/>
            </a:solidFill>
            <a:prstDash val="solid"/>
          </a:ln>
        </p:spPr>
      </p:sp>
      <p:sp>
        <p:nvSpPr>
          <p:cNvPr id="25" name="Text 19"/>
          <p:cNvSpPr txBox="1"/>
          <p:nvPr/>
        </p:nvSpPr>
        <p:spPr>
          <a:xfrm>
            <a:off x="3575304" y="1572768"/>
            <a:ext cx="4114800" cy="274320"/>
          </a:xfrm>
          <a:prstGeom prst="rect">
            <a:avLst/>
          </a:prstGeom>
          <a:noFill/>
          <a:ln/>
        </p:spPr>
        <p:txBody>
          <a:bodyPr wrap="square" lIns="0" tIns="0" rIns="0" bIns="0" rtlCol="0" anchor="t"/>
          <a:lstStyle/>
          <a:p>
            <a:pPr indent="0" marL="0">
              <a:buNone/>
            </a:pPr>
            <a:r>
              <a:rPr lang="en-US" sz="1150" b="1" dirty="0">
                <a:solidFill>
                  <a:srgbClr val="0E5E6F"/>
                </a:solidFill>
                <a:latin typeface="Calibri" pitchFamily="34" charset="0"/>
                <a:ea typeface="Calibri" pitchFamily="34" charset="-122"/>
                <a:cs typeface="Calibri" pitchFamily="34" charset="-120"/>
              </a:rPr>
              <a:t>ON-SITE INSTALLATION</a:t>
            </a:r>
            <a:endParaRPr lang="en-US" sz="1150" dirty="0"/>
          </a:p>
        </p:txBody>
      </p:sp>
      <p:sp>
        <p:nvSpPr>
          <p:cNvPr id="26" name="Text 20"/>
          <p:cNvSpPr txBox="1"/>
          <p:nvPr/>
        </p:nvSpPr>
        <p:spPr>
          <a:xfrm>
            <a:off x="3575304" y="1828800"/>
            <a:ext cx="4114800" cy="2743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At each of the 10 schools</a:t>
            </a:r>
            <a:endParaRPr lang="en-US" sz="1200" dirty="0"/>
          </a:p>
        </p:txBody>
      </p:sp>
      <p:sp>
        <p:nvSpPr>
          <p:cNvPr id="27" name="Shape 21"/>
          <p:cNvSpPr/>
          <p:nvPr/>
        </p:nvSpPr>
        <p:spPr>
          <a:xfrm>
            <a:off x="3575304" y="219456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8" name="Shape 22"/>
          <p:cNvSpPr/>
          <p:nvPr/>
        </p:nvSpPr>
        <p:spPr>
          <a:xfrm>
            <a:off x="3703320" y="2340864"/>
            <a:ext cx="457200" cy="457200"/>
          </a:xfrm>
          <a:prstGeom prst="ellipse">
            <a:avLst/>
          </a:prstGeom>
          <a:solidFill>
            <a:srgbClr val="0E5E6F"/>
          </a:solidFill>
          <a:ln w="12700">
            <a:solidFill>
              <a:srgbClr val="0E5E6F"/>
            </a:solidFill>
            <a:prstDash val="solid"/>
          </a:ln>
        </p:spPr>
      </p:sp>
      <p:pic>
        <p:nvPicPr>
          <p:cNvPr id="29" name="Image 4" descr="preencoded.png">    </p:cNvPr>
          <p:cNvPicPr>
            <a:picLocks noChangeAspect="1"/>
          </p:cNvPicPr>
          <p:nvPr/>
        </p:nvPicPr>
        <p:blipFill>
          <a:blip r:embed="rId5"/>
          <a:stretch>
            <a:fillRect/>
          </a:stretch>
        </p:blipFill>
        <p:spPr>
          <a:xfrm>
            <a:off x="3813048" y="2450592"/>
            <a:ext cx="237744" cy="237744"/>
          </a:xfrm>
          <a:prstGeom prst="rect">
            <a:avLst/>
          </a:prstGeom>
        </p:spPr>
      </p:pic>
      <p:sp>
        <p:nvSpPr>
          <p:cNvPr id="30" name="Text 23"/>
          <p:cNvSpPr txBox="1"/>
          <p:nvPr/>
        </p:nvSpPr>
        <p:spPr>
          <a:xfrm>
            <a:off x="4933980" y="230428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3</a:t>
            </a:r>
            <a:endParaRPr lang="en-US" sz="1300" dirty="0"/>
          </a:p>
        </p:txBody>
      </p:sp>
      <p:sp>
        <p:nvSpPr>
          <p:cNvPr id="31" name="Text 24"/>
          <p:cNvSpPr txBox="1"/>
          <p:nvPr/>
        </p:nvSpPr>
        <p:spPr>
          <a:xfrm>
            <a:off x="3703320" y="288950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Site preparation</a:t>
            </a:r>
            <a:endParaRPr lang="en-US" sz="1300" dirty="0"/>
          </a:p>
        </p:txBody>
      </p:sp>
      <p:sp>
        <p:nvSpPr>
          <p:cNvPr id="32" name="Text 25"/>
          <p:cNvSpPr txBox="1"/>
          <p:nvPr/>
        </p:nvSpPr>
        <p:spPr>
          <a:xfrm>
            <a:off x="3703320" y="338328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Rooftop &amp; location readied</a:t>
            </a:r>
            <a:endParaRPr lang="en-US" sz="1100" dirty="0"/>
          </a:p>
        </p:txBody>
      </p:sp>
      <p:sp>
        <p:nvSpPr>
          <p:cNvPr id="33" name="Shape 26"/>
          <p:cNvSpPr/>
          <p:nvPr/>
        </p:nvSpPr>
        <p:spPr>
          <a:xfrm>
            <a:off x="5436900" y="219456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4" name="Shape 27"/>
          <p:cNvSpPr/>
          <p:nvPr/>
        </p:nvSpPr>
        <p:spPr>
          <a:xfrm>
            <a:off x="5564916" y="2340864"/>
            <a:ext cx="457200" cy="457200"/>
          </a:xfrm>
          <a:prstGeom prst="ellipse">
            <a:avLst/>
          </a:prstGeom>
          <a:solidFill>
            <a:srgbClr val="0E5E6F"/>
          </a:solidFill>
          <a:ln w="12700">
            <a:solidFill>
              <a:srgbClr val="0E5E6F"/>
            </a:solidFill>
            <a:prstDash val="solid"/>
          </a:ln>
        </p:spPr>
      </p:sp>
      <p:pic>
        <p:nvPicPr>
          <p:cNvPr id="35" name="Image 5" descr="preencoded.png">    </p:cNvPr>
          <p:cNvPicPr>
            <a:picLocks noChangeAspect="1"/>
          </p:cNvPicPr>
          <p:nvPr/>
        </p:nvPicPr>
        <p:blipFill>
          <a:blip r:embed="rId6"/>
          <a:stretch>
            <a:fillRect/>
          </a:stretch>
        </p:blipFill>
        <p:spPr>
          <a:xfrm>
            <a:off x="5674644" y="2450592"/>
            <a:ext cx="237744" cy="237744"/>
          </a:xfrm>
          <a:prstGeom prst="rect">
            <a:avLst/>
          </a:prstGeom>
        </p:spPr>
      </p:pic>
      <p:sp>
        <p:nvSpPr>
          <p:cNvPr id="36" name="Text 28"/>
          <p:cNvSpPr txBox="1"/>
          <p:nvPr/>
        </p:nvSpPr>
        <p:spPr>
          <a:xfrm>
            <a:off x="6795577" y="230428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4</a:t>
            </a:r>
            <a:endParaRPr lang="en-US" sz="1300" dirty="0"/>
          </a:p>
        </p:txBody>
      </p:sp>
      <p:sp>
        <p:nvSpPr>
          <p:cNvPr id="37" name="Text 29"/>
          <p:cNvSpPr txBox="1"/>
          <p:nvPr/>
        </p:nvSpPr>
        <p:spPr>
          <a:xfrm>
            <a:off x="5564916" y="288950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Solar installation</a:t>
            </a:r>
            <a:endParaRPr lang="en-US" sz="1300" dirty="0"/>
          </a:p>
        </p:txBody>
      </p:sp>
      <p:sp>
        <p:nvSpPr>
          <p:cNvPr id="38" name="Text 30"/>
          <p:cNvSpPr txBox="1"/>
          <p:nvPr/>
        </p:nvSpPr>
        <p:spPr>
          <a:xfrm>
            <a:off x="5564916" y="338328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Panels, battery &amp; inverter</a:t>
            </a:r>
            <a:endParaRPr lang="en-US" sz="1100" dirty="0"/>
          </a:p>
        </p:txBody>
      </p:sp>
      <p:sp>
        <p:nvSpPr>
          <p:cNvPr id="39" name="Shape 31"/>
          <p:cNvSpPr/>
          <p:nvPr/>
        </p:nvSpPr>
        <p:spPr>
          <a:xfrm>
            <a:off x="7298497" y="219456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40" name="Shape 32"/>
          <p:cNvSpPr/>
          <p:nvPr/>
        </p:nvSpPr>
        <p:spPr>
          <a:xfrm>
            <a:off x="7426513" y="2340864"/>
            <a:ext cx="457200" cy="457200"/>
          </a:xfrm>
          <a:prstGeom prst="ellipse">
            <a:avLst/>
          </a:prstGeom>
          <a:solidFill>
            <a:srgbClr val="0E5E6F"/>
          </a:solidFill>
          <a:ln w="12700">
            <a:solidFill>
              <a:srgbClr val="0E5E6F"/>
            </a:solidFill>
            <a:prstDash val="solid"/>
          </a:ln>
        </p:spPr>
      </p:sp>
      <p:pic>
        <p:nvPicPr>
          <p:cNvPr id="41" name="Image 6" descr="preencoded.png">    </p:cNvPr>
          <p:cNvPicPr>
            <a:picLocks noChangeAspect="1"/>
          </p:cNvPicPr>
          <p:nvPr/>
        </p:nvPicPr>
        <p:blipFill>
          <a:blip r:embed="rId7"/>
          <a:stretch>
            <a:fillRect/>
          </a:stretch>
        </p:blipFill>
        <p:spPr>
          <a:xfrm>
            <a:off x="7536241" y="2450592"/>
            <a:ext cx="237744" cy="237744"/>
          </a:xfrm>
          <a:prstGeom prst="rect">
            <a:avLst/>
          </a:prstGeom>
        </p:spPr>
      </p:pic>
      <p:sp>
        <p:nvSpPr>
          <p:cNvPr id="42" name="Text 33"/>
          <p:cNvSpPr txBox="1"/>
          <p:nvPr/>
        </p:nvSpPr>
        <p:spPr>
          <a:xfrm>
            <a:off x="8657173" y="230428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5</a:t>
            </a:r>
            <a:endParaRPr lang="en-US" sz="1300" dirty="0"/>
          </a:p>
        </p:txBody>
      </p:sp>
      <p:sp>
        <p:nvSpPr>
          <p:cNvPr id="43" name="Text 34"/>
          <p:cNvSpPr txBox="1"/>
          <p:nvPr/>
        </p:nvSpPr>
        <p:spPr>
          <a:xfrm>
            <a:off x="7426513" y="288950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RO installation</a:t>
            </a:r>
            <a:endParaRPr lang="en-US" sz="1300" dirty="0"/>
          </a:p>
        </p:txBody>
      </p:sp>
      <p:sp>
        <p:nvSpPr>
          <p:cNvPr id="44" name="Text 35"/>
          <p:cNvSpPr txBox="1"/>
          <p:nvPr/>
        </p:nvSpPr>
        <p:spPr>
          <a:xfrm>
            <a:off x="7426513" y="338328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Purifier, storage &amp; cooler</a:t>
            </a:r>
            <a:endParaRPr lang="en-US" sz="1100" dirty="0"/>
          </a:p>
        </p:txBody>
      </p:sp>
      <p:sp>
        <p:nvSpPr>
          <p:cNvPr id="45" name="Shape 36"/>
          <p:cNvSpPr/>
          <p:nvPr/>
        </p:nvSpPr>
        <p:spPr>
          <a:xfrm>
            <a:off x="3575304" y="393192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46" name="Shape 37"/>
          <p:cNvSpPr/>
          <p:nvPr/>
        </p:nvSpPr>
        <p:spPr>
          <a:xfrm>
            <a:off x="3703320" y="4078224"/>
            <a:ext cx="457200" cy="457200"/>
          </a:xfrm>
          <a:prstGeom prst="ellipse">
            <a:avLst/>
          </a:prstGeom>
          <a:solidFill>
            <a:srgbClr val="0E5E6F"/>
          </a:solidFill>
          <a:ln w="12700">
            <a:solidFill>
              <a:srgbClr val="0E5E6F"/>
            </a:solidFill>
            <a:prstDash val="solid"/>
          </a:ln>
        </p:spPr>
      </p:sp>
      <p:pic>
        <p:nvPicPr>
          <p:cNvPr id="47" name="Image 7" descr="preencoded.png">    </p:cNvPr>
          <p:cNvPicPr>
            <a:picLocks noChangeAspect="1"/>
          </p:cNvPicPr>
          <p:nvPr/>
        </p:nvPicPr>
        <p:blipFill>
          <a:blip r:embed="rId8"/>
          <a:stretch>
            <a:fillRect/>
          </a:stretch>
        </p:blipFill>
        <p:spPr>
          <a:xfrm>
            <a:off x="3813048" y="4187952"/>
            <a:ext cx="237744" cy="237744"/>
          </a:xfrm>
          <a:prstGeom prst="rect">
            <a:avLst/>
          </a:prstGeom>
        </p:spPr>
      </p:pic>
      <p:sp>
        <p:nvSpPr>
          <p:cNvPr id="48" name="Text 38"/>
          <p:cNvSpPr txBox="1"/>
          <p:nvPr/>
        </p:nvSpPr>
        <p:spPr>
          <a:xfrm>
            <a:off x="4933980" y="404164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6</a:t>
            </a:r>
            <a:endParaRPr lang="en-US" sz="1300" dirty="0"/>
          </a:p>
        </p:txBody>
      </p:sp>
      <p:sp>
        <p:nvSpPr>
          <p:cNvPr id="49" name="Text 39"/>
          <p:cNvSpPr txBox="1"/>
          <p:nvPr/>
        </p:nvSpPr>
        <p:spPr>
          <a:xfrm>
            <a:off x="3703320" y="462686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Plumbing &amp; electrical</a:t>
            </a:r>
            <a:endParaRPr lang="en-US" sz="1300" dirty="0"/>
          </a:p>
        </p:txBody>
      </p:sp>
      <p:sp>
        <p:nvSpPr>
          <p:cNvPr id="50" name="Text 40"/>
          <p:cNvSpPr txBox="1"/>
          <p:nvPr/>
        </p:nvSpPr>
        <p:spPr>
          <a:xfrm>
            <a:off x="3703320" y="512064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Wiring, pipes &amp; connections</a:t>
            </a:r>
            <a:endParaRPr lang="en-US" sz="1100" dirty="0"/>
          </a:p>
        </p:txBody>
      </p:sp>
      <p:sp>
        <p:nvSpPr>
          <p:cNvPr id="51" name="Shape 41"/>
          <p:cNvSpPr/>
          <p:nvPr/>
        </p:nvSpPr>
        <p:spPr>
          <a:xfrm>
            <a:off x="5436900" y="393192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52" name="Shape 42"/>
          <p:cNvSpPr/>
          <p:nvPr/>
        </p:nvSpPr>
        <p:spPr>
          <a:xfrm>
            <a:off x="5564916" y="4078224"/>
            <a:ext cx="457200" cy="457200"/>
          </a:xfrm>
          <a:prstGeom prst="ellipse">
            <a:avLst/>
          </a:prstGeom>
          <a:solidFill>
            <a:srgbClr val="0E5E6F"/>
          </a:solidFill>
          <a:ln w="12700">
            <a:solidFill>
              <a:srgbClr val="0E5E6F"/>
            </a:solidFill>
            <a:prstDash val="solid"/>
          </a:ln>
        </p:spPr>
      </p:sp>
      <p:pic>
        <p:nvPicPr>
          <p:cNvPr id="53" name="Image 8" descr="preencoded.png">    </p:cNvPr>
          <p:cNvPicPr>
            <a:picLocks noChangeAspect="1"/>
          </p:cNvPicPr>
          <p:nvPr/>
        </p:nvPicPr>
        <p:blipFill>
          <a:blip r:embed="rId9"/>
          <a:stretch>
            <a:fillRect/>
          </a:stretch>
        </p:blipFill>
        <p:spPr>
          <a:xfrm>
            <a:off x="5674644" y="4187952"/>
            <a:ext cx="237744" cy="237744"/>
          </a:xfrm>
          <a:prstGeom prst="rect">
            <a:avLst/>
          </a:prstGeom>
        </p:spPr>
      </p:pic>
      <p:sp>
        <p:nvSpPr>
          <p:cNvPr id="54" name="Text 43"/>
          <p:cNvSpPr txBox="1"/>
          <p:nvPr/>
        </p:nvSpPr>
        <p:spPr>
          <a:xfrm>
            <a:off x="6795577" y="404164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7</a:t>
            </a:r>
            <a:endParaRPr lang="en-US" sz="1300" dirty="0"/>
          </a:p>
        </p:txBody>
      </p:sp>
      <p:sp>
        <p:nvSpPr>
          <p:cNvPr id="55" name="Text 44"/>
          <p:cNvSpPr txBox="1"/>
          <p:nvPr/>
        </p:nvSpPr>
        <p:spPr>
          <a:xfrm>
            <a:off x="5564916" y="462686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System testing</a:t>
            </a:r>
            <a:endParaRPr lang="en-US" sz="1300" dirty="0"/>
          </a:p>
        </p:txBody>
      </p:sp>
      <p:sp>
        <p:nvSpPr>
          <p:cNvPr id="56" name="Text 45"/>
          <p:cNvSpPr txBox="1"/>
          <p:nvPr/>
        </p:nvSpPr>
        <p:spPr>
          <a:xfrm>
            <a:off x="5564916" y="512064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Full system run &amp; checked</a:t>
            </a:r>
            <a:endParaRPr lang="en-US" sz="1100" dirty="0"/>
          </a:p>
        </p:txBody>
      </p:sp>
      <p:sp>
        <p:nvSpPr>
          <p:cNvPr id="57" name="Shape 46"/>
          <p:cNvSpPr/>
          <p:nvPr/>
        </p:nvSpPr>
        <p:spPr>
          <a:xfrm>
            <a:off x="7298497" y="3931920"/>
            <a:ext cx="1770156" cy="1600200"/>
          </a:xfrm>
          <a:prstGeom prst="roundRect">
            <a:avLst>
              <a:gd name="adj" fmla="val 4571"/>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58" name="Shape 47"/>
          <p:cNvSpPr/>
          <p:nvPr/>
        </p:nvSpPr>
        <p:spPr>
          <a:xfrm>
            <a:off x="7426513" y="4078224"/>
            <a:ext cx="457200" cy="457200"/>
          </a:xfrm>
          <a:prstGeom prst="ellipse">
            <a:avLst/>
          </a:prstGeom>
          <a:solidFill>
            <a:srgbClr val="0E5E6F"/>
          </a:solidFill>
          <a:ln w="12700">
            <a:solidFill>
              <a:srgbClr val="0E5E6F"/>
            </a:solidFill>
            <a:prstDash val="solid"/>
          </a:ln>
        </p:spPr>
      </p:sp>
      <p:pic>
        <p:nvPicPr>
          <p:cNvPr id="59" name="Image 9" descr="preencoded.png">    </p:cNvPr>
          <p:cNvPicPr>
            <a:picLocks noChangeAspect="1"/>
          </p:cNvPicPr>
          <p:nvPr/>
        </p:nvPicPr>
        <p:blipFill>
          <a:blip r:embed="rId10"/>
          <a:stretch>
            <a:fillRect/>
          </a:stretch>
        </p:blipFill>
        <p:spPr>
          <a:xfrm>
            <a:off x="7536241" y="4187952"/>
            <a:ext cx="237744" cy="237744"/>
          </a:xfrm>
          <a:prstGeom prst="rect">
            <a:avLst/>
          </a:prstGeom>
        </p:spPr>
      </p:pic>
      <p:sp>
        <p:nvSpPr>
          <p:cNvPr id="60" name="Text 48"/>
          <p:cNvSpPr txBox="1"/>
          <p:nvPr/>
        </p:nvSpPr>
        <p:spPr>
          <a:xfrm>
            <a:off x="8657173" y="4041648"/>
            <a:ext cx="292608" cy="274320"/>
          </a:xfrm>
          <a:prstGeom prst="rect">
            <a:avLst/>
          </a:prstGeom>
          <a:noFill/>
          <a:ln/>
        </p:spPr>
        <p:txBody>
          <a:bodyPr wrap="square" lIns="0" tIns="0" rIns="0" bIns="0" rtlCol="0" anchor="t"/>
          <a:lstStyle/>
          <a:p>
            <a:pPr algn="r" indent="0" marL="0">
              <a:buNone/>
            </a:pPr>
            <a:r>
              <a:rPr lang="en-US" sz="1300" b="1" dirty="0">
                <a:solidFill>
                  <a:srgbClr val="2F9AAE"/>
                </a:solidFill>
                <a:latin typeface="Calibri" pitchFamily="34" charset="0"/>
                <a:ea typeface="Calibri" pitchFamily="34" charset="-122"/>
                <a:cs typeface="Calibri" pitchFamily="34" charset="-120"/>
              </a:rPr>
              <a:t>8</a:t>
            </a:r>
            <a:endParaRPr lang="en-US" sz="1300" dirty="0"/>
          </a:p>
        </p:txBody>
      </p:sp>
      <p:sp>
        <p:nvSpPr>
          <p:cNvPr id="61" name="Text 49"/>
          <p:cNvSpPr txBox="1"/>
          <p:nvPr/>
        </p:nvSpPr>
        <p:spPr>
          <a:xfrm>
            <a:off x="7426513" y="4626864"/>
            <a:ext cx="1550700" cy="502920"/>
          </a:xfrm>
          <a:prstGeom prst="rect">
            <a:avLst/>
          </a:prstGeom>
          <a:noFill/>
          <a:ln/>
        </p:spPr>
        <p:txBody>
          <a:bodyPr wrap="square" lIns="0" tIns="0" rIns="0" bIns="0" rtlCol="0" anchor="t"/>
          <a:lstStyle/>
          <a:p>
            <a:pPr indent="0" marL="0">
              <a:buNone/>
            </a:pPr>
            <a:r>
              <a:rPr lang="en-US" sz="1300" b="1" dirty="0">
                <a:solidFill>
                  <a:srgbClr val="1B2B34"/>
                </a:solidFill>
                <a:latin typeface="Calibri" pitchFamily="34" charset="0"/>
                <a:ea typeface="Calibri" pitchFamily="34" charset="-122"/>
                <a:cs typeface="Calibri" pitchFamily="34" charset="-120"/>
              </a:rPr>
              <a:t>Quality &amp; safety check</a:t>
            </a:r>
            <a:endParaRPr lang="en-US" sz="1300" dirty="0"/>
          </a:p>
        </p:txBody>
      </p:sp>
      <p:sp>
        <p:nvSpPr>
          <p:cNvPr id="62" name="Text 50"/>
          <p:cNvSpPr txBox="1"/>
          <p:nvPr/>
        </p:nvSpPr>
        <p:spPr>
          <a:xfrm>
            <a:off x="7426513" y="5120640"/>
            <a:ext cx="1550700" cy="36576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Verified before use</a:t>
            </a:r>
            <a:endParaRPr lang="en-US" sz="1100" dirty="0"/>
          </a:p>
        </p:txBody>
      </p:sp>
      <p:sp>
        <p:nvSpPr>
          <p:cNvPr id="63" name="Shape 51"/>
          <p:cNvSpPr/>
          <p:nvPr/>
        </p:nvSpPr>
        <p:spPr>
          <a:xfrm>
            <a:off x="548640" y="5788152"/>
            <a:ext cx="411480" cy="411480"/>
          </a:xfrm>
          <a:prstGeom prst="ellipse">
            <a:avLst/>
          </a:prstGeom>
          <a:solidFill>
            <a:srgbClr val="4A8A45"/>
          </a:solidFill>
          <a:ln w="12700">
            <a:solidFill>
              <a:srgbClr val="4A8A45"/>
            </a:solidFill>
            <a:prstDash val="solid"/>
          </a:ln>
        </p:spPr>
      </p:sp>
      <p:pic>
        <p:nvPicPr>
          <p:cNvPr id="64" name="Image 10" descr="preencoded.png">    </p:cNvPr>
          <p:cNvPicPr>
            <a:picLocks noChangeAspect="1"/>
          </p:cNvPicPr>
          <p:nvPr/>
        </p:nvPicPr>
        <p:blipFill>
          <a:blip r:embed="rId11"/>
          <a:stretch>
            <a:fillRect/>
          </a:stretch>
        </p:blipFill>
        <p:spPr>
          <a:xfrm>
            <a:off x="659740" y="5899252"/>
            <a:ext cx="189281" cy="189281"/>
          </a:xfrm>
          <a:prstGeom prst="rect">
            <a:avLst/>
          </a:prstGeom>
        </p:spPr>
      </p:pic>
      <p:sp>
        <p:nvSpPr>
          <p:cNvPr id="65" name="Text 52"/>
          <p:cNvSpPr txBox="1"/>
          <p:nvPr/>
        </p:nvSpPr>
        <p:spPr>
          <a:xfrm>
            <a:off x="1097280" y="5760720"/>
            <a:ext cx="8154253" cy="457200"/>
          </a:xfrm>
          <a:prstGeom prst="rect">
            <a:avLst/>
          </a:prstGeom>
          <a:noFill/>
          <a:ln/>
        </p:spPr>
        <p:txBody>
          <a:bodyPr wrap="square" lIns="0" tIns="0" rIns="0" bIns="0" rtlCol="0" anchor="ctr"/>
          <a:lstStyle/>
          <a:p>
            <a:pPr indent="0" marL="0">
              <a:buNone/>
            </a:pPr>
            <a:r>
              <a:rPr lang="en-US" sz="1400" b="1" dirty="0">
                <a:solidFill>
                  <a:srgbClr val="4A8A45"/>
                </a:solidFill>
                <a:latin typeface="Calibri" pitchFamily="34" charset="0"/>
                <a:ea typeface="Calibri" pitchFamily="34" charset="-122"/>
                <a:cs typeface="Calibri" pitchFamily="34" charset="-120"/>
              </a:rPr>
              <a:t>Result:  </a:t>
            </a:r>
            <a:pPr indent="0" marL="0">
              <a:buNone/>
            </a:pPr>
            <a:r>
              <a:rPr lang="en-US" sz="1400" dirty="0">
                <a:solidFill>
                  <a:srgbClr val="1B2B34"/>
                </a:solidFill>
                <a:latin typeface="Calibri" pitchFamily="34" charset="0"/>
                <a:ea typeface="Calibri" pitchFamily="34" charset="-122"/>
                <a:cs typeface="Calibri" pitchFamily="34" charset="-120"/>
              </a:rPr>
              <a:t>a tested, verified and functioning system at each school, ready for training and handover.</a:t>
            </a:r>
            <a:endParaRPr lang="en-US" sz="1400" dirty="0"/>
          </a:p>
        </p:txBody>
      </p:sp>
      <p:sp>
        <p:nvSpPr>
          <p:cNvPr id="66" name="Text 53"/>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67" name="Text 54"/>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STEP 5</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Training &amp; Community Awareness</a:t>
            </a:r>
            <a:endParaRPr lang="en-US" sz="3200" dirty="0"/>
          </a:p>
        </p:txBody>
      </p:sp>
      <p:pic>
        <p:nvPicPr>
          <p:cNvPr id="4" name="Image 0" descr="Training">    </p:cNvPr>
          <p:cNvPicPr>
            <a:picLocks noChangeAspect="1"/>
          </p:cNvPicPr>
          <p:nvPr/>
        </p:nvPicPr>
        <p:blipFill>
          <a:blip r:embed="rId1"/>
          <a:stretch>
            <a:fillRect/>
          </a:stretch>
        </p:blipFill>
        <p:spPr>
          <a:xfrm>
            <a:off x="548640" y="1463040"/>
            <a:ext cx="4754880" cy="3566160"/>
          </a:xfrm>
          <a:prstGeom prst="rect">
            <a:avLst/>
          </a:prstGeom>
        </p:spPr>
      </p:pic>
      <p:sp>
        <p:nvSpPr>
          <p:cNvPr id="5" name="Shape 2"/>
          <p:cNvSpPr/>
          <p:nvPr/>
        </p:nvSpPr>
        <p:spPr>
          <a:xfrm>
            <a:off x="640080" y="1554480"/>
            <a:ext cx="896112"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6" name="Text 3"/>
          <p:cNvSpPr txBox="1"/>
          <p:nvPr/>
        </p:nvSpPr>
        <p:spPr>
          <a:xfrm>
            <a:off x="640080" y="1554480"/>
            <a:ext cx="89611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TRAINING</a:t>
            </a:r>
            <a:endParaRPr lang="en-US" sz="1000" dirty="0"/>
          </a:p>
        </p:txBody>
      </p:sp>
      <p:sp>
        <p:nvSpPr>
          <p:cNvPr id="7" name="Shape 4"/>
          <p:cNvSpPr/>
          <p:nvPr/>
        </p:nvSpPr>
        <p:spPr>
          <a:xfrm>
            <a:off x="548640" y="5212080"/>
            <a:ext cx="4754880" cy="960120"/>
          </a:xfrm>
          <a:prstGeom prst="roundRect">
            <a:avLst>
              <a:gd name="adj" fmla="val 7619"/>
            </a:avLst>
          </a:prstGeom>
          <a:solidFill>
            <a:srgbClr val="E4F1F3"/>
          </a:solidFill>
          <a:ln w="9525">
            <a:solidFill>
              <a:srgbClr val="E4F1F3"/>
            </a:solidFill>
            <a:prstDash val="solid"/>
          </a:ln>
        </p:spPr>
      </p:sp>
      <p:sp>
        <p:nvSpPr>
          <p:cNvPr id="8" name="Shape 5"/>
          <p:cNvSpPr/>
          <p:nvPr/>
        </p:nvSpPr>
        <p:spPr>
          <a:xfrm>
            <a:off x="731520" y="5445252"/>
            <a:ext cx="493776" cy="493776"/>
          </a:xfrm>
          <a:prstGeom prst="ellipse">
            <a:avLst/>
          </a:prstGeom>
          <a:solidFill>
            <a:srgbClr val="0E5E6F"/>
          </a:solidFill>
          <a:ln w="12700">
            <a:solidFill>
              <a:srgbClr val="0E5E6F"/>
            </a:solidFill>
            <a:prstDash val="solid"/>
          </a:ln>
        </p:spPr>
      </p:sp>
      <p:pic>
        <p:nvPicPr>
          <p:cNvPr id="9" name="Image 1" descr="preencoded.png">    </p:cNvPr>
          <p:cNvPicPr>
            <a:picLocks noChangeAspect="1"/>
          </p:cNvPicPr>
          <p:nvPr/>
        </p:nvPicPr>
        <p:blipFill>
          <a:blip r:embed="rId2"/>
          <a:stretch>
            <a:fillRect/>
          </a:stretch>
        </p:blipFill>
        <p:spPr>
          <a:xfrm>
            <a:off x="850026" y="5563758"/>
            <a:ext cx="256764" cy="256764"/>
          </a:xfrm>
          <a:prstGeom prst="rect">
            <a:avLst/>
          </a:prstGeom>
        </p:spPr>
      </p:pic>
      <p:sp>
        <p:nvSpPr>
          <p:cNvPr id="10" name="Text 6"/>
          <p:cNvSpPr txBox="1"/>
          <p:nvPr/>
        </p:nvSpPr>
        <p:spPr>
          <a:xfrm>
            <a:off x="1371600" y="5212080"/>
            <a:ext cx="3794760" cy="960120"/>
          </a:xfrm>
          <a:prstGeom prst="rect">
            <a:avLst/>
          </a:prstGeom>
          <a:noFill/>
          <a:ln/>
        </p:spPr>
        <p:txBody>
          <a:bodyPr wrap="square" lIns="0" tIns="0" rIns="0" bIns="0" rtlCol="0" anchor="ctr"/>
          <a:lstStyle/>
          <a:p>
            <a:pPr indent="0" marL="0">
              <a:buNone/>
            </a:pPr>
            <a:r>
              <a:rPr lang="en-US" sz="1350" dirty="0">
                <a:solidFill>
                  <a:srgbClr val="1B2B34"/>
                </a:solidFill>
                <a:latin typeface="Calibri" pitchFamily="34" charset="0"/>
                <a:ea typeface="Calibri" pitchFamily="34" charset="-122"/>
                <a:cs typeface="Calibri" pitchFamily="34" charset="-120"/>
              </a:rPr>
              <a:t>Staff and local caretakers trained on the installed system: operation, upkeep and water safety.</a:t>
            </a:r>
            <a:endParaRPr lang="en-US" sz="1350" dirty="0"/>
          </a:p>
        </p:txBody>
      </p:sp>
      <p:sp>
        <p:nvSpPr>
          <p:cNvPr id="11" name="Text 7"/>
          <p:cNvSpPr txBox="1"/>
          <p:nvPr/>
        </p:nvSpPr>
        <p:spPr>
          <a:xfrm>
            <a:off x="5486400" y="1463040"/>
            <a:ext cx="45720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WHO IS TRAINED</a:t>
            </a:r>
            <a:endParaRPr lang="en-US" sz="1200" dirty="0"/>
          </a:p>
        </p:txBody>
      </p:sp>
      <p:sp>
        <p:nvSpPr>
          <p:cNvPr id="12" name="Shape 8"/>
          <p:cNvSpPr/>
          <p:nvPr/>
        </p:nvSpPr>
        <p:spPr>
          <a:xfrm>
            <a:off x="5486400" y="1810512"/>
            <a:ext cx="2985516" cy="960120"/>
          </a:xfrm>
          <a:prstGeom prst="roundRect">
            <a:avLst>
              <a:gd name="adj" fmla="val 7619"/>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5650992" y="2039112"/>
            <a:ext cx="502920" cy="502920"/>
          </a:xfrm>
          <a:prstGeom prst="ellipse">
            <a:avLst/>
          </a:prstGeom>
          <a:solidFill>
            <a:srgbClr val="0E5E6F"/>
          </a:solidFill>
          <a:ln w="12700">
            <a:solidFill>
              <a:srgbClr val="0E5E6F"/>
            </a:solidFill>
            <a:prstDash val="solid"/>
          </a:ln>
        </p:spPr>
      </p:sp>
      <p:pic>
        <p:nvPicPr>
          <p:cNvPr id="14" name="Image 2" descr="preencoded.png">    </p:cNvPr>
          <p:cNvPicPr>
            <a:picLocks noChangeAspect="1"/>
          </p:cNvPicPr>
          <p:nvPr/>
        </p:nvPicPr>
        <p:blipFill>
          <a:blip r:embed="rId3"/>
          <a:stretch>
            <a:fillRect/>
          </a:stretch>
        </p:blipFill>
        <p:spPr>
          <a:xfrm>
            <a:off x="5771693" y="2159813"/>
            <a:ext cx="261518" cy="261518"/>
          </a:xfrm>
          <a:prstGeom prst="rect">
            <a:avLst/>
          </a:prstGeom>
        </p:spPr>
      </p:pic>
      <p:sp>
        <p:nvSpPr>
          <p:cNvPr id="15" name="Text 10"/>
          <p:cNvSpPr txBox="1"/>
          <p:nvPr/>
        </p:nvSpPr>
        <p:spPr>
          <a:xfrm>
            <a:off x="6291072" y="1810512"/>
            <a:ext cx="2071116" cy="9601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Teachers &amp; school staff</a:t>
            </a:r>
            <a:endParaRPr lang="en-US" sz="1450" dirty="0"/>
          </a:p>
        </p:txBody>
      </p:sp>
      <p:sp>
        <p:nvSpPr>
          <p:cNvPr id="16" name="Shape 11"/>
          <p:cNvSpPr/>
          <p:nvPr/>
        </p:nvSpPr>
        <p:spPr>
          <a:xfrm>
            <a:off x="8654796" y="1810512"/>
            <a:ext cx="2985516" cy="960120"/>
          </a:xfrm>
          <a:prstGeom prst="roundRect">
            <a:avLst>
              <a:gd name="adj" fmla="val 7619"/>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7" name="Shape 12"/>
          <p:cNvSpPr/>
          <p:nvPr/>
        </p:nvSpPr>
        <p:spPr>
          <a:xfrm>
            <a:off x="8819388" y="2039112"/>
            <a:ext cx="502920" cy="502920"/>
          </a:xfrm>
          <a:prstGeom prst="ellipse">
            <a:avLst/>
          </a:prstGeom>
          <a:solidFill>
            <a:srgbClr val="0E5E6F"/>
          </a:solidFill>
          <a:ln w="12700">
            <a:solidFill>
              <a:srgbClr val="0E5E6F"/>
            </a:solidFill>
            <a:prstDash val="solid"/>
          </a:ln>
        </p:spPr>
      </p:sp>
      <p:pic>
        <p:nvPicPr>
          <p:cNvPr id="18" name="Image 3" descr="preencoded.png">    </p:cNvPr>
          <p:cNvPicPr>
            <a:picLocks noChangeAspect="1"/>
          </p:cNvPicPr>
          <p:nvPr/>
        </p:nvPicPr>
        <p:blipFill>
          <a:blip r:embed="rId4"/>
          <a:stretch>
            <a:fillRect/>
          </a:stretch>
        </p:blipFill>
        <p:spPr>
          <a:xfrm>
            <a:off x="8940089" y="2159813"/>
            <a:ext cx="261518" cy="261518"/>
          </a:xfrm>
          <a:prstGeom prst="rect">
            <a:avLst/>
          </a:prstGeom>
        </p:spPr>
      </p:pic>
      <p:sp>
        <p:nvSpPr>
          <p:cNvPr id="19" name="Text 13"/>
          <p:cNvSpPr txBox="1"/>
          <p:nvPr/>
        </p:nvSpPr>
        <p:spPr>
          <a:xfrm>
            <a:off x="9459468" y="1810512"/>
            <a:ext cx="2071116" cy="9601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Local personnel / caretakers</a:t>
            </a:r>
            <a:endParaRPr lang="en-US" sz="1450" dirty="0"/>
          </a:p>
        </p:txBody>
      </p:sp>
      <p:sp>
        <p:nvSpPr>
          <p:cNvPr id="20" name="Text 14"/>
          <p:cNvSpPr txBox="1"/>
          <p:nvPr/>
        </p:nvSpPr>
        <p:spPr>
          <a:xfrm>
            <a:off x="5486400" y="3063240"/>
            <a:ext cx="45720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WHAT IS COVERED</a:t>
            </a:r>
            <a:endParaRPr lang="en-US" sz="1200" dirty="0"/>
          </a:p>
        </p:txBody>
      </p:sp>
      <p:sp>
        <p:nvSpPr>
          <p:cNvPr id="21" name="Shape 15"/>
          <p:cNvSpPr/>
          <p:nvPr/>
        </p:nvSpPr>
        <p:spPr>
          <a:xfrm>
            <a:off x="5486400" y="3410712"/>
            <a:ext cx="1929384" cy="1188720"/>
          </a:xfrm>
          <a:prstGeom prst="roundRect">
            <a:avLst>
              <a:gd name="adj" fmla="val 615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2" name="Shape 16"/>
          <p:cNvSpPr/>
          <p:nvPr/>
        </p:nvSpPr>
        <p:spPr>
          <a:xfrm>
            <a:off x="5650992" y="3753612"/>
            <a:ext cx="502920" cy="502920"/>
          </a:xfrm>
          <a:prstGeom prst="ellipse">
            <a:avLst/>
          </a:prstGeom>
          <a:solidFill>
            <a:srgbClr val="B86E0C"/>
          </a:solidFill>
          <a:ln w="12700">
            <a:solidFill>
              <a:srgbClr val="B86E0C"/>
            </a:solidFill>
            <a:prstDash val="solid"/>
          </a:ln>
        </p:spPr>
      </p:sp>
      <p:pic>
        <p:nvPicPr>
          <p:cNvPr id="23" name="Image 4" descr="preencoded.png">    </p:cNvPr>
          <p:cNvPicPr>
            <a:picLocks noChangeAspect="1"/>
          </p:cNvPicPr>
          <p:nvPr/>
        </p:nvPicPr>
        <p:blipFill>
          <a:blip r:embed="rId5"/>
          <a:stretch>
            <a:fillRect/>
          </a:stretch>
        </p:blipFill>
        <p:spPr>
          <a:xfrm>
            <a:off x="5771693" y="3874313"/>
            <a:ext cx="261518" cy="261518"/>
          </a:xfrm>
          <a:prstGeom prst="rect">
            <a:avLst/>
          </a:prstGeom>
        </p:spPr>
      </p:pic>
      <p:sp>
        <p:nvSpPr>
          <p:cNvPr id="24" name="Text 17"/>
          <p:cNvSpPr txBox="1"/>
          <p:nvPr/>
        </p:nvSpPr>
        <p:spPr>
          <a:xfrm>
            <a:off x="6291072" y="3410712"/>
            <a:ext cx="1014984" cy="11887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RO operation &amp; upkeep</a:t>
            </a:r>
            <a:endParaRPr lang="en-US" sz="1450" dirty="0"/>
          </a:p>
        </p:txBody>
      </p:sp>
      <p:sp>
        <p:nvSpPr>
          <p:cNvPr id="25" name="Shape 18"/>
          <p:cNvSpPr/>
          <p:nvPr/>
        </p:nvSpPr>
        <p:spPr>
          <a:xfrm>
            <a:off x="7598664" y="3410712"/>
            <a:ext cx="1929384" cy="1188720"/>
          </a:xfrm>
          <a:prstGeom prst="roundRect">
            <a:avLst>
              <a:gd name="adj" fmla="val 615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6" name="Shape 19"/>
          <p:cNvSpPr/>
          <p:nvPr/>
        </p:nvSpPr>
        <p:spPr>
          <a:xfrm>
            <a:off x="7763256" y="3753612"/>
            <a:ext cx="502920" cy="502920"/>
          </a:xfrm>
          <a:prstGeom prst="ellipse">
            <a:avLst/>
          </a:prstGeom>
          <a:solidFill>
            <a:srgbClr val="B86E0C"/>
          </a:solidFill>
          <a:ln w="12700">
            <a:solidFill>
              <a:srgbClr val="B86E0C"/>
            </a:solidFill>
            <a:prstDash val="solid"/>
          </a:ln>
        </p:spPr>
      </p:sp>
      <p:pic>
        <p:nvPicPr>
          <p:cNvPr id="27" name="Image 5" descr="preencoded.png">    </p:cNvPr>
          <p:cNvPicPr>
            <a:picLocks noChangeAspect="1"/>
          </p:cNvPicPr>
          <p:nvPr/>
        </p:nvPicPr>
        <p:blipFill>
          <a:blip r:embed="rId6"/>
          <a:stretch>
            <a:fillRect/>
          </a:stretch>
        </p:blipFill>
        <p:spPr>
          <a:xfrm>
            <a:off x="7883957" y="3874313"/>
            <a:ext cx="261518" cy="261518"/>
          </a:xfrm>
          <a:prstGeom prst="rect">
            <a:avLst/>
          </a:prstGeom>
        </p:spPr>
      </p:pic>
      <p:sp>
        <p:nvSpPr>
          <p:cNvPr id="28" name="Text 20"/>
          <p:cNvSpPr txBox="1"/>
          <p:nvPr/>
        </p:nvSpPr>
        <p:spPr>
          <a:xfrm>
            <a:off x="8403336" y="3410712"/>
            <a:ext cx="1014984" cy="11887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Water safety practices</a:t>
            </a:r>
            <a:endParaRPr lang="en-US" sz="1450" dirty="0"/>
          </a:p>
        </p:txBody>
      </p:sp>
      <p:sp>
        <p:nvSpPr>
          <p:cNvPr id="29" name="Shape 21"/>
          <p:cNvSpPr/>
          <p:nvPr/>
        </p:nvSpPr>
        <p:spPr>
          <a:xfrm>
            <a:off x="9710928" y="3410712"/>
            <a:ext cx="1929384" cy="1188720"/>
          </a:xfrm>
          <a:prstGeom prst="roundRect">
            <a:avLst>
              <a:gd name="adj" fmla="val 6154"/>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0" name="Shape 22"/>
          <p:cNvSpPr/>
          <p:nvPr/>
        </p:nvSpPr>
        <p:spPr>
          <a:xfrm>
            <a:off x="9875520" y="3753612"/>
            <a:ext cx="502920" cy="502920"/>
          </a:xfrm>
          <a:prstGeom prst="ellipse">
            <a:avLst/>
          </a:prstGeom>
          <a:solidFill>
            <a:srgbClr val="B86E0C"/>
          </a:solidFill>
          <a:ln w="12700">
            <a:solidFill>
              <a:srgbClr val="B86E0C"/>
            </a:solidFill>
            <a:prstDash val="solid"/>
          </a:ln>
        </p:spPr>
      </p:sp>
      <p:pic>
        <p:nvPicPr>
          <p:cNvPr id="31" name="Image 6" descr="preencoded.png">    </p:cNvPr>
          <p:cNvPicPr>
            <a:picLocks noChangeAspect="1"/>
          </p:cNvPicPr>
          <p:nvPr/>
        </p:nvPicPr>
        <p:blipFill>
          <a:blip r:embed="rId7"/>
          <a:stretch>
            <a:fillRect/>
          </a:stretch>
        </p:blipFill>
        <p:spPr>
          <a:xfrm>
            <a:off x="9996221" y="3874313"/>
            <a:ext cx="261518" cy="261518"/>
          </a:xfrm>
          <a:prstGeom prst="rect">
            <a:avLst/>
          </a:prstGeom>
        </p:spPr>
      </p:pic>
      <p:sp>
        <p:nvSpPr>
          <p:cNvPr id="32" name="Text 23"/>
          <p:cNvSpPr txBox="1"/>
          <p:nvPr/>
        </p:nvSpPr>
        <p:spPr>
          <a:xfrm>
            <a:off x="10515600" y="3410712"/>
            <a:ext cx="1014984" cy="11887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Hygiene &amp; sanitation awareness</a:t>
            </a:r>
            <a:endParaRPr lang="en-US" sz="1450" dirty="0"/>
          </a:p>
        </p:txBody>
      </p:sp>
      <p:sp>
        <p:nvSpPr>
          <p:cNvPr id="33" name="Text 24"/>
          <p:cNvSpPr txBox="1"/>
          <p:nvPr/>
        </p:nvSpPr>
        <p:spPr>
          <a:xfrm>
            <a:off x="5486400" y="4846320"/>
            <a:ext cx="45720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COMMUNITY LOOP</a:t>
            </a:r>
            <a:endParaRPr lang="en-US" sz="1200" dirty="0"/>
          </a:p>
        </p:txBody>
      </p:sp>
      <p:sp>
        <p:nvSpPr>
          <p:cNvPr id="34" name="Shape 25"/>
          <p:cNvSpPr/>
          <p:nvPr/>
        </p:nvSpPr>
        <p:spPr>
          <a:xfrm>
            <a:off x="5486400" y="5193792"/>
            <a:ext cx="2985516" cy="960120"/>
          </a:xfrm>
          <a:prstGeom prst="roundRect">
            <a:avLst>
              <a:gd name="adj" fmla="val 7619"/>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5" name="Shape 26"/>
          <p:cNvSpPr/>
          <p:nvPr/>
        </p:nvSpPr>
        <p:spPr>
          <a:xfrm>
            <a:off x="5650992" y="5422392"/>
            <a:ext cx="502920" cy="502920"/>
          </a:xfrm>
          <a:prstGeom prst="ellipse">
            <a:avLst/>
          </a:prstGeom>
          <a:solidFill>
            <a:srgbClr val="4A8A45"/>
          </a:solidFill>
          <a:ln w="12700">
            <a:solidFill>
              <a:srgbClr val="4A8A45"/>
            </a:solidFill>
            <a:prstDash val="solid"/>
          </a:ln>
        </p:spPr>
      </p:sp>
      <p:pic>
        <p:nvPicPr>
          <p:cNvPr id="36" name="Image 7" descr="preencoded.png">    </p:cNvPr>
          <p:cNvPicPr>
            <a:picLocks noChangeAspect="1"/>
          </p:cNvPicPr>
          <p:nvPr/>
        </p:nvPicPr>
        <p:blipFill>
          <a:blip r:embed="rId8"/>
          <a:stretch>
            <a:fillRect/>
          </a:stretch>
        </p:blipFill>
        <p:spPr>
          <a:xfrm>
            <a:off x="5771693" y="5543093"/>
            <a:ext cx="261518" cy="261518"/>
          </a:xfrm>
          <a:prstGeom prst="rect">
            <a:avLst/>
          </a:prstGeom>
        </p:spPr>
      </p:pic>
      <p:sp>
        <p:nvSpPr>
          <p:cNvPr id="37" name="Text 27"/>
          <p:cNvSpPr txBox="1"/>
          <p:nvPr/>
        </p:nvSpPr>
        <p:spPr>
          <a:xfrm>
            <a:off x="6291072" y="5193792"/>
            <a:ext cx="2071116" cy="9601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Awareness programmes in schools &amp; communities</a:t>
            </a:r>
            <a:endParaRPr lang="en-US" sz="1450" dirty="0"/>
          </a:p>
        </p:txBody>
      </p:sp>
      <p:sp>
        <p:nvSpPr>
          <p:cNvPr id="38" name="Shape 28"/>
          <p:cNvSpPr/>
          <p:nvPr/>
        </p:nvSpPr>
        <p:spPr>
          <a:xfrm>
            <a:off x="8654796" y="5193792"/>
            <a:ext cx="2985516" cy="960120"/>
          </a:xfrm>
          <a:prstGeom prst="roundRect">
            <a:avLst>
              <a:gd name="adj" fmla="val 7619"/>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9" name="Shape 29"/>
          <p:cNvSpPr/>
          <p:nvPr/>
        </p:nvSpPr>
        <p:spPr>
          <a:xfrm>
            <a:off x="8819388" y="5422392"/>
            <a:ext cx="502920" cy="502920"/>
          </a:xfrm>
          <a:prstGeom prst="ellipse">
            <a:avLst/>
          </a:prstGeom>
          <a:solidFill>
            <a:srgbClr val="4A8A45"/>
          </a:solidFill>
          <a:ln w="12700">
            <a:solidFill>
              <a:srgbClr val="4A8A45"/>
            </a:solidFill>
            <a:prstDash val="solid"/>
          </a:ln>
        </p:spPr>
      </p:sp>
      <p:pic>
        <p:nvPicPr>
          <p:cNvPr id="40" name="Image 8" descr="preencoded.png">    </p:cNvPr>
          <p:cNvPicPr>
            <a:picLocks noChangeAspect="1"/>
          </p:cNvPicPr>
          <p:nvPr/>
        </p:nvPicPr>
        <p:blipFill>
          <a:blip r:embed="rId9"/>
          <a:stretch>
            <a:fillRect/>
          </a:stretch>
        </p:blipFill>
        <p:spPr>
          <a:xfrm>
            <a:off x="8940089" y="5543093"/>
            <a:ext cx="261518" cy="261518"/>
          </a:xfrm>
          <a:prstGeom prst="rect">
            <a:avLst/>
          </a:prstGeom>
        </p:spPr>
      </p:pic>
      <p:sp>
        <p:nvSpPr>
          <p:cNvPr id="41" name="Text 30"/>
          <p:cNvSpPr txBox="1"/>
          <p:nvPr/>
        </p:nvSpPr>
        <p:spPr>
          <a:xfrm>
            <a:off x="9459468" y="5193792"/>
            <a:ext cx="2071116" cy="960120"/>
          </a:xfrm>
          <a:prstGeom prst="rect">
            <a:avLst/>
          </a:prstGeom>
          <a:noFill/>
          <a:ln/>
        </p:spPr>
        <p:txBody>
          <a:bodyPr wrap="square" lIns="0" tIns="0" rIns="0" bIns="0" rtlCol="0" anchor="ctr"/>
          <a:lstStyle/>
          <a:p>
            <a:pPr indent="0" marL="0">
              <a:buNone/>
            </a:pPr>
            <a:r>
              <a:rPr lang="en-US" sz="1450" b="1" dirty="0">
                <a:solidFill>
                  <a:srgbClr val="1B2B34"/>
                </a:solidFill>
                <a:latin typeface="Calibri" pitchFamily="34" charset="0"/>
                <a:ea typeface="Calibri" pitchFamily="34" charset="-122"/>
                <a:cs typeface="Calibri" pitchFamily="34" charset="-120"/>
              </a:rPr>
              <a:t>Feedback: surveys &amp; group discussions</a:t>
            </a:r>
            <a:endParaRPr lang="en-US" sz="1450" dirty="0"/>
          </a:p>
        </p:txBody>
      </p:sp>
      <p:sp>
        <p:nvSpPr>
          <p:cNvPr id="42" name="Text 31"/>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43" name="Text 32"/>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ROLES &amp; RESPONSIBILITIES</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Who Delivers the Project</a:t>
            </a:r>
            <a:endParaRPr lang="en-US" sz="3200" dirty="0"/>
          </a:p>
        </p:txBody>
      </p:sp>
      <p:sp>
        <p:nvSpPr>
          <p:cNvPr id="4" name="Shape 2"/>
          <p:cNvSpPr/>
          <p:nvPr/>
        </p:nvSpPr>
        <p:spPr>
          <a:xfrm>
            <a:off x="3355848" y="1417320"/>
            <a:ext cx="5486400" cy="1234440"/>
          </a:xfrm>
          <a:prstGeom prst="roundRect">
            <a:avLst>
              <a:gd name="adj" fmla="val 5926"/>
            </a:avLst>
          </a:prstGeom>
          <a:solidFill>
            <a:srgbClr val="0E5E6F"/>
          </a:solidFill>
          <a:ln w="9525">
            <a:solidFill>
              <a:srgbClr val="0E5E6F"/>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3584448" y="1645920"/>
            <a:ext cx="777240" cy="777240"/>
          </a:xfrm>
          <a:prstGeom prst="ellipse">
            <a:avLst/>
          </a:prstGeom>
          <a:solidFill>
            <a:srgbClr val="0A4552"/>
          </a:solidFill>
          <a:ln w="12700">
            <a:solidFill>
              <a:srgbClr val="0A4552"/>
            </a:solidFill>
            <a:prstDash val="solid"/>
          </a:ln>
        </p:spPr>
      </p:sp>
      <p:pic>
        <p:nvPicPr>
          <p:cNvPr id="6" name="Image 0" descr="preencoded.png">    </p:cNvPr>
          <p:cNvPicPr>
            <a:picLocks noChangeAspect="1"/>
          </p:cNvPicPr>
          <p:nvPr/>
        </p:nvPicPr>
        <p:blipFill>
          <a:blip r:embed="rId1"/>
          <a:stretch>
            <a:fillRect/>
          </a:stretch>
        </p:blipFill>
        <p:spPr>
          <a:xfrm>
            <a:off x="3770986" y="1832458"/>
            <a:ext cx="404165" cy="404165"/>
          </a:xfrm>
          <a:prstGeom prst="rect">
            <a:avLst/>
          </a:prstGeom>
        </p:spPr>
      </p:pic>
      <p:sp>
        <p:nvSpPr>
          <p:cNvPr id="7" name="Text 4"/>
          <p:cNvSpPr txBox="1"/>
          <p:nvPr/>
        </p:nvSpPr>
        <p:spPr>
          <a:xfrm>
            <a:off x="4526280" y="1536192"/>
            <a:ext cx="41148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Project Manager</a:t>
            </a:r>
            <a:endParaRPr lang="en-US" sz="2000" dirty="0"/>
          </a:p>
        </p:txBody>
      </p:sp>
      <p:sp>
        <p:nvSpPr>
          <p:cNvPr id="8" name="Text 5"/>
          <p:cNvSpPr txBox="1"/>
          <p:nvPr/>
        </p:nvSpPr>
        <p:spPr>
          <a:xfrm>
            <a:off x="4526280" y="2011680"/>
            <a:ext cx="4206240" cy="457200"/>
          </a:xfrm>
          <a:prstGeom prst="rect">
            <a:avLst/>
          </a:prstGeom>
          <a:noFill/>
          <a:ln/>
        </p:spPr>
        <p:txBody>
          <a:bodyPr wrap="square" lIns="0" tIns="0" rIns="0" bIns="0" rtlCol="0" anchor="t"/>
          <a:lstStyle/>
          <a:p>
            <a:pPr indent="0" marL="0">
              <a:buNone/>
            </a:pPr>
            <a:r>
              <a:rPr lang="en-US" sz="1400" dirty="0">
                <a:solidFill>
                  <a:srgbClr val="D6ECEF"/>
                </a:solidFill>
                <a:latin typeface="Calibri" pitchFamily="34" charset="0"/>
                <a:ea typeface="Calibri" pitchFamily="34" charset="-122"/>
                <a:cs typeface="Calibri" pitchFamily="34" charset="-120"/>
              </a:rPr>
              <a:t>Overall coordination, timelines, reporting &amp; field visits</a:t>
            </a:r>
            <a:endParaRPr lang="en-US" sz="1400" dirty="0"/>
          </a:p>
        </p:txBody>
      </p:sp>
      <p:sp>
        <p:nvSpPr>
          <p:cNvPr id="9" name="Shape 6"/>
          <p:cNvSpPr/>
          <p:nvPr/>
        </p:nvSpPr>
        <p:spPr>
          <a:xfrm>
            <a:off x="6095848" y="2651760"/>
            <a:ext cx="0" cy="411480"/>
          </a:xfrm>
          <a:prstGeom prst="line">
            <a:avLst/>
          </a:prstGeom>
          <a:noFill/>
          <a:ln w="19050">
            <a:solidFill>
              <a:srgbClr val="9FB3BA"/>
            </a:solidFill>
            <a:prstDash val="solid"/>
          </a:ln>
        </p:spPr>
      </p:sp>
      <p:sp>
        <p:nvSpPr>
          <p:cNvPr id="10" name="Shape 7"/>
          <p:cNvSpPr/>
          <p:nvPr/>
        </p:nvSpPr>
        <p:spPr>
          <a:xfrm>
            <a:off x="1851660" y="3063240"/>
            <a:ext cx="8449056" cy="0"/>
          </a:xfrm>
          <a:prstGeom prst="line">
            <a:avLst/>
          </a:prstGeom>
          <a:noFill/>
          <a:ln w="19050">
            <a:solidFill>
              <a:srgbClr val="9FB3BA"/>
            </a:solidFill>
            <a:prstDash val="solid"/>
          </a:ln>
        </p:spPr>
      </p:sp>
      <p:sp>
        <p:nvSpPr>
          <p:cNvPr id="11" name="Shape 8"/>
          <p:cNvSpPr/>
          <p:nvPr/>
        </p:nvSpPr>
        <p:spPr>
          <a:xfrm>
            <a:off x="1851660" y="3063240"/>
            <a:ext cx="0" cy="365760"/>
          </a:xfrm>
          <a:prstGeom prst="line">
            <a:avLst/>
          </a:prstGeom>
          <a:noFill/>
          <a:ln w="19050">
            <a:solidFill>
              <a:srgbClr val="9FB3BA"/>
            </a:solidFill>
            <a:prstDash val="solid"/>
          </a:ln>
        </p:spPr>
      </p:sp>
      <p:sp>
        <p:nvSpPr>
          <p:cNvPr id="12" name="Shape 9"/>
          <p:cNvSpPr/>
          <p:nvPr/>
        </p:nvSpPr>
        <p:spPr>
          <a:xfrm>
            <a:off x="548640" y="3429000"/>
            <a:ext cx="2606040" cy="2697480"/>
          </a:xfrm>
          <a:prstGeom prst="roundRect">
            <a:avLst>
              <a:gd name="adj" fmla="val 2807"/>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3" name="Shape 10"/>
          <p:cNvSpPr/>
          <p:nvPr/>
        </p:nvSpPr>
        <p:spPr>
          <a:xfrm>
            <a:off x="1513332" y="3630168"/>
            <a:ext cx="676656" cy="676656"/>
          </a:xfrm>
          <a:prstGeom prst="ellipse">
            <a:avLst/>
          </a:prstGeom>
          <a:solidFill>
            <a:srgbClr val="B86E0C"/>
          </a:solidFill>
          <a:ln w="12700">
            <a:solidFill>
              <a:srgbClr val="B86E0C"/>
            </a:solidFill>
            <a:prstDash val="solid"/>
          </a:ln>
        </p:spPr>
      </p:sp>
      <p:pic>
        <p:nvPicPr>
          <p:cNvPr id="14" name="Image 1" descr="preencoded.png">    </p:cNvPr>
          <p:cNvPicPr>
            <a:picLocks noChangeAspect="1"/>
          </p:cNvPicPr>
          <p:nvPr/>
        </p:nvPicPr>
        <p:blipFill>
          <a:blip r:embed="rId2"/>
          <a:stretch>
            <a:fillRect/>
          </a:stretch>
        </p:blipFill>
        <p:spPr>
          <a:xfrm>
            <a:off x="1675729" y="3792565"/>
            <a:ext cx="351861" cy="351861"/>
          </a:xfrm>
          <a:prstGeom prst="rect">
            <a:avLst/>
          </a:prstGeom>
        </p:spPr>
      </p:pic>
      <p:sp>
        <p:nvSpPr>
          <p:cNvPr id="15" name="Text 11"/>
          <p:cNvSpPr txBox="1"/>
          <p:nvPr/>
        </p:nvSpPr>
        <p:spPr>
          <a:xfrm>
            <a:off x="685800" y="4434840"/>
            <a:ext cx="2331720" cy="640080"/>
          </a:xfrm>
          <a:prstGeom prst="rect">
            <a:avLst/>
          </a:prstGeom>
          <a:noFill/>
          <a:ln/>
        </p:spPr>
        <p:txBody>
          <a:bodyPr wrap="square" lIns="0" tIns="0" rIns="0" bIns="0" rtlCol="0" anchor="ctr"/>
          <a:lstStyle/>
          <a:p>
            <a:pPr algn="ctr" indent="0" marL="0">
              <a:buNone/>
            </a:pPr>
            <a:r>
              <a:rPr lang="en-US" sz="1600" b="1" dirty="0">
                <a:solidFill>
                  <a:srgbClr val="1B2B34"/>
                </a:solidFill>
                <a:latin typeface="Calibri" pitchFamily="34" charset="0"/>
                <a:ea typeface="Calibri" pitchFamily="34" charset="-122"/>
                <a:cs typeface="Calibri" pitchFamily="34" charset="-120"/>
              </a:rPr>
              <a:t>Technical Coordinator</a:t>
            </a:r>
            <a:endParaRPr lang="en-US" sz="1600" dirty="0"/>
          </a:p>
        </p:txBody>
      </p:sp>
      <p:sp>
        <p:nvSpPr>
          <p:cNvPr id="16" name="Text 12"/>
          <p:cNvSpPr txBox="1"/>
          <p:nvPr/>
        </p:nvSpPr>
        <p:spPr>
          <a:xfrm>
            <a:off x="731520" y="5138928"/>
            <a:ext cx="2240280" cy="86868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Installation, vendors, testing, technical issues &amp; handover</a:t>
            </a:r>
            <a:endParaRPr lang="en-US" sz="1300" dirty="0"/>
          </a:p>
        </p:txBody>
      </p:sp>
      <p:sp>
        <p:nvSpPr>
          <p:cNvPr id="17" name="Shape 13"/>
          <p:cNvSpPr/>
          <p:nvPr/>
        </p:nvSpPr>
        <p:spPr>
          <a:xfrm>
            <a:off x="4668012" y="3063240"/>
            <a:ext cx="0" cy="365760"/>
          </a:xfrm>
          <a:prstGeom prst="line">
            <a:avLst/>
          </a:prstGeom>
          <a:noFill/>
          <a:ln w="19050">
            <a:solidFill>
              <a:srgbClr val="9FB3BA"/>
            </a:solidFill>
            <a:prstDash val="solid"/>
          </a:ln>
        </p:spPr>
      </p:sp>
      <p:sp>
        <p:nvSpPr>
          <p:cNvPr id="18" name="Shape 14"/>
          <p:cNvSpPr/>
          <p:nvPr/>
        </p:nvSpPr>
        <p:spPr>
          <a:xfrm>
            <a:off x="3364992" y="3429000"/>
            <a:ext cx="2606040" cy="2697480"/>
          </a:xfrm>
          <a:prstGeom prst="roundRect">
            <a:avLst>
              <a:gd name="adj" fmla="val 2807"/>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9" name="Shape 15"/>
          <p:cNvSpPr/>
          <p:nvPr/>
        </p:nvSpPr>
        <p:spPr>
          <a:xfrm>
            <a:off x="4329684" y="3630168"/>
            <a:ext cx="676656" cy="676656"/>
          </a:xfrm>
          <a:prstGeom prst="ellipse">
            <a:avLst/>
          </a:prstGeom>
          <a:solidFill>
            <a:srgbClr val="2F9AAE"/>
          </a:solidFill>
          <a:ln w="12700">
            <a:solidFill>
              <a:srgbClr val="2F9AAE"/>
            </a:solidFill>
            <a:prstDash val="solid"/>
          </a:ln>
        </p:spPr>
      </p:sp>
      <p:pic>
        <p:nvPicPr>
          <p:cNvPr id="20" name="Image 2" descr="preencoded.png">    </p:cNvPr>
          <p:cNvPicPr>
            <a:picLocks noChangeAspect="1"/>
          </p:cNvPicPr>
          <p:nvPr/>
        </p:nvPicPr>
        <p:blipFill>
          <a:blip r:embed="rId3"/>
          <a:stretch>
            <a:fillRect/>
          </a:stretch>
        </p:blipFill>
        <p:spPr>
          <a:xfrm>
            <a:off x="4492081" y="3792565"/>
            <a:ext cx="351861" cy="351861"/>
          </a:xfrm>
          <a:prstGeom prst="rect">
            <a:avLst/>
          </a:prstGeom>
        </p:spPr>
      </p:pic>
      <p:sp>
        <p:nvSpPr>
          <p:cNvPr id="21" name="Text 16"/>
          <p:cNvSpPr txBox="1"/>
          <p:nvPr/>
        </p:nvSpPr>
        <p:spPr>
          <a:xfrm>
            <a:off x="3502152" y="4434840"/>
            <a:ext cx="2331720" cy="640080"/>
          </a:xfrm>
          <a:prstGeom prst="rect">
            <a:avLst/>
          </a:prstGeom>
          <a:noFill/>
          <a:ln/>
        </p:spPr>
        <p:txBody>
          <a:bodyPr wrap="square" lIns="0" tIns="0" rIns="0" bIns="0" rtlCol="0" anchor="ctr"/>
          <a:lstStyle/>
          <a:p>
            <a:pPr algn="ctr" indent="0" marL="0">
              <a:buNone/>
            </a:pPr>
            <a:r>
              <a:rPr lang="en-US" sz="1600" b="1" dirty="0">
                <a:solidFill>
                  <a:srgbClr val="1B2B34"/>
                </a:solidFill>
                <a:latin typeface="Calibri" pitchFamily="34" charset="0"/>
                <a:ea typeface="Calibri" pitchFamily="34" charset="-122"/>
                <a:cs typeface="Calibri" pitchFamily="34" charset="-120"/>
              </a:rPr>
              <a:t>Water &amp; Sanitation Program Officer</a:t>
            </a:r>
            <a:endParaRPr lang="en-US" sz="1600" dirty="0"/>
          </a:p>
        </p:txBody>
      </p:sp>
      <p:sp>
        <p:nvSpPr>
          <p:cNvPr id="22" name="Text 17"/>
          <p:cNvSpPr txBox="1"/>
          <p:nvPr/>
        </p:nvSpPr>
        <p:spPr>
          <a:xfrm>
            <a:off x="3547872" y="5138928"/>
            <a:ext cx="2240280" cy="86868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Water testing, hygiene awareness, training &amp; maintenance coordination</a:t>
            </a:r>
            <a:endParaRPr lang="en-US" sz="1300" dirty="0"/>
          </a:p>
        </p:txBody>
      </p:sp>
      <p:sp>
        <p:nvSpPr>
          <p:cNvPr id="23" name="Shape 18"/>
          <p:cNvSpPr/>
          <p:nvPr/>
        </p:nvSpPr>
        <p:spPr>
          <a:xfrm>
            <a:off x="7484364" y="3063240"/>
            <a:ext cx="0" cy="365760"/>
          </a:xfrm>
          <a:prstGeom prst="line">
            <a:avLst/>
          </a:prstGeom>
          <a:noFill/>
          <a:ln w="19050">
            <a:solidFill>
              <a:srgbClr val="9FB3BA"/>
            </a:solidFill>
            <a:prstDash val="solid"/>
          </a:ln>
        </p:spPr>
      </p:sp>
      <p:sp>
        <p:nvSpPr>
          <p:cNvPr id="24" name="Shape 19"/>
          <p:cNvSpPr/>
          <p:nvPr/>
        </p:nvSpPr>
        <p:spPr>
          <a:xfrm>
            <a:off x="6181344" y="3429000"/>
            <a:ext cx="2606040" cy="2697480"/>
          </a:xfrm>
          <a:prstGeom prst="roundRect">
            <a:avLst>
              <a:gd name="adj" fmla="val 2807"/>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5" name="Shape 20"/>
          <p:cNvSpPr/>
          <p:nvPr/>
        </p:nvSpPr>
        <p:spPr>
          <a:xfrm>
            <a:off x="7146036" y="3630168"/>
            <a:ext cx="676656" cy="676656"/>
          </a:xfrm>
          <a:prstGeom prst="ellipse">
            <a:avLst/>
          </a:prstGeom>
          <a:solidFill>
            <a:srgbClr val="B94E2A"/>
          </a:solidFill>
          <a:ln w="12700">
            <a:solidFill>
              <a:srgbClr val="B94E2A"/>
            </a:solidFill>
            <a:prstDash val="solid"/>
          </a:ln>
        </p:spPr>
      </p:sp>
      <p:pic>
        <p:nvPicPr>
          <p:cNvPr id="26" name="Image 3" descr="preencoded.png">    </p:cNvPr>
          <p:cNvPicPr>
            <a:picLocks noChangeAspect="1"/>
          </p:cNvPicPr>
          <p:nvPr/>
        </p:nvPicPr>
        <p:blipFill>
          <a:blip r:embed="rId4"/>
          <a:stretch>
            <a:fillRect/>
          </a:stretch>
        </p:blipFill>
        <p:spPr>
          <a:xfrm>
            <a:off x="7308433" y="3792565"/>
            <a:ext cx="351861" cy="351861"/>
          </a:xfrm>
          <a:prstGeom prst="rect">
            <a:avLst/>
          </a:prstGeom>
        </p:spPr>
      </p:pic>
      <p:sp>
        <p:nvSpPr>
          <p:cNvPr id="27" name="Text 21"/>
          <p:cNvSpPr txBox="1"/>
          <p:nvPr/>
        </p:nvSpPr>
        <p:spPr>
          <a:xfrm>
            <a:off x="6318504" y="4434840"/>
            <a:ext cx="2331720" cy="640080"/>
          </a:xfrm>
          <a:prstGeom prst="rect">
            <a:avLst/>
          </a:prstGeom>
          <a:noFill/>
          <a:ln/>
        </p:spPr>
        <p:txBody>
          <a:bodyPr wrap="square" lIns="0" tIns="0" rIns="0" bIns="0" rtlCol="0" anchor="ctr"/>
          <a:lstStyle/>
          <a:p>
            <a:pPr algn="ctr" indent="0" marL="0">
              <a:buNone/>
            </a:pPr>
            <a:r>
              <a:rPr lang="en-US" sz="1600" b="1" dirty="0">
                <a:solidFill>
                  <a:srgbClr val="1B2B34"/>
                </a:solidFill>
                <a:latin typeface="Calibri" pitchFamily="34" charset="0"/>
                <a:ea typeface="Calibri" pitchFamily="34" charset="-122"/>
                <a:cs typeface="Calibri" pitchFamily="34" charset="-120"/>
              </a:rPr>
              <a:t>Project Supervisor</a:t>
            </a:r>
            <a:endParaRPr lang="en-US" sz="1600" dirty="0"/>
          </a:p>
        </p:txBody>
      </p:sp>
      <p:sp>
        <p:nvSpPr>
          <p:cNvPr id="28" name="Text 22"/>
          <p:cNvSpPr txBox="1"/>
          <p:nvPr/>
        </p:nvSpPr>
        <p:spPr>
          <a:xfrm>
            <a:off x="6364224" y="5138928"/>
            <a:ext cx="2240280" cy="86868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School &amp; community coordination, feedback, data collection &amp; local issues</a:t>
            </a:r>
            <a:endParaRPr lang="en-US" sz="1300" dirty="0"/>
          </a:p>
        </p:txBody>
      </p:sp>
      <p:sp>
        <p:nvSpPr>
          <p:cNvPr id="29" name="Shape 23"/>
          <p:cNvSpPr/>
          <p:nvPr/>
        </p:nvSpPr>
        <p:spPr>
          <a:xfrm>
            <a:off x="10300716" y="3063240"/>
            <a:ext cx="0" cy="365760"/>
          </a:xfrm>
          <a:prstGeom prst="line">
            <a:avLst/>
          </a:prstGeom>
          <a:noFill/>
          <a:ln w="19050">
            <a:solidFill>
              <a:srgbClr val="9FB3BA"/>
            </a:solidFill>
            <a:prstDash val="solid"/>
          </a:ln>
        </p:spPr>
      </p:sp>
      <p:sp>
        <p:nvSpPr>
          <p:cNvPr id="30" name="Shape 24"/>
          <p:cNvSpPr/>
          <p:nvPr/>
        </p:nvSpPr>
        <p:spPr>
          <a:xfrm>
            <a:off x="8997696" y="3429000"/>
            <a:ext cx="2606040" cy="2697480"/>
          </a:xfrm>
          <a:prstGeom prst="roundRect">
            <a:avLst>
              <a:gd name="adj" fmla="val 2807"/>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1" name="Shape 25"/>
          <p:cNvSpPr/>
          <p:nvPr/>
        </p:nvSpPr>
        <p:spPr>
          <a:xfrm>
            <a:off x="9962388" y="3630168"/>
            <a:ext cx="676656" cy="676656"/>
          </a:xfrm>
          <a:prstGeom prst="ellipse">
            <a:avLst/>
          </a:prstGeom>
          <a:solidFill>
            <a:srgbClr val="4A8A45"/>
          </a:solidFill>
          <a:ln w="12700">
            <a:solidFill>
              <a:srgbClr val="4A8A45"/>
            </a:solidFill>
            <a:prstDash val="solid"/>
          </a:ln>
        </p:spPr>
      </p:sp>
      <p:pic>
        <p:nvPicPr>
          <p:cNvPr id="32" name="Image 4" descr="preencoded.png">    </p:cNvPr>
          <p:cNvPicPr>
            <a:picLocks noChangeAspect="1"/>
          </p:cNvPicPr>
          <p:nvPr/>
        </p:nvPicPr>
        <p:blipFill>
          <a:blip r:embed="rId5"/>
          <a:stretch>
            <a:fillRect/>
          </a:stretch>
        </p:blipFill>
        <p:spPr>
          <a:xfrm>
            <a:off x="10124785" y="3792565"/>
            <a:ext cx="351861" cy="351861"/>
          </a:xfrm>
          <a:prstGeom prst="rect">
            <a:avLst/>
          </a:prstGeom>
        </p:spPr>
      </p:pic>
      <p:sp>
        <p:nvSpPr>
          <p:cNvPr id="33" name="Text 26"/>
          <p:cNvSpPr txBox="1"/>
          <p:nvPr/>
        </p:nvSpPr>
        <p:spPr>
          <a:xfrm>
            <a:off x="9134856" y="4434840"/>
            <a:ext cx="2331720" cy="640080"/>
          </a:xfrm>
          <a:prstGeom prst="rect">
            <a:avLst/>
          </a:prstGeom>
          <a:noFill/>
          <a:ln/>
        </p:spPr>
        <p:txBody>
          <a:bodyPr wrap="square" lIns="0" tIns="0" rIns="0" bIns="0" rtlCol="0" anchor="ctr"/>
          <a:lstStyle/>
          <a:p>
            <a:pPr algn="ctr" indent="0" marL="0">
              <a:buNone/>
            </a:pPr>
            <a:r>
              <a:rPr lang="en-US" sz="1600" b="1" dirty="0">
                <a:solidFill>
                  <a:srgbClr val="1B2B34"/>
                </a:solidFill>
                <a:latin typeface="Calibri" pitchFamily="34" charset="0"/>
                <a:ea typeface="Calibri" pitchFamily="34" charset="-122"/>
                <a:cs typeface="Calibri" pitchFamily="34" charset="-120"/>
              </a:rPr>
              <a:t>Admin &amp; Finance Executive</a:t>
            </a:r>
            <a:endParaRPr lang="en-US" sz="1600" dirty="0"/>
          </a:p>
        </p:txBody>
      </p:sp>
      <p:sp>
        <p:nvSpPr>
          <p:cNvPr id="34" name="Text 27"/>
          <p:cNvSpPr txBox="1"/>
          <p:nvPr/>
        </p:nvSpPr>
        <p:spPr>
          <a:xfrm>
            <a:off x="9180576" y="5138928"/>
            <a:ext cx="2240280" cy="86868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Procurement, payments, records, financial documentation &amp; compliance</a:t>
            </a:r>
            <a:endParaRPr lang="en-US" sz="1300" dirty="0"/>
          </a:p>
        </p:txBody>
      </p:sp>
      <p:sp>
        <p:nvSpPr>
          <p:cNvPr id="35" name="Text 28"/>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36" name="Text 29"/>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WHEN IT HAPPENS</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Project Timeline: Month 1 to Month 12</a:t>
            </a:r>
            <a:endParaRPr lang="en-US" sz="3200" dirty="0"/>
          </a:p>
        </p:txBody>
      </p:sp>
      <p:sp>
        <p:nvSpPr>
          <p:cNvPr id="4" name="Shape 2"/>
          <p:cNvSpPr/>
          <p:nvPr/>
        </p:nvSpPr>
        <p:spPr>
          <a:xfrm>
            <a:off x="3108960" y="1481328"/>
            <a:ext cx="710946" cy="4846320"/>
          </a:xfrm>
          <a:prstGeom prst="rect">
            <a:avLst/>
          </a:prstGeom>
          <a:solidFill>
            <a:srgbClr val="F2F5F6"/>
          </a:solidFill>
          <a:ln w="12700">
            <a:solidFill>
              <a:srgbClr val="F2F5F6"/>
            </a:solidFill>
            <a:prstDash val="solid"/>
          </a:ln>
        </p:spPr>
      </p:sp>
      <p:sp>
        <p:nvSpPr>
          <p:cNvPr id="5" name="Text 3"/>
          <p:cNvSpPr txBox="1"/>
          <p:nvPr/>
        </p:nvSpPr>
        <p:spPr>
          <a:xfrm>
            <a:off x="3108960"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M1</a:t>
            </a:r>
            <a:endParaRPr lang="en-US" sz="1200" dirty="0"/>
          </a:p>
        </p:txBody>
      </p:sp>
      <p:sp>
        <p:nvSpPr>
          <p:cNvPr id="6" name="Text 4"/>
          <p:cNvSpPr txBox="1"/>
          <p:nvPr/>
        </p:nvSpPr>
        <p:spPr>
          <a:xfrm>
            <a:off x="3819906"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M2</a:t>
            </a:r>
            <a:endParaRPr lang="en-US" sz="1200" dirty="0"/>
          </a:p>
        </p:txBody>
      </p:sp>
      <p:sp>
        <p:nvSpPr>
          <p:cNvPr id="7" name="Shape 5"/>
          <p:cNvSpPr/>
          <p:nvPr/>
        </p:nvSpPr>
        <p:spPr>
          <a:xfrm>
            <a:off x="4530852" y="1481328"/>
            <a:ext cx="710946" cy="4846320"/>
          </a:xfrm>
          <a:prstGeom prst="rect">
            <a:avLst/>
          </a:prstGeom>
          <a:solidFill>
            <a:srgbClr val="F2F5F6"/>
          </a:solidFill>
          <a:ln w="12700">
            <a:solidFill>
              <a:srgbClr val="F2F5F6"/>
            </a:solidFill>
            <a:prstDash val="solid"/>
          </a:ln>
        </p:spPr>
      </p:sp>
      <p:sp>
        <p:nvSpPr>
          <p:cNvPr id="8" name="Text 6"/>
          <p:cNvSpPr txBox="1"/>
          <p:nvPr/>
        </p:nvSpPr>
        <p:spPr>
          <a:xfrm>
            <a:off x="4530852"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M3</a:t>
            </a:r>
            <a:endParaRPr lang="en-US" sz="1200" dirty="0"/>
          </a:p>
        </p:txBody>
      </p:sp>
      <p:sp>
        <p:nvSpPr>
          <p:cNvPr id="9" name="Text 7"/>
          <p:cNvSpPr txBox="1"/>
          <p:nvPr/>
        </p:nvSpPr>
        <p:spPr>
          <a:xfrm>
            <a:off x="5241798"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M4</a:t>
            </a:r>
            <a:endParaRPr lang="en-US" sz="1200" dirty="0"/>
          </a:p>
        </p:txBody>
      </p:sp>
      <p:sp>
        <p:nvSpPr>
          <p:cNvPr id="10" name="Shape 8"/>
          <p:cNvSpPr/>
          <p:nvPr/>
        </p:nvSpPr>
        <p:spPr>
          <a:xfrm>
            <a:off x="5952744" y="1481328"/>
            <a:ext cx="710946" cy="4846320"/>
          </a:xfrm>
          <a:prstGeom prst="rect">
            <a:avLst/>
          </a:prstGeom>
          <a:solidFill>
            <a:srgbClr val="F2F5F6"/>
          </a:solidFill>
          <a:ln w="12700">
            <a:solidFill>
              <a:srgbClr val="F2F5F6"/>
            </a:solidFill>
            <a:prstDash val="solid"/>
          </a:ln>
        </p:spPr>
      </p:sp>
      <p:sp>
        <p:nvSpPr>
          <p:cNvPr id="11" name="Text 9"/>
          <p:cNvSpPr txBox="1"/>
          <p:nvPr/>
        </p:nvSpPr>
        <p:spPr>
          <a:xfrm>
            <a:off x="5952744"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M5</a:t>
            </a:r>
            <a:endParaRPr lang="en-US" sz="1200" dirty="0"/>
          </a:p>
        </p:txBody>
      </p:sp>
      <p:sp>
        <p:nvSpPr>
          <p:cNvPr id="12" name="Text 10"/>
          <p:cNvSpPr txBox="1"/>
          <p:nvPr/>
        </p:nvSpPr>
        <p:spPr>
          <a:xfrm>
            <a:off x="6663690"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M6</a:t>
            </a:r>
            <a:endParaRPr lang="en-US" sz="1200" dirty="0"/>
          </a:p>
        </p:txBody>
      </p:sp>
      <p:sp>
        <p:nvSpPr>
          <p:cNvPr id="13" name="Shape 11"/>
          <p:cNvSpPr/>
          <p:nvPr/>
        </p:nvSpPr>
        <p:spPr>
          <a:xfrm>
            <a:off x="7374636" y="1481328"/>
            <a:ext cx="710946" cy="4846320"/>
          </a:xfrm>
          <a:prstGeom prst="rect">
            <a:avLst/>
          </a:prstGeom>
          <a:solidFill>
            <a:srgbClr val="F2F5F6"/>
          </a:solidFill>
          <a:ln w="12700">
            <a:solidFill>
              <a:srgbClr val="F2F5F6"/>
            </a:solidFill>
            <a:prstDash val="solid"/>
          </a:ln>
        </p:spPr>
      </p:sp>
      <p:sp>
        <p:nvSpPr>
          <p:cNvPr id="14" name="Text 12"/>
          <p:cNvSpPr txBox="1"/>
          <p:nvPr/>
        </p:nvSpPr>
        <p:spPr>
          <a:xfrm>
            <a:off x="7374636"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M7</a:t>
            </a:r>
            <a:endParaRPr lang="en-US" sz="1200" dirty="0"/>
          </a:p>
        </p:txBody>
      </p:sp>
      <p:sp>
        <p:nvSpPr>
          <p:cNvPr id="15" name="Text 13"/>
          <p:cNvSpPr txBox="1"/>
          <p:nvPr/>
        </p:nvSpPr>
        <p:spPr>
          <a:xfrm>
            <a:off x="8085582"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M8</a:t>
            </a:r>
            <a:endParaRPr lang="en-US" sz="1200" dirty="0"/>
          </a:p>
        </p:txBody>
      </p:sp>
      <p:sp>
        <p:nvSpPr>
          <p:cNvPr id="16" name="Shape 14"/>
          <p:cNvSpPr/>
          <p:nvPr/>
        </p:nvSpPr>
        <p:spPr>
          <a:xfrm>
            <a:off x="8796528" y="1481328"/>
            <a:ext cx="710946" cy="4846320"/>
          </a:xfrm>
          <a:prstGeom prst="rect">
            <a:avLst/>
          </a:prstGeom>
          <a:solidFill>
            <a:srgbClr val="F2F5F6"/>
          </a:solidFill>
          <a:ln w="12700">
            <a:solidFill>
              <a:srgbClr val="F2F5F6"/>
            </a:solidFill>
            <a:prstDash val="solid"/>
          </a:ln>
        </p:spPr>
      </p:sp>
      <p:sp>
        <p:nvSpPr>
          <p:cNvPr id="17" name="Text 15"/>
          <p:cNvSpPr txBox="1"/>
          <p:nvPr/>
        </p:nvSpPr>
        <p:spPr>
          <a:xfrm>
            <a:off x="8796528"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M9</a:t>
            </a:r>
            <a:endParaRPr lang="en-US" sz="1200" dirty="0"/>
          </a:p>
        </p:txBody>
      </p:sp>
      <p:sp>
        <p:nvSpPr>
          <p:cNvPr id="18" name="Text 16"/>
          <p:cNvSpPr txBox="1"/>
          <p:nvPr/>
        </p:nvSpPr>
        <p:spPr>
          <a:xfrm>
            <a:off x="9507474"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M10</a:t>
            </a:r>
            <a:endParaRPr lang="en-US" sz="1200" dirty="0"/>
          </a:p>
        </p:txBody>
      </p:sp>
      <p:sp>
        <p:nvSpPr>
          <p:cNvPr id="19" name="Shape 17"/>
          <p:cNvSpPr/>
          <p:nvPr/>
        </p:nvSpPr>
        <p:spPr>
          <a:xfrm>
            <a:off x="10218420" y="1481328"/>
            <a:ext cx="710946" cy="4846320"/>
          </a:xfrm>
          <a:prstGeom prst="rect">
            <a:avLst/>
          </a:prstGeom>
          <a:solidFill>
            <a:srgbClr val="F2F5F6"/>
          </a:solidFill>
          <a:ln w="12700">
            <a:solidFill>
              <a:srgbClr val="F2F5F6"/>
            </a:solidFill>
            <a:prstDash val="solid"/>
          </a:ln>
        </p:spPr>
      </p:sp>
      <p:sp>
        <p:nvSpPr>
          <p:cNvPr id="20" name="Text 18"/>
          <p:cNvSpPr txBox="1"/>
          <p:nvPr/>
        </p:nvSpPr>
        <p:spPr>
          <a:xfrm>
            <a:off x="10218420"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M11</a:t>
            </a:r>
            <a:endParaRPr lang="en-US" sz="1200" dirty="0"/>
          </a:p>
        </p:txBody>
      </p:sp>
      <p:sp>
        <p:nvSpPr>
          <p:cNvPr id="21" name="Text 19"/>
          <p:cNvSpPr txBox="1"/>
          <p:nvPr/>
        </p:nvSpPr>
        <p:spPr>
          <a:xfrm>
            <a:off x="10929366" y="1536192"/>
            <a:ext cx="710946" cy="320040"/>
          </a:xfrm>
          <a:prstGeom prst="rect">
            <a:avLst/>
          </a:prstGeom>
          <a:noFill/>
          <a:ln/>
        </p:spPr>
        <p:txBody>
          <a:bodyPr wrap="square" lIns="0" tIns="0" rIns="0" bIns="0" rtlCol="0" anchor="t"/>
          <a:lstStyle/>
          <a:p>
            <a:pPr algn="ctr" indent="0" marL="0">
              <a:buNone/>
            </a:pPr>
            <a:r>
              <a:rPr lang="en-US" sz="1200" b="1" dirty="0">
                <a:solidFill>
                  <a:srgbClr val="5B6770"/>
                </a:solidFill>
                <a:latin typeface="Calibri" pitchFamily="34" charset="0"/>
                <a:ea typeface="Calibri" pitchFamily="34" charset="-122"/>
                <a:cs typeface="Calibri" pitchFamily="34" charset="-120"/>
              </a:rPr>
              <a:t>M12</a:t>
            </a:r>
            <a:endParaRPr lang="en-US" sz="1200" dirty="0"/>
          </a:p>
        </p:txBody>
      </p:sp>
      <p:sp>
        <p:nvSpPr>
          <p:cNvPr id="22" name="Shape 20"/>
          <p:cNvSpPr/>
          <p:nvPr/>
        </p:nvSpPr>
        <p:spPr>
          <a:xfrm>
            <a:off x="548640" y="2048256"/>
            <a:ext cx="512064" cy="512064"/>
          </a:xfrm>
          <a:prstGeom prst="ellipse">
            <a:avLst/>
          </a:prstGeom>
          <a:solidFill>
            <a:srgbClr val="0E5E6F"/>
          </a:solidFill>
          <a:ln w="12700">
            <a:solidFill>
              <a:srgbClr val="0E5E6F"/>
            </a:solidFill>
            <a:prstDash val="solid"/>
          </a:ln>
        </p:spPr>
      </p:sp>
      <p:pic>
        <p:nvPicPr>
          <p:cNvPr id="23" name="Image 0" descr="preencoded.png">    </p:cNvPr>
          <p:cNvPicPr>
            <a:picLocks noChangeAspect="1"/>
          </p:cNvPicPr>
          <p:nvPr/>
        </p:nvPicPr>
        <p:blipFill>
          <a:blip r:embed="rId1"/>
          <a:stretch>
            <a:fillRect/>
          </a:stretch>
        </p:blipFill>
        <p:spPr>
          <a:xfrm>
            <a:off x="671535" y="2171151"/>
            <a:ext cx="266273" cy="266273"/>
          </a:xfrm>
          <a:prstGeom prst="rect">
            <a:avLst/>
          </a:prstGeom>
        </p:spPr>
      </p:pic>
      <p:sp>
        <p:nvSpPr>
          <p:cNvPr id="24" name="Text 21"/>
          <p:cNvSpPr txBox="1"/>
          <p:nvPr/>
        </p:nvSpPr>
        <p:spPr>
          <a:xfrm>
            <a:off x="1188720" y="1938528"/>
            <a:ext cx="1874520" cy="73152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Preparation</a:t>
            </a:r>
            <a:endParaRPr lang="en-US" sz="1500" dirty="0"/>
          </a:p>
          <a:p>
            <a:pPr indent="0" marL="0">
              <a:buNone/>
            </a:pPr>
            <a:r>
              <a:rPr lang="en-US" sz="1200" dirty="0">
                <a:solidFill>
                  <a:srgbClr val="5B6770"/>
                </a:solidFill>
                <a:latin typeface="Calibri" pitchFamily="34" charset="0"/>
                <a:ea typeface="Calibri" pitchFamily="34" charset="-122"/>
                <a:cs typeface="Calibri" pitchFamily="34" charset="-120"/>
              </a:rPr>
              <a:t>Month 1–2</a:t>
            </a:r>
            <a:endParaRPr lang="en-US" sz="1500" dirty="0"/>
          </a:p>
        </p:txBody>
      </p:sp>
      <p:sp>
        <p:nvSpPr>
          <p:cNvPr id="25" name="Shape 22"/>
          <p:cNvSpPr/>
          <p:nvPr/>
        </p:nvSpPr>
        <p:spPr>
          <a:xfrm>
            <a:off x="3145536" y="2011680"/>
            <a:ext cx="1348740" cy="603504"/>
          </a:xfrm>
          <a:prstGeom prst="roundRect">
            <a:avLst>
              <a:gd name="adj" fmla="val 15152"/>
            </a:avLst>
          </a:prstGeom>
          <a:solidFill>
            <a:srgbClr val="0E5E6F"/>
          </a:solidFill>
          <a:ln w="12700">
            <a:solidFill>
              <a:srgbClr val="0E5E6F"/>
            </a:solidFill>
            <a:prstDash val="solid"/>
          </a:ln>
        </p:spPr>
      </p:sp>
      <p:sp>
        <p:nvSpPr>
          <p:cNvPr id="26" name="Text 23"/>
          <p:cNvSpPr txBox="1"/>
          <p:nvPr/>
        </p:nvSpPr>
        <p:spPr>
          <a:xfrm>
            <a:off x="4631436" y="1975104"/>
            <a:ext cx="7008876" cy="676656"/>
          </a:xfrm>
          <a:prstGeom prst="rect">
            <a:avLst/>
          </a:prstGeom>
          <a:noFill/>
          <a:ln/>
        </p:spPr>
        <p:txBody>
          <a:bodyPr wrap="square" lIns="0" tIns="0" rIns="0" bIns="0" rtlCol="0" anchor="ctr"/>
          <a:lstStyle/>
          <a:p>
            <a:pPr indent="0" marL="0">
              <a:buNone/>
            </a:pPr>
            <a:r>
              <a:rPr lang="en-US" sz="1350" dirty="0">
                <a:solidFill>
                  <a:srgbClr val="1B2B34"/>
                </a:solidFill>
                <a:latin typeface="Calibri" pitchFamily="34" charset="0"/>
                <a:ea typeface="Calibri" pitchFamily="34" charset="-122"/>
                <a:cs typeface="Calibri" pitchFamily="34" charset="-120"/>
              </a:rPr>
              <a:t>School selection · Baseline assessment · Stakeholder consultation · Procurement planning</a:t>
            </a:r>
            <a:endParaRPr lang="en-US" sz="1350" dirty="0"/>
          </a:p>
        </p:txBody>
      </p:sp>
      <p:sp>
        <p:nvSpPr>
          <p:cNvPr id="27" name="Shape 24"/>
          <p:cNvSpPr/>
          <p:nvPr/>
        </p:nvSpPr>
        <p:spPr>
          <a:xfrm>
            <a:off x="548640" y="2889504"/>
            <a:ext cx="512064" cy="512064"/>
          </a:xfrm>
          <a:prstGeom prst="ellipse">
            <a:avLst/>
          </a:prstGeom>
          <a:solidFill>
            <a:srgbClr val="B86E0C"/>
          </a:solidFill>
          <a:ln w="12700">
            <a:solidFill>
              <a:srgbClr val="B86E0C"/>
            </a:solidFill>
            <a:prstDash val="solid"/>
          </a:ln>
        </p:spPr>
      </p:sp>
      <p:pic>
        <p:nvPicPr>
          <p:cNvPr id="28" name="Image 1" descr="preencoded.png">    </p:cNvPr>
          <p:cNvPicPr>
            <a:picLocks noChangeAspect="1"/>
          </p:cNvPicPr>
          <p:nvPr/>
        </p:nvPicPr>
        <p:blipFill>
          <a:blip r:embed="rId2"/>
          <a:stretch>
            <a:fillRect/>
          </a:stretch>
        </p:blipFill>
        <p:spPr>
          <a:xfrm>
            <a:off x="671535" y="3012399"/>
            <a:ext cx="266273" cy="266273"/>
          </a:xfrm>
          <a:prstGeom prst="rect">
            <a:avLst/>
          </a:prstGeom>
        </p:spPr>
      </p:pic>
      <p:sp>
        <p:nvSpPr>
          <p:cNvPr id="29" name="Text 25"/>
          <p:cNvSpPr txBox="1"/>
          <p:nvPr/>
        </p:nvSpPr>
        <p:spPr>
          <a:xfrm>
            <a:off x="1188720" y="2779776"/>
            <a:ext cx="1874520" cy="73152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Installation</a:t>
            </a:r>
            <a:endParaRPr lang="en-US" sz="1500" dirty="0"/>
          </a:p>
          <a:p>
            <a:pPr indent="0" marL="0">
              <a:buNone/>
            </a:pPr>
            <a:r>
              <a:rPr lang="en-US" sz="1200" dirty="0">
                <a:solidFill>
                  <a:srgbClr val="5B6770"/>
                </a:solidFill>
                <a:latin typeface="Calibri" pitchFamily="34" charset="0"/>
                <a:ea typeface="Calibri" pitchFamily="34" charset="-122"/>
                <a:cs typeface="Calibri" pitchFamily="34" charset="-120"/>
              </a:rPr>
              <a:t>Month 2–3</a:t>
            </a:r>
            <a:endParaRPr lang="en-US" sz="1500" dirty="0"/>
          </a:p>
        </p:txBody>
      </p:sp>
      <p:sp>
        <p:nvSpPr>
          <p:cNvPr id="30" name="Shape 26"/>
          <p:cNvSpPr/>
          <p:nvPr/>
        </p:nvSpPr>
        <p:spPr>
          <a:xfrm>
            <a:off x="3856482" y="2852928"/>
            <a:ext cx="1348740" cy="603504"/>
          </a:xfrm>
          <a:prstGeom prst="roundRect">
            <a:avLst>
              <a:gd name="adj" fmla="val 15152"/>
            </a:avLst>
          </a:prstGeom>
          <a:solidFill>
            <a:srgbClr val="B86E0C"/>
          </a:solidFill>
          <a:ln w="12700">
            <a:solidFill>
              <a:srgbClr val="B86E0C"/>
            </a:solidFill>
            <a:prstDash val="solid"/>
          </a:ln>
        </p:spPr>
      </p:sp>
      <p:sp>
        <p:nvSpPr>
          <p:cNvPr id="31" name="Text 27"/>
          <p:cNvSpPr txBox="1"/>
          <p:nvPr/>
        </p:nvSpPr>
        <p:spPr>
          <a:xfrm>
            <a:off x="5342382" y="2816352"/>
            <a:ext cx="6297930" cy="676656"/>
          </a:xfrm>
          <a:prstGeom prst="rect">
            <a:avLst/>
          </a:prstGeom>
          <a:noFill/>
          <a:ln/>
        </p:spPr>
        <p:txBody>
          <a:bodyPr wrap="square" lIns="0" tIns="0" rIns="0" bIns="0" rtlCol="0" anchor="ctr"/>
          <a:lstStyle/>
          <a:p>
            <a:pPr indent="0" marL="0">
              <a:buNone/>
            </a:pPr>
            <a:r>
              <a:rPr lang="en-US" sz="1350" dirty="0">
                <a:solidFill>
                  <a:srgbClr val="1B2B34"/>
                </a:solidFill>
                <a:latin typeface="Calibri" pitchFamily="34" charset="0"/>
                <a:ea typeface="Calibri" pitchFamily="34" charset="-122"/>
                <a:cs typeface="Calibri" pitchFamily="34" charset="-120"/>
              </a:rPr>
              <a:t>Solar RO installation · Staff training · Awareness activities</a:t>
            </a:r>
            <a:endParaRPr lang="en-US" sz="1350" dirty="0"/>
          </a:p>
        </p:txBody>
      </p:sp>
      <p:sp>
        <p:nvSpPr>
          <p:cNvPr id="32" name="Shape 28"/>
          <p:cNvSpPr/>
          <p:nvPr/>
        </p:nvSpPr>
        <p:spPr>
          <a:xfrm>
            <a:off x="548640" y="3730752"/>
            <a:ext cx="512064" cy="512064"/>
          </a:xfrm>
          <a:prstGeom prst="ellipse">
            <a:avLst/>
          </a:prstGeom>
          <a:solidFill>
            <a:srgbClr val="2F9AAE"/>
          </a:solidFill>
          <a:ln w="12700">
            <a:solidFill>
              <a:srgbClr val="2F9AAE"/>
            </a:solidFill>
            <a:prstDash val="solid"/>
          </a:ln>
        </p:spPr>
      </p:sp>
      <p:pic>
        <p:nvPicPr>
          <p:cNvPr id="33" name="Image 2" descr="preencoded.png">    </p:cNvPr>
          <p:cNvPicPr>
            <a:picLocks noChangeAspect="1"/>
          </p:cNvPicPr>
          <p:nvPr/>
        </p:nvPicPr>
        <p:blipFill>
          <a:blip r:embed="rId3"/>
          <a:stretch>
            <a:fillRect/>
          </a:stretch>
        </p:blipFill>
        <p:spPr>
          <a:xfrm>
            <a:off x="671535" y="3853647"/>
            <a:ext cx="266273" cy="266273"/>
          </a:xfrm>
          <a:prstGeom prst="rect">
            <a:avLst/>
          </a:prstGeom>
        </p:spPr>
      </p:pic>
      <p:sp>
        <p:nvSpPr>
          <p:cNvPr id="34" name="Text 29"/>
          <p:cNvSpPr txBox="1"/>
          <p:nvPr/>
        </p:nvSpPr>
        <p:spPr>
          <a:xfrm>
            <a:off x="1188720" y="3621024"/>
            <a:ext cx="1874520" cy="73152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Initial Operations</a:t>
            </a:r>
            <a:endParaRPr lang="en-US" sz="1500" dirty="0"/>
          </a:p>
          <a:p>
            <a:pPr indent="0" marL="0">
              <a:buNone/>
            </a:pPr>
            <a:r>
              <a:rPr lang="en-US" sz="1200" dirty="0">
                <a:solidFill>
                  <a:srgbClr val="5B6770"/>
                </a:solidFill>
                <a:latin typeface="Calibri" pitchFamily="34" charset="0"/>
                <a:ea typeface="Calibri" pitchFamily="34" charset="-122"/>
                <a:cs typeface="Calibri" pitchFamily="34" charset="-120"/>
              </a:rPr>
              <a:t>Month 3–4</a:t>
            </a:r>
            <a:endParaRPr lang="en-US" sz="1500" dirty="0"/>
          </a:p>
        </p:txBody>
      </p:sp>
      <p:sp>
        <p:nvSpPr>
          <p:cNvPr id="35" name="Shape 30"/>
          <p:cNvSpPr/>
          <p:nvPr/>
        </p:nvSpPr>
        <p:spPr>
          <a:xfrm>
            <a:off x="4567428" y="3694176"/>
            <a:ext cx="1348740" cy="603504"/>
          </a:xfrm>
          <a:prstGeom prst="roundRect">
            <a:avLst>
              <a:gd name="adj" fmla="val 15152"/>
            </a:avLst>
          </a:prstGeom>
          <a:solidFill>
            <a:srgbClr val="2F9AAE"/>
          </a:solidFill>
          <a:ln w="12700">
            <a:solidFill>
              <a:srgbClr val="2F9AAE"/>
            </a:solidFill>
            <a:prstDash val="solid"/>
          </a:ln>
        </p:spPr>
      </p:sp>
      <p:sp>
        <p:nvSpPr>
          <p:cNvPr id="36" name="Text 31"/>
          <p:cNvSpPr txBox="1"/>
          <p:nvPr/>
        </p:nvSpPr>
        <p:spPr>
          <a:xfrm>
            <a:off x="6053328" y="3657600"/>
            <a:ext cx="5586984" cy="676656"/>
          </a:xfrm>
          <a:prstGeom prst="rect">
            <a:avLst/>
          </a:prstGeom>
          <a:noFill/>
          <a:ln/>
        </p:spPr>
        <p:txBody>
          <a:bodyPr wrap="square" lIns="0" tIns="0" rIns="0" bIns="0" rtlCol="0" anchor="ctr"/>
          <a:lstStyle/>
          <a:p>
            <a:pPr indent="0" marL="0">
              <a:buNone/>
            </a:pPr>
            <a:r>
              <a:rPr lang="en-US" sz="1350" dirty="0">
                <a:solidFill>
                  <a:srgbClr val="1B2B34"/>
                </a:solidFill>
                <a:latin typeface="Calibri" pitchFamily="34" charset="0"/>
                <a:ea typeface="Calibri" pitchFamily="34" charset="-122"/>
                <a:cs typeface="Calibri" pitchFamily="34" charset="-120"/>
              </a:rPr>
              <a:t>Monitoring · Troubleshooting · Impact assessment · Documentation · Optimization</a:t>
            </a:r>
            <a:endParaRPr lang="en-US" sz="1350" dirty="0"/>
          </a:p>
        </p:txBody>
      </p:sp>
      <p:sp>
        <p:nvSpPr>
          <p:cNvPr id="37" name="Shape 32"/>
          <p:cNvSpPr/>
          <p:nvPr/>
        </p:nvSpPr>
        <p:spPr>
          <a:xfrm>
            <a:off x="548640" y="4572000"/>
            <a:ext cx="512064" cy="512064"/>
          </a:xfrm>
          <a:prstGeom prst="ellipse">
            <a:avLst/>
          </a:prstGeom>
          <a:solidFill>
            <a:srgbClr val="4A8A45"/>
          </a:solidFill>
          <a:ln w="12700">
            <a:solidFill>
              <a:srgbClr val="4A8A45"/>
            </a:solidFill>
            <a:prstDash val="solid"/>
          </a:ln>
        </p:spPr>
      </p:sp>
      <p:pic>
        <p:nvPicPr>
          <p:cNvPr id="38" name="Image 3" descr="preencoded.png">    </p:cNvPr>
          <p:cNvPicPr>
            <a:picLocks noChangeAspect="1"/>
          </p:cNvPicPr>
          <p:nvPr/>
        </p:nvPicPr>
        <p:blipFill>
          <a:blip r:embed="rId4"/>
          <a:stretch>
            <a:fillRect/>
          </a:stretch>
        </p:blipFill>
        <p:spPr>
          <a:xfrm>
            <a:off x="671535" y="4694895"/>
            <a:ext cx="266273" cy="266273"/>
          </a:xfrm>
          <a:prstGeom prst="rect">
            <a:avLst/>
          </a:prstGeom>
        </p:spPr>
      </p:pic>
      <p:sp>
        <p:nvSpPr>
          <p:cNvPr id="39" name="Text 33"/>
          <p:cNvSpPr txBox="1"/>
          <p:nvPr/>
        </p:nvSpPr>
        <p:spPr>
          <a:xfrm>
            <a:off x="1188720" y="4462272"/>
            <a:ext cx="1874520" cy="73152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Sustained Operations</a:t>
            </a:r>
            <a:endParaRPr lang="en-US" sz="1500" dirty="0"/>
          </a:p>
          <a:p>
            <a:pPr indent="0" marL="0">
              <a:buNone/>
            </a:pPr>
            <a:r>
              <a:rPr lang="en-US" sz="1200" dirty="0">
                <a:solidFill>
                  <a:srgbClr val="5B6770"/>
                </a:solidFill>
                <a:latin typeface="Calibri" pitchFamily="34" charset="0"/>
                <a:ea typeface="Calibri" pitchFamily="34" charset="-122"/>
                <a:cs typeface="Calibri" pitchFamily="34" charset="-120"/>
              </a:rPr>
              <a:t>Month 4–12</a:t>
            </a:r>
            <a:endParaRPr lang="en-US" sz="1500" dirty="0"/>
          </a:p>
        </p:txBody>
      </p:sp>
      <p:sp>
        <p:nvSpPr>
          <p:cNvPr id="40" name="Shape 34"/>
          <p:cNvSpPr/>
          <p:nvPr/>
        </p:nvSpPr>
        <p:spPr>
          <a:xfrm>
            <a:off x="5278374" y="4535424"/>
            <a:ext cx="6325362" cy="603504"/>
          </a:xfrm>
          <a:prstGeom prst="roundRect">
            <a:avLst>
              <a:gd name="adj" fmla="val 15152"/>
            </a:avLst>
          </a:prstGeom>
          <a:solidFill>
            <a:srgbClr val="4A8A45"/>
          </a:solidFill>
          <a:ln w="12700">
            <a:solidFill>
              <a:srgbClr val="4A8A45"/>
            </a:solidFill>
            <a:prstDash val="solid"/>
          </a:ln>
        </p:spPr>
      </p:sp>
      <p:sp>
        <p:nvSpPr>
          <p:cNvPr id="41" name="Text 35"/>
          <p:cNvSpPr txBox="1"/>
          <p:nvPr/>
        </p:nvSpPr>
        <p:spPr>
          <a:xfrm>
            <a:off x="5461254" y="4535424"/>
            <a:ext cx="6051042"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Regular maintenance · Impact evaluation · Community engagement</a:t>
            </a:r>
            <a:endParaRPr lang="en-US" sz="1400" dirty="0"/>
          </a:p>
        </p:txBody>
      </p:sp>
      <p:sp>
        <p:nvSpPr>
          <p:cNvPr id="42" name="Shape 36"/>
          <p:cNvSpPr/>
          <p:nvPr/>
        </p:nvSpPr>
        <p:spPr>
          <a:xfrm>
            <a:off x="548640" y="5413248"/>
            <a:ext cx="512064" cy="512064"/>
          </a:xfrm>
          <a:prstGeom prst="ellipse">
            <a:avLst/>
          </a:prstGeom>
          <a:solidFill>
            <a:srgbClr val="B94E2A"/>
          </a:solidFill>
          <a:ln w="12700">
            <a:solidFill>
              <a:srgbClr val="B94E2A"/>
            </a:solidFill>
            <a:prstDash val="solid"/>
          </a:ln>
        </p:spPr>
      </p:sp>
      <p:pic>
        <p:nvPicPr>
          <p:cNvPr id="43" name="Image 4" descr="preencoded.png">    </p:cNvPr>
          <p:cNvPicPr>
            <a:picLocks noChangeAspect="1"/>
          </p:cNvPicPr>
          <p:nvPr/>
        </p:nvPicPr>
        <p:blipFill>
          <a:blip r:embed="rId5"/>
          <a:stretch>
            <a:fillRect/>
          </a:stretch>
        </p:blipFill>
        <p:spPr>
          <a:xfrm>
            <a:off x="671535" y="5536143"/>
            <a:ext cx="266273" cy="266273"/>
          </a:xfrm>
          <a:prstGeom prst="rect">
            <a:avLst/>
          </a:prstGeom>
        </p:spPr>
      </p:pic>
      <p:sp>
        <p:nvSpPr>
          <p:cNvPr id="44" name="Text 37"/>
          <p:cNvSpPr txBox="1"/>
          <p:nvPr/>
        </p:nvSpPr>
        <p:spPr>
          <a:xfrm>
            <a:off x="1188720" y="5303520"/>
            <a:ext cx="1874520" cy="731520"/>
          </a:xfrm>
          <a:prstGeom prst="rect">
            <a:avLst/>
          </a:prstGeom>
          <a:noFill/>
          <a:ln/>
        </p:spPr>
        <p:txBody>
          <a:bodyPr wrap="square" lIns="0" tIns="0" rIns="0" bIns="0" rtlCol="0" anchor="ctr"/>
          <a:lstStyle/>
          <a:p>
            <a:pPr indent="0" marL="0">
              <a:buNone/>
            </a:pPr>
            <a:r>
              <a:rPr lang="en-US" sz="1500" b="1" dirty="0">
                <a:solidFill>
                  <a:srgbClr val="1B2B34"/>
                </a:solidFill>
                <a:latin typeface="Calibri" pitchFamily="34" charset="0"/>
                <a:ea typeface="Calibri" pitchFamily="34" charset="-122"/>
                <a:cs typeface="Calibri" pitchFamily="34" charset="-120"/>
              </a:rPr>
              <a:t>Evaluation</a:t>
            </a:r>
            <a:endParaRPr lang="en-US" sz="1500" dirty="0"/>
          </a:p>
          <a:p>
            <a:pPr indent="0" marL="0">
              <a:buNone/>
            </a:pPr>
            <a:r>
              <a:rPr lang="en-US" sz="1200" dirty="0">
                <a:solidFill>
                  <a:srgbClr val="5B6770"/>
                </a:solidFill>
                <a:latin typeface="Calibri" pitchFamily="34" charset="0"/>
                <a:ea typeface="Calibri" pitchFamily="34" charset="-122"/>
                <a:cs typeface="Calibri" pitchFamily="34" charset="-120"/>
              </a:rPr>
              <a:t>Milestones</a:t>
            </a:r>
            <a:endParaRPr lang="en-US" sz="1500" dirty="0"/>
          </a:p>
        </p:txBody>
      </p:sp>
      <p:sp>
        <p:nvSpPr>
          <p:cNvPr id="45" name="Shape 38"/>
          <p:cNvSpPr/>
          <p:nvPr/>
        </p:nvSpPr>
        <p:spPr>
          <a:xfrm>
            <a:off x="6817995" y="5468112"/>
            <a:ext cx="402336" cy="402336"/>
          </a:xfrm>
          <a:prstGeom prst="diamond">
            <a:avLst/>
          </a:prstGeom>
          <a:solidFill>
            <a:srgbClr val="B94E2A"/>
          </a:solidFill>
          <a:ln w="12700">
            <a:solidFill>
              <a:srgbClr val="FFFFFF"/>
            </a:solidFill>
            <a:prstDash val="solid"/>
          </a:ln>
        </p:spPr>
      </p:sp>
      <p:sp>
        <p:nvSpPr>
          <p:cNvPr id="46" name="Text 39"/>
          <p:cNvSpPr txBox="1"/>
          <p:nvPr/>
        </p:nvSpPr>
        <p:spPr>
          <a:xfrm>
            <a:off x="7311771" y="5394960"/>
            <a:ext cx="2377440" cy="548640"/>
          </a:xfrm>
          <a:prstGeom prst="rect">
            <a:avLst/>
          </a:prstGeom>
          <a:noFill/>
          <a:ln/>
        </p:spPr>
        <p:txBody>
          <a:bodyPr wrap="square" lIns="0" tIns="0" rIns="0" bIns="0" rtlCol="0" anchor="ctr"/>
          <a:lstStyle/>
          <a:p>
            <a:pPr indent="0" marL="0">
              <a:buNone/>
            </a:pPr>
            <a:r>
              <a:rPr lang="en-US" sz="1350" b="1" dirty="0">
                <a:solidFill>
                  <a:srgbClr val="B94E2A"/>
                </a:solidFill>
                <a:latin typeface="Calibri" pitchFamily="34" charset="0"/>
                <a:ea typeface="Calibri" pitchFamily="34" charset="-122"/>
                <a:cs typeface="Calibri" pitchFamily="34" charset="-120"/>
              </a:rPr>
              <a:t>Mid-term review</a:t>
            </a:r>
            <a:endParaRPr lang="en-US" sz="1350" dirty="0"/>
          </a:p>
        </p:txBody>
      </p:sp>
      <p:sp>
        <p:nvSpPr>
          <p:cNvPr id="47" name="Shape 40"/>
          <p:cNvSpPr/>
          <p:nvPr/>
        </p:nvSpPr>
        <p:spPr>
          <a:xfrm>
            <a:off x="11083671" y="5468112"/>
            <a:ext cx="402336" cy="402336"/>
          </a:xfrm>
          <a:prstGeom prst="diamond">
            <a:avLst/>
          </a:prstGeom>
          <a:solidFill>
            <a:srgbClr val="B94E2A"/>
          </a:solidFill>
          <a:ln w="12700">
            <a:solidFill>
              <a:srgbClr val="FFFFFF"/>
            </a:solidFill>
            <a:prstDash val="solid"/>
          </a:ln>
        </p:spPr>
      </p:sp>
      <p:sp>
        <p:nvSpPr>
          <p:cNvPr id="48" name="Text 41"/>
          <p:cNvSpPr txBox="1"/>
          <p:nvPr/>
        </p:nvSpPr>
        <p:spPr>
          <a:xfrm>
            <a:off x="8066151" y="5394960"/>
            <a:ext cx="2926080" cy="548640"/>
          </a:xfrm>
          <a:prstGeom prst="rect">
            <a:avLst/>
          </a:prstGeom>
          <a:noFill/>
          <a:ln/>
        </p:spPr>
        <p:txBody>
          <a:bodyPr wrap="square" lIns="0" tIns="0" rIns="0" bIns="0" rtlCol="0" anchor="ctr"/>
          <a:lstStyle/>
          <a:p>
            <a:pPr algn="r" indent="0" marL="0">
              <a:buNone/>
            </a:pPr>
            <a:r>
              <a:rPr lang="en-US" sz="1350" b="1" dirty="0">
                <a:solidFill>
                  <a:srgbClr val="B94E2A"/>
                </a:solidFill>
                <a:latin typeface="Calibri" pitchFamily="34" charset="0"/>
                <a:ea typeface="Calibri" pitchFamily="34" charset="-122"/>
                <a:cs typeface="Calibri" pitchFamily="34" charset="-120"/>
              </a:rPr>
              <a:t>Final evaluation &amp; impact report</a:t>
            </a:r>
            <a:endParaRPr lang="en-US" sz="1350" dirty="0"/>
          </a:p>
        </p:txBody>
      </p:sp>
      <p:sp>
        <p:nvSpPr>
          <p:cNvPr id="49" name="Text 42"/>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50" name="Text 43"/>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HOW MONITORING WORKS</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Actively Monitored, Not Installed and Forgotten</a:t>
            </a:r>
            <a:endParaRPr lang="en-US" sz="3200" dirty="0"/>
          </a:p>
        </p:txBody>
      </p:sp>
      <p:sp>
        <p:nvSpPr>
          <p:cNvPr id="4" name="Shape 2"/>
          <p:cNvSpPr/>
          <p:nvPr/>
        </p:nvSpPr>
        <p:spPr>
          <a:xfrm>
            <a:off x="2560320" y="2194560"/>
            <a:ext cx="3291840" cy="3291840"/>
          </a:xfrm>
          <a:prstGeom prst="ellipse">
            <a:avLst/>
          </a:prstGeom>
          <a:solidFill>
            <a:srgbClr val="FFFFFF"/>
          </a:solidFill>
          <a:ln w="25400">
            <a:solidFill>
              <a:srgbClr val="2F9AAE"/>
            </a:solidFill>
            <a:prstDash val="dash"/>
          </a:ln>
        </p:spPr>
      </p:sp>
      <p:sp>
        <p:nvSpPr>
          <p:cNvPr id="5" name="Shape 3"/>
          <p:cNvSpPr/>
          <p:nvPr/>
        </p:nvSpPr>
        <p:spPr>
          <a:xfrm>
            <a:off x="3291840" y="2926080"/>
            <a:ext cx="1828800" cy="1828800"/>
          </a:xfrm>
          <a:prstGeom prst="ellipse">
            <a:avLst/>
          </a:prstGeom>
          <a:solidFill>
            <a:srgbClr val="E4F1F3"/>
          </a:solidFill>
          <a:ln w="12700">
            <a:solidFill>
              <a:srgbClr val="E4F1F3"/>
            </a:solidFill>
            <a:prstDash val="solid"/>
          </a:ln>
        </p:spPr>
      </p:sp>
      <p:sp>
        <p:nvSpPr>
          <p:cNvPr id="6" name="Text 4"/>
          <p:cNvSpPr txBox="1"/>
          <p:nvPr/>
        </p:nvSpPr>
        <p:spPr>
          <a:xfrm>
            <a:off x="3383280" y="3383280"/>
            <a:ext cx="1645920" cy="914400"/>
          </a:xfrm>
          <a:prstGeom prst="rect">
            <a:avLst/>
          </a:prstGeom>
          <a:noFill/>
          <a:ln/>
        </p:spPr>
        <p:txBody>
          <a:bodyPr wrap="square" lIns="0" tIns="0" rIns="0" bIns="0" rtlCol="0" anchor="ctr"/>
          <a:lstStyle/>
          <a:p>
            <a:pPr algn="ctr" indent="0" marL="0">
              <a:buNone/>
            </a:pPr>
            <a:r>
              <a:rPr lang="en-US" sz="1500" b="1" dirty="0">
                <a:solidFill>
                  <a:srgbClr val="0E5E6F"/>
                </a:solidFill>
                <a:latin typeface="Calibri" pitchFamily="34" charset="0"/>
                <a:ea typeface="Calibri" pitchFamily="34" charset="-122"/>
                <a:cs typeface="Calibri" pitchFamily="34" charset="-120"/>
              </a:rPr>
              <a:t>Continuous monitoring cycle</a:t>
            </a:r>
            <a:endParaRPr lang="en-US" sz="1500" dirty="0"/>
          </a:p>
        </p:txBody>
      </p:sp>
      <p:sp>
        <p:nvSpPr>
          <p:cNvPr id="7" name="Shape 5"/>
          <p:cNvSpPr/>
          <p:nvPr/>
        </p:nvSpPr>
        <p:spPr>
          <a:xfrm>
            <a:off x="3840480" y="1828800"/>
            <a:ext cx="731520" cy="731520"/>
          </a:xfrm>
          <a:prstGeom prst="ellipse">
            <a:avLst/>
          </a:prstGeom>
          <a:solidFill>
            <a:srgbClr val="0E5E6F"/>
          </a:solidFill>
          <a:ln w="12700">
            <a:solidFill>
              <a:srgbClr val="0E5E6F"/>
            </a:solidFill>
            <a:prstDash val="solid"/>
          </a:ln>
        </p:spPr>
      </p:sp>
      <p:pic>
        <p:nvPicPr>
          <p:cNvPr id="8" name="Image 0" descr="preencoded.png">    </p:cNvPr>
          <p:cNvPicPr>
            <a:picLocks noChangeAspect="1"/>
          </p:cNvPicPr>
          <p:nvPr/>
        </p:nvPicPr>
        <p:blipFill>
          <a:blip r:embed="rId1"/>
          <a:stretch>
            <a:fillRect/>
          </a:stretch>
        </p:blipFill>
        <p:spPr>
          <a:xfrm>
            <a:off x="4016045" y="2004365"/>
            <a:ext cx="380390" cy="380390"/>
          </a:xfrm>
          <a:prstGeom prst="rect">
            <a:avLst/>
          </a:prstGeom>
        </p:spPr>
      </p:pic>
      <p:sp>
        <p:nvSpPr>
          <p:cNvPr id="9" name="Shape 6"/>
          <p:cNvSpPr/>
          <p:nvPr/>
        </p:nvSpPr>
        <p:spPr>
          <a:xfrm>
            <a:off x="3767328" y="1755648"/>
            <a:ext cx="274320" cy="274320"/>
          </a:xfrm>
          <a:prstGeom prst="ellipse">
            <a:avLst/>
          </a:prstGeom>
          <a:solidFill>
            <a:srgbClr val="F2A33A"/>
          </a:solidFill>
          <a:ln w="12700">
            <a:solidFill>
              <a:srgbClr val="FFFFFF"/>
            </a:solidFill>
            <a:prstDash val="solid"/>
          </a:ln>
        </p:spPr>
      </p:sp>
      <p:sp>
        <p:nvSpPr>
          <p:cNvPr id="10" name="Text 7"/>
          <p:cNvSpPr txBox="1"/>
          <p:nvPr/>
        </p:nvSpPr>
        <p:spPr>
          <a:xfrm>
            <a:off x="3767328" y="1755648"/>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1</a:t>
            </a:r>
            <a:endParaRPr lang="en-US" sz="1000" dirty="0"/>
          </a:p>
        </p:txBody>
      </p:sp>
      <p:sp>
        <p:nvSpPr>
          <p:cNvPr id="11" name="Text 8"/>
          <p:cNvSpPr txBox="1"/>
          <p:nvPr/>
        </p:nvSpPr>
        <p:spPr>
          <a:xfrm>
            <a:off x="2359152" y="1965960"/>
            <a:ext cx="1371600" cy="457200"/>
          </a:xfrm>
          <a:prstGeom prst="rect">
            <a:avLst/>
          </a:prstGeom>
          <a:noFill/>
          <a:ln/>
        </p:spPr>
        <p:txBody>
          <a:bodyPr wrap="square" lIns="0" tIns="0" rIns="0" bIns="0" rtlCol="0" anchor="ctr"/>
          <a:lstStyle/>
          <a:p>
            <a:pPr algn="r" indent="0" marL="0">
              <a:buNone/>
            </a:pPr>
            <a:r>
              <a:rPr lang="en-US" sz="1300" b="1" dirty="0">
                <a:solidFill>
                  <a:srgbClr val="1B2B34"/>
                </a:solidFill>
                <a:latin typeface="Calibri" pitchFamily="34" charset="0"/>
                <a:ea typeface="Calibri" pitchFamily="34" charset="-122"/>
                <a:cs typeface="Calibri" pitchFamily="34" charset="-120"/>
              </a:rPr>
              <a:t>Baseline</a:t>
            </a:r>
            <a:endParaRPr lang="en-US" sz="1300" dirty="0"/>
          </a:p>
        </p:txBody>
      </p:sp>
      <p:sp>
        <p:nvSpPr>
          <p:cNvPr id="12" name="Shape 9"/>
          <p:cNvSpPr/>
          <p:nvPr/>
        </p:nvSpPr>
        <p:spPr>
          <a:xfrm>
            <a:off x="5004321" y="2310879"/>
            <a:ext cx="731520" cy="731520"/>
          </a:xfrm>
          <a:prstGeom prst="ellipse">
            <a:avLst/>
          </a:prstGeom>
          <a:solidFill>
            <a:srgbClr val="0E5E6F"/>
          </a:solidFill>
          <a:ln w="12700">
            <a:solidFill>
              <a:srgbClr val="0E5E6F"/>
            </a:solidFill>
            <a:prstDash val="solid"/>
          </a:ln>
        </p:spPr>
      </p:sp>
      <p:pic>
        <p:nvPicPr>
          <p:cNvPr id="13" name="Image 1" descr="preencoded.png">    </p:cNvPr>
          <p:cNvPicPr>
            <a:picLocks noChangeAspect="1"/>
          </p:cNvPicPr>
          <p:nvPr/>
        </p:nvPicPr>
        <p:blipFill>
          <a:blip r:embed="rId2"/>
          <a:stretch>
            <a:fillRect/>
          </a:stretch>
        </p:blipFill>
        <p:spPr>
          <a:xfrm>
            <a:off x="5179886" y="2486444"/>
            <a:ext cx="380390" cy="380390"/>
          </a:xfrm>
          <a:prstGeom prst="rect">
            <a:avLst/>
          </a:prstGeom>
        </p:spPr>
      </p:pic>
      <p:sp>
        <p:nvSpPr>
          <p:cNvPr id="14" name="Shape 10"/>
          <p:cNvSpPr/>
          <p:nvPr/>
        </p:nvSpPr>
        <p:spPr>
          <a:xfrm>
            <a:off x="4931169" y="2237727"/>
            <a:ext cx="274320" cy="274320"/>
          </a:xfrm>
          <a:prstGeom prst="ellipse">
            <a:avLst/>
          </a:prstGeom>
          <a:solidFill>
            <a:srgbClr val="F2A33A"/>
          </a:solidFill>
          <a:ln w="12700">
            <a:solidFill>
              <a:srgbClr val="FFFFFF"/>
            </a:solidFill>
            <a:prstDash val="solid"/>
          </a:ln>
        </p:spPr>
      </p:sp>
      <p:sp>
        <p:nvSpPr>
          <p:cNvPr id="15" name="Text 11"/>
          <p:cNvSpPr txBox="1"/>
          <p:nvPr/>
        </p:nvSpPr>
        <p:spPr>
          <a:xfrm>
            <a:off x="4931169" y="2237727"/>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2</a:t>
            </a:r>
            <a:endParaRPr lang="en-US" sz="1000" dirty="0"/>
          </a:p>
        </p:txBody>
      </p:sp>
      <p:sp>
        <p:nvSpPr>
          <p:cNvPr id="16" name="Text 12"/>
          <p:cNvSpPr txBox="1"/>
          <p:nvPr/>
        </p:nvSpPr>
        <p:spPr>
          <a:xfrm>
            <a:off x="5827281" y="2402319"/>
            <a:ext cx="1691640" cy="548640"/>
          </a:xfrm>
          <a:prstGeom prst="rect">
            <a:avLst/>
          </a:prstGeom>
          <a:noFill/>
          <a:ln/>
        </p:spPr>
        <p:txBody>
          <a:bodyPr wrap="square" lIns="0" tIns="0" rIns="0" bIns="0" rtlCol="0" anchor="ctr"/>
          <a:lstStyle/>
          <a:p>
            <a:pPr indent="0" marL="0">
              <a:buNone/>
            </a:pPr>
            <a:r>
              <a:rPr lang="en-US" sz="1300" b="1" dirty="0">
                <a:solidFill>
                  <a:srgbClr val="1B2B34"/>
                </a:solidFill>
                <a:latin typeface="Calibri" pitchFamily="34" charset="0"/>
                <a:ea typeface="Calibri" pitchFamily="34" charset="-122"/>
                <a:cs typeface="Calibri" pitchFamily="34" charset="-120"/>
              </a:rPr>
              <a:t>Installation verification</a:t>
            </a:r>
            <a:endParaRPr lang="en-US" sz="1300" dirty="0"/>
          </a:p>
        </p:txBody>
      </p:sp>
      <p:sp>
        <p:nvSpPr>
          <p:cNvPr id="17" name="Shape 13"/>
          <p:cNvSpPr/>
          <p:nvPr/>
        </p:nvSpPr>
        <p:spPr>
          <a:xfrm>
            <a:off x="5486400" y="3474720"/>
            <a:ext cx="731520" cy="731520"/>
          </a:xfrm>
          <a:prstGeom prst="ellipse">
            <a:avLst/>
          </a:prstGeom>
          <a:solidFill>
            <a:srgbClr val="0E5E6F"/>
          </a:solidFill>
          <a:ln w="12700">
            <a:solidFill>
              <a:srgbClr val="0E5E6F"/>
            </a:solidFill>
            <a:prstDash val="solid"/>
          </a:ln>
        </p:spPr>
      </p:sp>
      <p:pic>
        <p:nvPicPr>
          <p:cNvPr id="18" name="Image 2" descr="preencoded.png">    </p:cNvPr>
          <p:cNvPicPr>
            <a:picLocks noChangeAspect="1"/>
          </p:cNvPicPr>
          <p:nvPr/>
        </p:nvPicPr>
        <p:blipFill>
          <a:blip r:embed="rId3"/>
          <a:stretch>
            <a:fillRect/>
          </a:stretch>
        </p:blipFill>
        <p:spPr>
          <a:xfrm>
            <a:off x="5661965" y="3650285"/>
            <a:ext cx="380390" cy="380390"/>
          </a:xfrm>
          <a:prstGeom prst="rect">
            <a:avLst/>
          </a:prstGeom>
        </p:spPr>
      </p:pic>
      <p:sp>
        <p:nvSpPr>
          <p:cNvPr id="19" name="Shape 14"/>
          <p:cNvSpPr/>
          <p:nvPr/>
        </p:nvSpPr>
        <p:spPr>
          <a:xfrm>
            <a:off x="5413248" y="3401568"/>
            <a:ext cx="274320" cy="274320"/>
          </a:xfrm>
          <a:prstGeom prst="ellipse">
            <a:avLst/>
          </a:prstGeom>
          <a:solidFill>
            <a:srgbClr val="F2A33A"/>
          </a:solidFill>
          <a:ln w="12700">
            <a:solidFill>
              <a:srgbClr val="FFFFFF"/>
            </a:solidFill>
            <a:prstDash val="solid"/>
          </a:ln>
        </p:spPr>
      </p:sp>
      <p:sp>
        <p:nvSpPr>
          <p:cNvPr id="20" name="Text 15"/>
          <p:cNvSpPr txBox="1"/>
          <p:nvPr/>
        </p:nvSpPr>
        <p:spPr>
          <a:xfrm>
            <a:off x="5413248" y="3401568"/>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3</a:t>
            </a:r>
            <a:endParaRPr lang="en-US" sz="1000" dirty="0"/>
          </a:p>
        </p:txBody>
      </p:sp>
      <p:sp>
        <p:nvSpPr>
          <p:cNvPr id="21" name="Text 16"/>
          <p:cNvSpPr txBox="1"/>
          <p:nvPr/>
        </p:nvSpPr>
        <p:spPr>
          <a:xfrm>
            <a:off x="6309360" y="3566160"/>
            <a:ext cx="1691640" cy="548640"/>
          </a:xfrm>
          <a:prstGeom prst="rect">
            <a:avLst/>
          </a:prstGeom>
          <a:noFill/>
          <a:ln/>
        </p:spPr>
        <p:txBody>
          <a:bodyPr wrap="square" lIns="0" tIns="0" rIns="0" bIns="0" rtlCol="0" anchor="ctr"/>
          <a:lstStyle/>
          <a:p>
            <a:pPr indent="0" marL="0">
              <a:buNone/>
            </a:pPr>
            <a:r>
              <a:rPr lang="en-US" sz="1300" b="1" dirty="0">
                <a:solidFill>
                  <a:srgbClr val="1B2B34"/>
                </a:solidFill>
                <a:latin typeface="Calibri" pitchFamily="34" charset="0"/>
                <a:ea typeface="Calibri" pitchFamily="34" charset="-122"/>
                <a:cs typeface="Calibri" pitchFamily="34" charset="-120"/>
              </a:rPr>
              <a:t>Daily / weekly activity logs</a:t>
            </a:r>
            <a:endParaRPr lang="en-US" sz="1300" dirty="0"/>
          </a:p>
        </p:txBody>
      </p:sp>
      <p:sp>
        <p:nvSpPr>
          <p:cNvPr id="22" name="Shape 17"/>
          <p:cNvSpPr/>
          <p:nvPr/>
        </p:nvSpPr>
        <p:spPr>
          <a:xfrm>
            <a:off x="5004321" y="4638561"/>
            <a:ext cx="731520" cy="731520"/>
          </a:xfrm>
          <a:prstGeom prst="ellipse">
            <a:avLst/>
          </a:prstGeom>
          <a:solidFill>
            <a:srgbClr val="0E5E6F"/>
          </a:solidFill>
          <a:ln w="12700">
            <a:solidFill>
              <a:srgbClr val="0E5E6F"/>
            </a:solidFill>
            <a:prstDash val="solid"/>
          </a:ln>
        </p:spPr>
      </p:sp>
      <p:pic>
        <p:nvPicPr>
          <p:cNvPr id="23" name="Image 3" descr="preencoded.png">    </p:cNvPr>
          <p:cNvPicPr>
            <a:picLocks noChangeAspect="1"/>
          </p:cNvPicPr>
          <p:nvPr/>
        </p:nvPicPr>
        <p:blipFill>
          <a:blip r:embed="rId4"/>
          <a:stretch>
            <a:fillRect/>
          </a:stretch>
        </p:blipFill>
        <p:spPr>
          <a:xfrm>
            <a:off x="5179886" y="4814126"/>
            <a:ext cx="380390" cy="380390"/>
          </a:xfrm>
          <a:prstGeom prst="rect">
            <a:avLst/>
          </a:prstGeom>
        </p:spPr>
      </p:pic>
      <p:sp>
        <p:nvSpPr>
          <p:cNvPr id="24" name="Shape 18"/>
          <p:cNvSpPr/>
          <p:nvPr/>
        </p:nvSpPr>
        <p:spPr>
          <a:xfrm>
            <a:off x="4931169" y="4565409"/>
            <a:ext cx="274320" cy="274320"/>
          </a:xfrm>
          <a:prstGeom prst="ellipse">
            <a:avLst/>
          </a:prstGeom>
          <a:solidFill>
            <a:srgbClr val="F2A33A"/>
          </a:solidFill>
          <a:ln w="12700">
            <a:solidFill>
              <a:srgbClr val="FFFFFF"/>
            </a:solidFill>
            <a:prstDash val="solid"/>
          </a:ln>
        </p:spPr>
      </p:sp>
      <p:sp>
        <p:nvSpPr>
          <p:cNvPr id="25" name="Text 19"/>
          <p:cNvSpPr txBox="1"/>
          <p:nvPr/>
        </p:nvSpPr>
        <p:spPr>
          <a:xfrm>
            <a:off x="4931169" y="4565409"/>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4</a:t>
            </a:r>
            <a:endParaRPr lang="en-US" sz="1000" dirty="0"/>
          </a:p>
        </p:txBody>
      </p:sp>
      <p:sp>
        <p:nvSpPr>
          <p:cNvPr id="26" name="Text 20"/>
          <p:cNvSpPr txBox="1"/>
          <p:nvPr/>
        </p:nvSpPr>
        <p:spPr>
          <a:xfrm>
            <a:off x="5827281" y="4730001"/>
            <a:ext cx="1691640" cy="548640"/>
          </a:xfrm>
          <a:prstGeom prst="rect">
            <a:avLst/>
          </a:prstGeom>
          <a:noFill/>
          <a:ln/>
        </p:spPr>
        <p:txBody>
          <a:bodyPr wrap="square" lIns="0" tIns="0" rIns="0" bIns="0" rtlCol="0" anchor="ctr"/>
          <a:lstStyle/>
          <a:p>
            <a:pPr indent="0" marL="0">
              <a:buNone/>
            </a:pPr>
            <a:r>
              <a:rPr lang="en-US" sz="1300" b="1" dirty="0">
                <a:solidFill>
                  <a:srgbClr val="1B2B34"/>
                </a:solidFill>
                <a:latin typeface="Calibri" pitchFamily="34" charset="0"/>
                <a:ea typeface="Calibri" pitchFamily="34" charset="-122"/>
                <a:cs typeface="Calibri" pitchFamily="34" charset="-120"/>
              </a:rPr>
              <a:t>Photo / video evidence</a:t>
            </a:r>
            <a:endParaRPr lang="en-US" sz="1300" dirty="0"/>
          </a:p>
        </p:txBody>
      </p:sp>
      <p:sp>
        <p:nvSpPr>
          <p:cNvPr id="27" name="Shape 21"/>
          <p:cNvSpPr/>
          <p:nvPr/>
        </p:nvSpPr>
        <p:spPr>
          <a:xfrm>
            <a:off x="3840480" y="5120640"/>
            <a:ext cx="731520" cy="731520"/>
          </a:xfrm>
          <a:prstGeom prst="ellipse">
            <a:avLst/>
          </a:prstGeom>
          <a:solidFill>
            <a:srgbClr val="0E5E6F"/>
          </a:solidFill>
          <a:ln w="12700">
            <a:solidFill>
              <a:srgbClr val="0E5E6F"/>
            </a:solidFill>
            <a:prstDash val="solid"/>
          </a:ln>
        </p:spPr>
      </p:sp>
      <p:pic>
        <p:nvPicPr>
          <p:cNvPr id="28" name="Image 4" descr="preencoded.png">    </p:cNvPr>
          <p:cNvPicPr>
            <a:picLocks noChangeAspect="1"/>
          </p:cNvPicPr>
          <p:nvPr/>
        </p:nvPicPr>
        <p:blipFill>
          <a:blip r:embed="rId5"/>
          <a:stretch>
            <a:fillRect/>
          </a:stretch>
        </p:blipFill>
        <p:spPr>
          <a:xfrm>
            <a:off x="4016045" y="5296205"/>
            <a:ext cx="380390" cy="380390"/>
          </a:xfrm>
          <a:prstGeom prst="rect">
            <a:avLst/>
          </a:prstGeom>
        </p:spPr>
      </p:pic>
      <p:sp>
        <p:nvSpPr>
          <p:cNvPr id="29" name="Shape 22"/>
          <p:cNvSpPr/>
          <p:nvPr/>
        </p:nvSpPr>
        <p:spPr>
          <a:xfrm>
            <a:off x="3767328" y="5047488"/>
            <a:ext cx="274320" cy="274320"/>
          </a:xfrm>
          <a:prstGeom prst="ellipse">
            <a:avLst/>
          </a:prstGeom>
          <a:solidFill>
            <a:srgbClr val="F2A33A"/>
          </a:solidFill>
          <a:ln w="12700">
            <a:solidFill>
              <a:srgbClr val="FFFFFF"/>
            </a:solidFill>
            <a:prstDash val="solid"/>
          </a:ln>
        </p:spPr>
      </p:sp>
      <p:sp>
        <p:nvSpPr>
          <p:cNvPr id="30" name="Text 23"/>
          <p:cNvSpPr txBox="1"/>
          <p:nvPr/>
        </p:nvSpPr>
        <p:spPr>
          <a:xfrm>
            <a:off x="3767328" y="5047488"/>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5</a:t>
            </a:r>
            <a:endParaRPr lang="en-US" sz="1000" dirty="0"/>
          </a:p>
        </p:txBody>
      </p:sp>
      <p:sp>
        <p:nvSpPr>
          <p:cNvPr id="31" name="Text 24"/>
          <p:cNvSpPr txBox="1"/>
          <p:nvPr/>
        </p:nvSpPr>
        <p:spPr>
          <a:xfrm>
            <a:off x="3017520" y="5879592"/>
            <a:ext cx="2377440" cy="320040"/>
          </a:xfrm>
          <a:prstGeom prst="rect">
            <a:avLst/>
          </a:prstGeom>
          <a:noFill/>
          <a:ln/>
        </p:spPr>
        <p:txBody>
          <a:bodyPr wrap="square" lIns="0" tIns="0" rIns="0" bIns="0" rtlCol="0" anchor="t"/>
          <a:lstStyle/>
          <a:p>
            <a:pPr algn="ctr" indent="0" marL="0">
              <a:buNone/>
            </a:pPr>
            <a:r>
              <a:rPr lang="en-US" sz="1300" b="1" dirty="0">
                <a:solidFill>
                  <a:srgbClr val="1B2B34"/>
                </a:solidFill>
                <a:latin typeface="Calibri" pitchFamily="34" charset="0"/>
                <a:ea typeface="Calibri" pitchFamily="34" charset="-122"/>
                <a:cs typeface="Calibri" pitchFamily="34" charset="-120"/>
              </a:rPr>
              <a:t>Functional &amp; hygiene checklists</a:t>
            </a:r>
            <a:endParaRPr lang="en-US" sz="1300" dirty="0"/>
          </a:p>
        </p:txBody>
      </p:sp>
      <p:sp>
        <p:nvSpPr>
          <p:cNvPr id="32" name="Shape 25"/>
          <p:cNvSpPr/>
          <p:nvPr/>
        </p:nvSpPr>
        <p:spPr>
          <a:xfrm>
            <a:off x="2676639" y="4638561"/>
            <a:ext cx="731520" cy="731520"/>
          </a:xfrm>
          <a:prstGeom prst="ellipse">
            <a:avLst/>
          </a:prstGeom>
          <a:solidFill>
            <a:srgbClr val="0E5E6F"/>
          </a:solidFill>
          <a:ln w="12700">
            <a:solidFill>
              <a:srgbClr val="0E5E6F"/>
            </a:solidFill>
            <a:prstDash val="solid"/>
          </a:ln>
        </p:spPr>
      </p:sp>
      <p:pic>
        <p:nvPicPr>
          <p:cNvPr id="33" name="Image 5" descr="preencoded.png">    </p:cNvPr>
          <p:cNvPicPr>
            <a:picLocks noChangeAspect="1"/>
          </p:cNvPicPr>
          <p:nvPr/>
        </p:nvPicPr>
        <p:blipFill>
          <a:blip r:embed="rId6"/>
          <a:stretch>
            <a:fillRect/>
          </a:stretch>
        </p:blipFill>
        <p:spPr>
          <a:xfrm>
            <a:off x="2852204" y="4814126"/>
            <a:ext cx="380390" cy="380390"/>
          </a:xfrm>
          <a:prstGeom prst="rect">
            <a:avLst/>
          </a:prstGeom>
        </p:spPr>
      </p:pic>
      <p:sp>
        <p:nvSpPr>
          <p:cNvPr id="34" name="Shape 26"/>
          <p:cNvSpPr/>
          <p:nvPr/>
        </p:nvSpPr>
        <p:spPr>
          <a:xfrm>
            <a:off x="2603487" y="4565409"/>
            <a:ext cx="274320" cy="274320"/>
          </a:xfrm>
          <a:prstGeom prst="ellipse">
            <a:avLst/>
          </a:prstGeom>
          <a:solidFill>
            <a:srgbClr val="F2A33A"/>
          </a:solidFill>
          <a:ln w="12700">
            <a:solidFill>
              <a:srgbClr val="FFFFFF"/>
            </a:solidFill>
            <a:prstDash val="solid"/>
          </a:ln>
        </p:spPr>
      </p:sp>
      <p:sp>
        <p:nvSpPr>
          <p:cNvPr id="35" name="Text 27"/>
          <p:cNvSpPr txBox="1"/>
          <p:nvPr/>
        </p:nvSpPr>
        <p:spPr>
          <a:xfrm>
            <a:off x="2603487" y="4565409"/>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6</a:t>
            </a:r>
            <a:endParaRPr lang="en-US" sz="1000" dirty="0"/>
          </a:p>
        </p:txBody>
      </p:sp>
      <p:sp>
        <p:nvSpPr>
          <p:cNvPr id="36" name="Text 28"/>
          <p:cNvSpPr txBox="1"/>
          <p:nvPr/>
        </p:nvSpPr>
        <p:spPr>
          <a:xfrm>
            <a:off x="1030719" y="4730001"/>
            <a:ext cx="1554480" cy="548640"/>
          </a:xfrm>
          <a:prstGeom prst="rect">
            <a:avLst/>
          </a:prstGeom>
          <a:noFill/>
          <a:ln/>
        </p:spPr>
        <p:txBody>
          <a:bodyPr wrap="square" lIns="0" tIns="0" rIns="0" bIns="0" rtlCol="0" anchor="ctr"/>
          <a:lstStyle/>
          <a:p>
            <a:pPr algn="r" indent="0" marL="0">
              <a:buNone/>
            </a:pPr>
            <a:r>
              <a:rPr lang="en-US" sz="1300" b="1" dirty="0">
                <a:solidFill>
                  <a:srgbClr val="1B2B34"/>
                </a:solidFill>
                <a:latin typeface="Calibri" pitchFamily="34" charset="0"/>
                <a:ea typeface="Calibri" pitchFamily="34" charset="-122"/>
                <a:cs typeface="Calibri" pitchFamily="34" charset="-120"/>
              </a:rPr>
              <a:t>Monthly reports</a:t>
            </a:r>
            <a:endParaRPr lang="en-US" sz="1300" dirty="0"/>
          </a:p>
        </p:txBody>
      </p:sp>
      <p:sp>
        <p:nvSpPr>
          <p:cNvPr id="37" name="Shape 29"/>
          <p:cNvSpPr/>
          <p:nvPr/>
        </p:nvSpPr>
        <p:spPr>
          <a:xfrm>
            <a:off x="2194560" y="3474720"/>
            <a:ext cx="731520" cy="731520"/>
          </a:xfrm>
          <a:prstGeom prst="ellipse">
            <a:avLst/>
          </a:prstGeom>
          <a:solidFill>
            <a:srgbClr val="0E5E6F"/>
          </a:solidFill>
          <a:ln w="12700">
            <a:solidFill>
              <a:srgbClr val="0E5E6F"/>
            </a:solidFill>
            <a:prstDash val="solid"/>
          </a:ln>
        </p:spPr>
      </p:sp>
      <p:pic>
        <p:nvPicPr>
          <p:cNvPr id="38" name="Image 6" descr="preencoded.png">    </p:cNvPr>
          <p:cNvPicPr>
            <a:picLocks noChangeAspect="1"/>
          </p:cNvPicPr>
          <p:nvPr/>
        </p:nvPicPr>
        <p:blipFill>
          <a:blip r:embed="rId7"/>
          <a:stretch>
            <a:fillRect/>
          </a:stretch>
        </p:blipFill>
        <p:spPr>
          <a:xfrm>
            <a:off x="2370125" y="3650285"/>
            <a:ext cx="380390" cy="380390"/>
          </a:xfrm>
          <a:prstGeom prst="rect">
            <a:avLst/>
          </a:prstGeom>
        </p:spPr>
      </p:pic>
      <p:sp>
        <p:nvSpPr>
          <p:cNvPr id="39" name="Shape 30"/>
          <p:cNvSpPr/>
          <p:nvPr/>
        </p:nvSpPr>
        <p:spPr>
          <a:xfrm>
            <a:off x="2121408" y="3401568"/>
            <a:ext cx="274320" cy="274320"/>
          </a:xfrm>
          <a:prstGeom prst="ellipse">
            <a:avLst/>
          </a:prstGeom>
          <a:solidFill>
            <a:srgbClr val="F2A33A"/>
          </a:solidFill>
          <a:ln w="12700">
            <a:solidFill>
              <a:srgbClr val="FFFFFF"/>
            </a:solidFill>
            <a:prstDash val="solid"/>
          </a:ln>
        </p:spPr>
      </p:sp>
      <p:sp>
        <p:nvSpPr>
          <p:cNvPr id="40" name="Text 31"/>
          <p:cNvSpPr txBox="1"/>
          <p:nvPr/>
        </p:nvSpPr>
        <p:spPr>
          <a:xfrm>
            <a:off x="2121408" y="3401568"/>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7</a:t>
            </a:r>
            <a:endParaRPr lang="en-US" sz="1000" dirty="0"/>
          </a:p>
        </p:txBody>
      </p:sp>
      <p:sp>
        <p:nvSpPr>
          <p:cNvPr id="41" name="Text 32"/>
          <p:cNvSpPr txBox="1"/>
          <p:nvPr/>
        </p:nvSpPr>
        <p:spPr>
          <a:xfrm>
            <a:off x="548640" y="3566160"/>
            <a:ext cx="1554480" cy="548640"/>
          </a:xfrm>
          <a:prstGeom prst="rect">
            <a:avLst/>
          </a:prstGeom>
          <a:noFill/>
          <a:ln/>
        </p:spPr>
        <p:txBody>
          <a:bodyPr wrap="square" lIns="0" tIns="0" rIns="0" bIns="0" rtlCol="0" anchor="ctr"/>
          <a:lstStyle/>
          <a:p>
            <a:pPr algn="r" indent="0" marL="0">
              <a:buNone/>
            </a:pPr>
            <a:r>
              <a:rPr lang="en-US" sz="1300" b="1" dirty="0">
                <a:solidFill>
                  <a:srgbClr val="1B2B34"/>
                </a:solidFill>
                <a:latin typeface="Calibri" pitchFamily="34" charset="0"/>
                <a:ea typeface="Calibri" pitchFamily="34" charset="-122"/>
                <a:cs typeface="Calibri" pitchFamily="34" charset="-120"/>
              </a:rPr>
              <a:t>Feedback</a:t>
            </a:r>
            <a:endParaRPr lang="en-US" sz="1300" dirty="0"/>
          </a:p>
        </p:txBody>
      </p:sp>
      <p:sp>
        <p:nvSpPr>
          <p:cNvPr id="42" name="Shape 33"/>
          <p:cNvSpPr/>
          <p:nvPr/>
        </p:nvSpPr>
        <p:spPr>
          <a:xfrm>
            <a:off x="2676639" y="2310879"/>
            <a:ext cx="731520" cy="731520"/>
          </a:xfrm>
          <a:prstGeom prst="ellipse">
            <a:avLst/>
          </a:prstGeom>
          <a:solidFill>
            <a:srgbClr val="B94E2A"/>
          </a:solidFill>
          <a:ln w="12700">
            <a:solidFill>
              <a:srgbClr val="B94E2A"/>
            </a:solidFill>
            <a:prstDash val="solid"/>
          </a:ln>
        </p:spPr>
      </p:sp>
      <p:pic>
        <p:nvPicPr>
          <p:cNvPr id="43" name="Image 7" descr="preencoded.png">    </p:cNvPr>
          <p:cNvPicPr>
            <a:picLocks noChangeAspect="1"/>
          </p:cNvPicPr>
          <p:nvPr/>
        </p:nvPicPr>
        <p:blipFill>
          <a:blip r:embed="rId8"/>
          <a:stretch>
            <a:fillRect/>
          </a:stretch>
        </p:blipFill>
        <p:spPr>
          <a:xfrm>
            <a:off x="2852204" y="2486444"/>
            <a:ext cx="380390" cy="380390"/>
          </a:xfrm>
          <a:prstGeom prst="rect">
            <a:avLst/>
          </a:prstGeom>
        </p:spPr>
      </p:pic>
      <p:sp>
        <p:nvSpPr>
          <p:cNvPr id="44" name="Shape 34"/>
          <p:cNvSpPr/>
          <p:nvPr/>
        </p:nvSpPr>
        <p:spPr>
          <a:xfrm>
            <a:off x="2603487" y="2237727"/>
            <a:ext cx="274320" cy="274320"/>
          </a:xfrm>
          <a:prstGeom prst="ellipse">
            <a:avLst/>
          </a:prstGeom>
          <a:solidFill>
            <a:srgbClr val="F2A33A"/>
          </a:solidFill>
          <a:ln w="12700">
            <a:solidFill>
              <a:srgbClr val="FFFFFF"/>
            </a:solidFill>
            <a:prstDash val="solid"/>
          </a:ln>
        </p:spPr>
      </p:sp>
      <p:sp>
        <p:nvSpPr>
          <p:cNvPr id="45" name="Text 35"/>
          <p:cNvSpPr txBox="1"/>
          <p:nvPr/>
        </p:nvSpPr>
        <p:spPr>
          <a:xfrm>
            <a:off x="2603487" y="2237727"/>
            <a:ext cx="274320" cy="274320"/>
          </a:xfrm>
          <a:prstGeom prst="rect">
            <a:avLst/>
          </a:prstGeom>
          <a:noFill/>
          <a:ln/>
        </p:spPr>
        <p:txBody>
          <a:bodyPr wrap="square" lIns="0" tIns="0" rIns="0" bIns="0" rtlCol="0" anchor="ctr"/>
          <a:lstStyle/>
          <a:p>
            <a:pPr algn="ctr" indent="0" marL="0">
              <a:buNone/>
            </a:pPr>
            <a:r>
              <a:rPr lang="en-US" sz="1000" b="1" dirty="0">
                <a:solidFill>
                  <a:srgbClr val="1B2B34"/>
                </a:solidFill>
                <a:latin typeface="Calibri" pitchFamily="34" charset="0"/>
                <a:ea typeface="Calibri" pitchFamily="34" charset="-122"/>
                <a:cs typeface="Calibri" pitchFamily="34" charset="-120"/>
              </a:rPr>
              <a:t>8</a:t>
            </a:r>
            <a:endParaRPr lang="en-US" sz="1000" dirty="0"/>
          </a:p>
        </p:txBody>
      </p:sp>
      <p:sp>
        <p:nvSpPr>
          <p:cNvPr id="46" name="Text 36"/>
          <p:cNvSpPr txBox="1"/>
          <p:nvPr/>
        </p:nvSpPr>
        <p:spPr>
          <a:xfrm>
            <a:off x="1030719" y="2402319"/>
            <a:ext cx="1554480" cy="548640"/>
          </a:xfrm>
          <a:prstGeom prst="rect">
            <a:avLst/>
          </a:prstGeom>
          <a:noFill/>
          <a:ln/>
        </p:spPr>
        <p:txBody>
          <a:bodyPr wrap="square" lIns="0" tIns="0" rIns="0" bIns="0" rtlCol="0" anchor="ctr"/>
          <a:lstStyle/>
          <a:p>
            <a:pPr algn="r" indent="0" marL="0">
              <a:buNone/>
            </a:pPr>
            <a:r>
              <a:rPr lang="en-US" sz="1300" b="1" dirty="0">
                <a:solidFill>
                  <a:srgbClr val="1B2B34"/>
                </a:solidFill>
                <a:latin typeface="Calibri" pitchFamily="34" charset="0"/>
                <a:ea typeface="Calibri" pitchFamily="34" charset="-122"/>
                <a:cs typeface="Calibri" pitchFamily="34" charset="-120"/>
              </a:rPr>
              <a:t>Mid-course correction</a:t>
            </a:r>
            <a:endParaRPr lang="en-US" sz="1300" dirty="0"/>
          </a:p>
        </p:txBody>
      </p:sp>
      <p:sp>
        <p:nvSpPr>
          <p:cNvPr id="47" name="Shape 37"/>
          <p:cNvSpPr/>
          <p:nvPr/>
        </p:nvSpPr>
        <p:spPr>
          <a:xfrm>
            <a:off x="8183880" y="1463040"/>
            <a:ext cx="3456432" cy="4709160"/>
          </a:xfrm>
          <a:prstGeom prst="roundRect">
            <a:avLst>
              <a:gd name="adj" fmla="val 2116"/>
            </a:avLst>
          </a:prstGeom>
          <a:solidFill>
            <a:srgbClr val="F2F5F6"/>
          </a:solidFill>
          <a:ln w="9525">
            <a:solidFill>
              <a:srgbClr val="F2F5F6"/>
            </a:solidFill>
            <a:prstDash val="solid"/>
          </a:ln>
        </p:spPr>
      </p:sp>
      <p:sp>
        <p:nvSpPr>
          <p:cNvPr id="48" name="Text 38"/>
          <p:cNvSpPr txBox="1"/>
          <p:nvPr/>
        </p:nvSpPr>
        <p:spPr>
          <a:xfrm>
            <a:off x="8412480" y="1645920"/>
            <a:ext cx="3108960" cy="274320"/>
          </a:xfrm>
          <a:prstGeom prst="rect">
            <a:avLst/>
          </a:prstGeom>
          <a:noFill/>
          <a:ln/>
        </p:spPr>
        <p:txBody>
          <a:bodyPr wrap="square" lIns="0" tIns="0" rIns="0" bIns="0" rtlCol="0" anchor="t"/>
          <a:lstStyle/>
          <a:p>
            <a:pPr indent="0" marL="0">
              <a:buNone/>
            </a:pPr>
            <a:r>
              <a:rPr lang="en-US" sz="1200" b="1" spc="100" kern="0" dirty="0">
                <a:solidFill>
                  <a:srgbClr val="5B6770"/>
                </a:solidFill>
                <a:latin typeface="Calibri" pitchFamily="34" charset="0"/>
                <a:ea typeface="Calibri" pitchFamily="34" charset="-122"/>
                <a:cs typeface="Calibri" pitchFamily="34" charset="-120"/>
              </a:rPr>
              <a:t>WHAT IS CHECKED ON THE GROUND</a:t>
            </a:r>
            <a:endParaRPr lang="en-US" sz="1200" dirty="0"/>
          </a:p>
        </p:txBody>
      </p:sp>
      <p:sp>
        <p:nvSpPr>
          <p:cNvPr id="49" name="Shape 39"/>
          <p:cNvSpPr/>
          <p:nvPr/>
        </p:nvSpPr>
        <p:spPr>
          <a:xfrm>
            <a:off x="8412480" y="2103120"/>
            <a:ext cx="457200" cy="457200"/>
          </a:xfrm>
          <a:prstGeom prst="ellipse">
            <a:avLst/>
          </a:prstGeom>
          <a:solidFill>
            <a:srgbClr val="2F9AAE"/>
          </a:solidFill>
          <a:ln w="12700">
            <a:solidFill>
              <a:srgbClr val="2F9AAE"/>
            </a:solidFill>
            <a:prstDash val="solid"/>
          </a:ln>
        </p:spPr>
      </p:sp>
      <p:pic>
        <p:nvPicPr>
          <p:cNvPr id="50" name="Image 8" descr="preencoded.png">    </p:cNvPr>
          <p:cNvPicPr>
            <a:picLocks noChangeAspect="1"/>
          </p:cNvPicPr>
          <p:nvPr/>
        </p:nvPicPr>
        <p:blipFill>
          <a:blip r:embed="rId9"/>
          <a:stretch>
            <a:fillRect/>
          </a:stretch>
        </p:blipFill>
        <p:spPr>
          <a:xfrm>
            <a:off x="8522208" y="2212848"/>
            <a:ext cx="237744" cy="237744"/>
          </a:xfrm>
          <a:prstGeom prst="rect">
            <a:avLst/>
          </a:prstGeom>
        </p:spPr>
      </p:pic>
      <p:sp>
        <p:nvSpPr>
          <p:cNvPr id="51" name="Text 40"/>
          <p:cNvSpPr txBox="1"/>
          <p:nvPr/>
        </p:nvSpPr>
        <p:spPr>
          <a:xfrm>
            <a:off x="9006840" y="2103120"/>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Field visits (PM &amp; Tech. Coordinator)</a:t>
            </a:r>
            <a:endParaRPr lang="en-US" sz="1350" dirty="0"/>
          </a:p>
        </p:txBody>
      </p:sp>
      <p:sp>
        <p:nvSpPr>
          <p:cNvPr id="52" name="Shape 41"/>
          <p:cNvSpPr/>
          <p:nvPr/>
        </p:nvSpPr>
        <p:spPr>
          <a:xfrm>
            <a:off x="8412480" y="2770632"/>
            <a:ext cx="457200" cy="457200"/>
          </a:xfrm>
          <a:prstGeom prst="ellipse">
            <a:avLst/>
          </a:prstGeom>
          <a:solidFill>
            <a:srgbClr val="2F9AAE"/>
          </a:solidFill>
          <a:ln w="12700">
            <a:solidFill>
              <a:srgbClr val="2F9AAE"/>
            </a:solidFill>
            <a:prstDash val="solid"/>
          </a:ln>
        </p:spPr>
      </p:sp>
      <p:pic>
        <p:nvPicPr>
          <p:cNvPr id="53" name="Image 9" descr="preencoded.png">    </p:cNvPr>
          <p:cNvPicPr>
            <a:picLocks noChangeAspect="1"/>
          </p:cNvPicPr>
          <p:nvPr/>
        </p:nvPicPr>
        <p:blipFill>
          <a:blip r:embed="rId10"/>
          <a:stretch>
            <a:fillRect/>
          </a:stretch>
        </p:blipFill>
        <p:spPr>
          <a:xfrm>
            <a:off x="8522208" y="2880360"/>
            <a:ext cx="237744" cy="237744"/>
          </a:xfrm>
          <a:prstGeom prst="rect">
            <a:avLst/>
          </a:prstGeom>
        </p:spPr>
      </p:pic>
      <p:sp>
        <p:nvSpPr>
          <p:cNvPr id="54" name="Text 42"/>
          <p:cNvSpPr txBox="1"/>
          <p:nvPr/>
        </p:nvSpPr>
        <p:spPr>
          <a:xfrm>
            <a:off x="9006840" y="2770632"/>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Geo-tagged photos &amp; videos per milestone</a:t>
            </a:r>
            <a:endParaRPr lang="en-US" sz="1350" dirty="0"/>
          </a:p>
        </p:txBody>
      </p:sp>
      <p:sp>
        <p:nvSpPr>
          <p:cNvPr id="55" name="Shape 43"/>
          <p:cNvSpPr/>
          <p:nvPr/>
        </p:nvSpPr>
        <p:spPr>
          <a:xfrm>
            <a:off x="8412480" y="3438144"/>
            <a:ext cx="457200" cy="457200"/>
          </a:xfrm>
          <a:prstGeom prst="ellipse">
            <a:avLst/>
          </a:prstGeom>
          <a:solidFill>
            <a:srgbClr val="2F9AAE"/>
          </a:solidFill>
          <a:ln w="12700">
            <a:solidFill>
              <a:srgbClr val="2F9AAE"/>
            </a:solidFill>
            <a:prstDash val="solid"/>
          </a:ln>
        </p:spPr>
      </p:sp>
      <p:pic>
        <p:nvPicPr>
          <p:cNvPr id="56" name="Image 10" descr="preencoded.png">    </p:cNvPr>
          <p:cNvPicPr>
            <a:picLocks noChangeAspect="1"/>
          </p:cNvPicPr>
          <p:nvPr/>
        </p:nvPicPr>
        <p:blipFill>
          <a:blip r:embed="rId11"/>
          <a:stretch>
            <a:fillRect/>
          </a:stretch>
        </p:blipFill>
        <p:spPr>
          <a:xfrm>
            <a:off x="8522208" y="3547872"/>
            <a:ext cx="237744" cy="237744"/>
          </a:xfrm>
          <a:prstGeom prst="rect">
            <a:avLst/>
          </a:prstGeom>
        </p:spPr>
      </p:pic>
      <p:sp>
        <p:nvSpPr>
          <p:cNvPr id="57" name="Text 44"/>
          <p:cNvSpPr txBox="1"/>
          <p:nvPr/>
        </p:nvSpPr>
        <p:spPr>
          <a:xfrm>
            <a:off x="9006840" y="3438144"/>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System functionality checks</a:t>
            </a:r>
            <a:endParaRPr lang="en-US" sz="1350" dirty="0"/>
          </a:p>
        </p:txBody>
      </p:sp>
      <p:sp>
        <p:nvSpPr>
          <p:cNvPr id="58" name="Shape 45"/>
          <p:cNvSpPr/>
          <p:nvPr/>
        </p:nvSpPr>
        <p:spPr>
          <a:xfrm>
            <a:off x="8412480" y="4105656"/>
            <a:ext cx="457200" cy="457200"/>
          </a:xfrm>
          <a:prstGeom prst="ellipse">
            <a:avLst/>
          </a:prstGeom>
          <a:solidFill>
            <a:srgbClr val="2F9AAE"/>
          </a:solidFill>
          <a:ln w="12700">
            <a:solidFill>
              <a:srgbClr val="2F9AAE"/>
            </a:solidFill>
            <a:prstDash val="solid"/>
          </a:ln>
        </p:spPr>
      </p:sp>
      <p:pic>
        <p:nvPicPr>
          <p:cNvPr id="59" name="Image 11" descr="preencoded.png">    </p:cNvPr>
          <p:cNvPicPr>
            <a:picLocks noChangeAspect="1"/>
          </p:cNvPicPr>
          <p:nvPr/>
        </p:nvPicPr>
        <p:blipFill>
          <a:blip r:embed="rId12"/>
          <a:stretch>
            <a:fillRect/>
          </a:stretch>
        </p:blipFill>
        <p:spPr>
          <a:xfrm>
            <a:off x="8522208" y="4215384"/>
            <a:ext cx="237744" cy="237744"/>
          </a:xfrm>
          <a:prstGeom prst="rect">
            <a:avLst/>
          </a:prstGeom>
        </p:spPr>
      </p:pic>
      <p:sp>
        <p:nvSpPr>
          <p:cNvPr id="60" name="Text 46"/>
          <p:cNvSpPr txBox="1"/>
          <p:nvPr/>
        </p:nvSpPr>
        <p:spPr>
          <a:xfrm>
            <a:off x="9006840" y="4105656"/>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Water quality checks</a:t>
            </a:r>
            <a:endParaRPr lang="en-US" sz="1350" dirty="0"/>
          </a:p>
        </p:txBody>
      </p:sp>
      <p:sp>
        <p:nvSpPr>
          <p:cNvPr id="61" name="Shape 47"/>
          <p:cNvSpPr/>
          <p:nvPr/>
        </p:nvSpPr>
        <p:spPr>
          <a:xfrm>
            <a:off x="8412480" y="4773168"/>
            <a:ext cx="457200" cy="457200"/>
          </a:xfrm>
          <a:prstGeom prst="ellipse">
            <a:avLst/>
          </a:prstGeom>
          <a:solidFill>
            <a:srgbClr val="2F9AAE"/>
          </a:solidFill>
          <a:ln w="12700">
            <a:solidFill>
              <a:srgbClr val="2F9AAE"/>
            </a:solidFill>
            <a:prstDash val="solid"/>
          </a:ln>
        </p:spPr>
      </p:sp>
      <p:pic>
        <p:nvPicPr>
          <p:cNvPr id="62" name="Image 12" descr="preencoded.png">    </p:cNvPr>
          <p:cNvPicPr>
            <a:picLocks noChangeAspect="1"/>
          </p:cNvPicPr>
          <p:nvPr/>
        </p:nvPicPr>
        <p:blipFill>
          <a:blip r:embed="rId13"/>
          <a:stretch>
            <a:fillRect/>
          </a:stretch>
        </p:blipFill>
        <p:spPr>
          <a:xfrm>
            <a:off x="8522208" y="4882896"/>
            <a:ext cx="237744" cy="237744"/>
          </a:xfrm>
          <a:prstGeom prst="rect">
            <a:avLst/>
          </a:prstGeom>
        </p:spPr>
      </p:pic>
      <p:sp>
        <p:nvSpPr>
          <p:cNvPr id="63" name="Text 48"/>
          <p:cNvSpPr txBox="1"/>
          <p:nvPr/>
        </p:nvSpPr>
        <p:spPr>
          <a:xfrm>
            <a:off x="9006840" y="4773168"/>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Surveys &amp; focus group feedback</a:t>
            </a:r>
            <a:endParaRPr lang="en-US" sz="1350" dirty="0"/>
          </a:p>
        </p:txBody>
      </p:sp>
      <p:sp>
        <p:nvSpPr>
          <p:cNvPr id="64" name="Shape 49"/>
          <p:cNvSpPr/>
          <p:nvPr/>
        </p:nvSpPr>
        <p:spPr>
          <a:xfrm>
            <a:off x="8412480" y="5440680"/>
            <a:ext cx="457200" cy="457200"/>
          </a:xfrm>
          <a:prstGeom prst="ellipse">
            <a:avLst/>
          </a:prstGeom>
          <a:solidFill>
            <a:srgbClr val="2F9AAE"/>
          </a:solidFill>
          <a:ln w="12700">
            <a:solidFill>
              <a:srgbClr val="2F9AAE"/>
            </a:solidFill>
            <a:prstDash val="solid"/>
          </a:ln>
        </p:spPr>
      </p:sp>
      <p:pic>
        <p:nvPicPr>
          <p:cNvPr id="65" name="Image 13" descr="preencoded.png">    </p:cNvPr>
          <p:cNvPicPr>
            <a:picLocks noChangeAspect="1"/>
          </p:cNvPicPr>
          <p:nvPr/>
        </p:nvPicPr>
        <p:blipFill>
          <a:blip r:embed="rId14"/>
          <a:stretch>
            <a:fillRect/>
          </a:stretch>
        </p:blipFill>
        <p:spPr>
          <a:xfrm>
            <a:off x="8522208" y="5550408"/>
            <a:ext cx="237744" cy="237744"/>
          </a:xfrm>
          <a:prstGeom prst="rect">
            <a:avLst/>
          </a:prstGeom>
        </p:spPr>
      </p:pic>
      <p:sp>
        <p:nvSpPr>
          <p:cNvPr id="66" name="Text 50"/>
          <p:cNvSpPr txBox="1"/>
          <p:nvPr/>
        </p:nvSpPr>
        <p:spPr>
          <a:xfrm>
            <a:off x="9006840" y="5440680"/>
            <a:ext cx="2560320" cy="548640"/>
          </a:xfrm>
          <a:prstGeom prst="rect">
            <a:avLst/>
          </a:prstGeom>
          <a:noFill/>
          <a:ln/>
        </p:spPr>
        <p:txBody>
          <a:bodyPr wrap="square" lIns="0" tIns="0" rIns="0" bIns="0" rtlCol="0" anchor="ctr"/>
          <a:lstStyle/>
          <a:p>
            <a:pPr indent="0" marL="0">
              <a:buNone/>
            </a:pPr>
            <a:r>
              <a:rPr lang="en-US" sz="1350" b="1" dirty="0">
                <a:solidFill>
                  <a:srgbClr val="1B2B34"/>
                </a:solidFill>
                <a:latin typeface="Calibri" pitchFamily="34" charset="0"/>
                <a:ea typeface="Calibri" pitchFamily="34" charset="-122"/>
                <a:cs typeface="Calibri" pitchFamily="34" charset="-120"/>
              </a:rPr>
              <a:t>Dashboard issue flagging &amp; resolution</a:t>
            </a:r>
            <a:endParaRPr lang="en-US" sz="1350" dirty="0"/>
          </a:p>
        </p:txBody>
      </p:sp>
      <p:sp>
        <p:nvSpPr>
          <p:cNvPr id="67" name="Text 51"/>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68" name="Text 52"/>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DOCUMENTATION</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Reporting &amp; Documentation</a:t>
            </a:r>
            <a:endParaRPr lang="en-US" sz="3200" dirty="0"/>
          </a:p>
        </p:txBody>
      </p:sp>
      <p:sp>
        <p:nvSpPr>
          <p:cNvPr id="4" name="Text 2"/>
          <p:cNvSpPr txBox="1"/>
          <p:nvPr/>
        </p:nvSpPr>
        <p:spPr>
          <a:xfrm>
            <a:off x="548640" y="1508760"/>
            <a:ext cx="45720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WHAT IS CAPTURED</a:t>
            </a:r>
            <a:endParaRPr lang="en-US" sz="1200" dirty="0"/>
          </a:p>
        </p:txBody>
      </p:sp>
      <p:sp>
        <p:nvSpPr>
          <p:cNvPr id="5" name="Shape 3"/>
          <p:cNvSpPr/>
          <p:nvPr/>
        </p:nvSpPr>
        <p:spPr>
          <a:xfrm>
            <a:off x="548640" y="192024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6" name="Shape 4"/>
          <p:cNvSpPr/>
          <p:nvPr/>
        </p:nvSpPr>
        <p:spPr>
          <a:xfrm>
            <a:off x="1110996" y="2194560"/>
            <a:ext cx="658368" cy="658368"/>
          </a:xfrm>
          <a:prstGeom prst="ellipse">
            <a:avLst/>
          </a:prstGeom>
          <a:solidFill>
            <a:srgbClr val="0E5E6F"/>
          </a:solidFill>
          <a:ln w="12700">
            <a:solidFill>
              <a:srgbClr val="0E5E6F"/>
            </a:solidFill>
            <a:prstDash val="solid"/>
          </a:ln>
        </p:spPr>
      </p:sp>
      <p:pic>
        <p:nvPicPr>
          <p:cNvPr id="7" name="Image 0" descr="preencoded.png">    </p:cNvPr>
          <p:cNvPicPr>
            <a:picLocks noChangeAspect="1"/>
          </p:cNvPicPr>
          <p:nvPr/>
        </p:nvPicPr>
        <p:blipFill>
          <a:blip r:embed="rId1"/>
          <a:stretch>
            <a:fillRect/>
          </a:stretch>
        </p:blipFill>
        <p:spPr>
          <a:xfrm>
            <a:off x="1269004" y="2352568"/>
            <a:ext cx="342351" cy="342351"/>
          </a:xfrm>
          <a:prstGeom prst="rect">
            <a:avLst/>
          </a:prstGeom>
        </p:spPr>
      </p:pic>
      <p:sp>
        <p:nvSpPr>
          <p:cNvPr id="8" name="Text 5"/>
          <p:cNvSpPr txBox="1"/>
          <p:nvPr/>
        </p:nvSpPr>
        <p:spPr>
          <a:xfrm>
            <a:off x="658368" y="297180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Baseline &amp; beneficiary data</a:t>
            </a:r>
            <a:endParaRPr lang="en-US" sz="1400" dirty="0"/>
          </a:p>
        </p:txBody>
      </p:sp>
      <p:sp>
        <p:nvSpPr>
          <p:cNvPr id="9" name="Text 6"/>
          <p:cNvSpPr txBox="1"/>
          <p:nvPr/>
        </p:nvSpPr>
        <p:spPr>
          <a:xfrm>
            <a:off x="2331720" y="2651760"/>
            <a:ext cx="320040" cy="457200"/>
          </a:xfrm>
          <a:prstGeom prst="rect">
            <a:avLst/>
          </a:prstGeom>
          <a:noFill/>
          <a:ln/>
        </p:spPr>
        <p:txBody>
          <a:bodyPr wrap="square" lIns="0" tIns="0" rIns="0" bIns="0" rtlCol="0" anchor="ctr"/>
          <a:lstStyle/>
          <a:p>
            <a:pPr algn="ctr" indent="0" marL="0">
              <a:buNone/>
            </a:pPr>
            <a:r>
              <a:rPr lang="en-US" sz="2200" b="1" dirty="0">
                <a:solidFill>
                  <a:srgbClr val="5B6770"/>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651760" y="192024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1" name="Shape 8"/>
          <p:cNvSpPr/>
          <p:nvPr/>
        </p:nvSpPr>
        <p:spPr>
          <a:xfrm>
            <a:off x="3214116" y="2194560"/>
            <a:ext cx="658368" cy="658368"/>
          </a:xfrm>
          <a:prstGeom prst="ellipse">
            <a:avLst/>
          </a:prstGeom>
          <a:solidFill>
            <a:srgbClr val="2F9AAE"/>
          </a:solidFill>
          <a:ln w="12700">
            <a:solidFill>
              <a:srgbClr val="2F9AAE"/>
            </a:solidFill>
            <a:prstDash val="solid"/>
          </a:ln>
        </p:spPr>
      </p:sp>
      <p:pic>
        <p:nvPicPr>
          <p:cNvPr id="12" name="Image 1" descr="preencoded.png">    </p:cNvPr>
          <p:cNvPicPr>
            <a:picLocks noChangeAspect="1"/>
          </p:cNvPicPr>
          <p:nvPr/>
        </p:nvPicPr>
        <p:blipFill>
          <a:blip r:embed="rId2"/>
          <a:stretch>
            <a:fillRect/>
          </a:stretch>
        </p:blipFill>
        <p:spPr>
          <a:xfrm>
            <a:off x="3372124" y="2352568"/>
            <a:ext cx="342351" cy="342351"/>
          </a:xfrm>
          <a:prstGeom prst="rect">
            <a:avLst/>
          </a:prstGeom>
        </p:spPr>
      </p:pic>
      <p:sp>
        <p:nvSpPr>
          <p:cNvPr id="13" name="Text 9"/>
          <p:cNvSpPr txBox="1"/>
          <p:nvPr/>
        </p:nvSpPr>
        <p:spPr>
          <a:xfrm>
            <a:off x="2761488" y="297180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Installation records</a:t>
            </a:r>
            <a:endParaRPr lang="en-US" sz="1400" dirty="0"/>
          </a:p>
        </p:txBody>
      </p:sp>
      <p:sp>
        <p:nvSpPr>
          <p:cNvPr id="14" name="Text 10"/>
          <p:cNvSpPr txBox="1"/>
          <p:nvPr/>
        </p:nvSpPr>
        <p:spPr>
          <a:xfrm>
            <a:off x="4434840" y="2651760"/>
            <a:ext cx="320040" cy="457200"/>
          </a:xfrm>
          <a:prstGeom prst="rect">
            <a:avLst/>
          </a:prstGeom>
          <a:noFill/>
          <a:ln/>
        </p:spPr>
        <p:txBody>
          <a:bodyPr wrap="square" lIns="0" tIns="0" rIns="0" bIns="0" rtlCol="0" anchor="ctr"/>
          <a:lstStyle/>
          <a:p>
            <a:pPr algn="ctr" indent="0" marL="0">
              <a:buNone/>
            </a:pPr>
            <a:r>
              <a:rPr lang="en-US" sz="2200" b="1" dirty="0">
                <a:solidFill>
                  <a:srgbClr val="5B6770"/>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4754880" y="192024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16" name="Shape 12"/>
          <p:cNvSpPr/>
          <p:nvPr/>
        </p:nvSpPr>
        <p:spPr>
          <a:xfrm>
            <a:off x="5317236" y="2194560"/>
            <a:ext cx="658368" cy="658368"/>
          </a:xfrm>
          <a:prstGeom prst="ellipse">
            <a:avLst/>
          </a:prstGeom>
          <a:solidFill>
            <a:srgbClr val="B86E0C"/>
          </a:solidFill>
          <a:ln w="12700">
            <a:solidFill>
              <a:srgbClr val="B86E0C"/>
            </a:solidFill>
            <a:prstDash val="solid"/>
          </a:ln>
        </p:spPr>
      </p:sp>
      <p:pic>
        <p:nvPicPr>
          <p:cNvPr id="17" name="Image 2" descr="preencoded.png">    </p:cNvPr>
          <p:cNvPicPr>
            <a:picLocks noChangeAspect="1"/>
          </p:cNvPicPr>
          <p:nvPr/>
        </p:nvPicPr>
        <p:blipFill>
          <a:blip r:embed="rId3"/>
          <a:stretch>
            <a:fillRect/>
          </a:stretch>
        </p:blipFill>
        <p:spPr>
          <a:xfrm>
            <a:off x="5475244" y="2352568"/>
            <a:ext cx="342351" cy="342351"/>
          </a:xfrm>
          <a:prstGeom prst="rect">
            <a:avLst/>
          </a:prstGeom>
        </p:spPr>
      </p:pic>
      <p:sp>
        <p:nvSpPr>
          <p:cNvPr id="18" name="Text 13"/>
          <p:cNvSpPr txBox="1"/>
          <p:nvPr/>
        </p:nvSpPr>
        <p:spPr>
          <a:xfrm>
            <a:off x="4864608" y="297180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Date-stamped photos &amp; videos</a:t>
            </a:r>
            <a:endParaRPr lang="en-US" sz="1400" dirty="0"/>
          </a:p>
        </p:txBody>
      </p:sp>
      <p:sp>
        <p:nvSpPr>
          <p:cNvPr id="19" name="Shape 14"/>
          <p:cNvSpPr/>
          <p:nvPr/>
        </p:nvSpPr>
        <p:spPr>
          <a:xfrm>
            <a:off x="548640" y="416052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0" name="Shape 15"/>
          <p:cNvSpPr/>
          <p:nvPr/>
        </p:nvSpPr>
        <p:spPr>
          <a:xfrm>
            <a:off x="1110996" y="4434840"/>
            <a:ext cx="658368" cy="658368"/>
          </a:xfrm>
          <a:prstGeom prst="ellipse">
            <a:avLst/>
          </a:prstGeom>
          <a:solidFill>
            <a:srgbClr val="0E5E6F"/>
          </a:solidFill>
          <a:ln w="12700">
            <a:solidFill>
              <a:srgbClr val="0E5E6F"/>
            </a:solidFill>
            <a:prstDash val="solid"/>
          </a:ln>
        </p:spPr>
      </p:sp>
      <p:pic>
        <p:nvPicPr>
          <p:cNvPr id="21" name="Image 3" descr="preencoded.png">    </p:cNvPr>
          <p:cNvPicPr>
            <a:picLocks noChangeAspect="1"/>
          </p:cNvPicPr>
          <p:nvPr/>
        </p:nvPicPr>
        <p:blipFill>
          <a:blip r:embed="rId4"/>
          <a:stretch>
            <a:fillRect/>
          </a:stretch>
        </p:blipFill>
        <p:spPr>
          <a:xfrm>
            <a:off x="1269004" y="4592848"/>
            <a:ext cx="342351" cy="342351"/>
          </a:xfrm>
          <a:prstGeom prst="rect">
            <a:avLst/>
          </a:prstGeom>
        </p:spPr>
      </p:pic>
      <p:sp>
        <p:nvSpPr>
          <p:cNvPr id="22" name="Text 16"/>
          <p:cNvSpPr txBox="1"/>
          <p:nvPr/>
        </p:nvSpPr>
        <p:spPr>
          <a:xfrm>
            <a:off x="658368" y="521208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Attendance &amp; activity logs</a:t>
            </a:r>
            <a:endParaRPr lang="en-US" sz="1400" dirty="0"/>
          </a:p>
        </p:txBody>
      </p:sp>
      <p:sp>
        <p:nvSpPr>
          <p:cNvPr id="23" name="Text 17"/>
          <p:cNvSpPr txBox="1"/>
          <p:nvPr/>
        </p:nvSpPr>
        <p:spPr>
          <a:xfrm>
            <a:off x="2331720" y="4892040"/>
            <a:ext cx="320040" cy="457200"/>
          </a:xfrm>
          <a:prstGeom prst="rect">
            <a:avLst/>
          </a:prstGeom>
          <a:noFill/>
          <a:ln/>
        </p:spPr>
        <p:txBody>
          <a:bodyPr wrap="square" lIns="0" tIns="0" rIns="0" bIns="0" rtlCol="0" anchor="ctr"/>
          <a:lstStyle/>
          <a:p>
            <a:pPr algn="ctr" indent="0" marL="0">
              <a:buNone/>
            </a:pPr>
            <a:r>
              <a:rPr lang="en-US" sz="2200" b="1" dirty="0">
                <a:solidFill>
                  <a:srgbClr val="5B6770"/>
                </a:solidFill>
                <a:latin typeface="Calibri" pitchFamily="34" charset="0"/>
                <a:ea typeface="Calibri" pitchFamily="34" charset="-122"/>
                <a:cs typeface="Calibri" pitchFamily="34" charset="-120"/>
              </a:rPr>
              <a:t>+</a:t>
            </a:r>
            <a:endParaRPr lang="en-US" sz="2200" dirty="0"/>
          </a:p>
        </p:txBody>
      </p:sp>
      <p:sp>
        <p:nvSpPr>
          <p:cNvPr id="24" name="Shape 18"/>
          <p:cNvSpPr/>
          <p:nvPr/>
        </p:nvSpPr>
        <p:spPr>
          <a:xfrm>
            <a:off x="2651760" y="416052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25" name="Shape 19"/>
          <p:cNvSpPr/>
          <p:nvPr/>
        </p:nvSpPr>
        <p:spPr>
          <a:xfrm>
            <a:off x="3214116" y="4434840"/>
            <a:ext cx="658368" cy="658368"/>
          </a:xfrm>
          <a:prstGeom prst="ellipse">
            <a:avLst/>
          </a:prstGeom>
          <a:solidFill>
            <a:srgbClr val="B94E2A"/>
          </a:solidFill>
          <a:ln w="12700">
            <a:solidFill>
              <a:srgbClr val="B94E2A"/>
            </a:solidFill>
            <a:prstDash val="solid"/>
          </a:ln>
        </p:spPr>
      </p:sp>
      <p:pic>
        <p:nvPicPr>
          <p:cNvPr id="26" name="Image 4" descr="preencoded.png">    </p:cNvPr>
          <p:cNvPicPr>
            <a:picLocks noChangeAspect="1"/>
          </p:cNvPicPr>
          <p:nvPr/>
        </p:nvPicPr>
        <p:blipFill>
          <a:blip r:embed="rId5"/>
          <a:stretch>
            <a:fillRect/>
          </a:stretch>
        </p:blipFill>
        <p:spPr>
          <a:xfrm>
            <a:off x="3372124" y="4592848"/>
            <a:ext cx="342351" cy="342351"/>
          </a:xfrm>
          <a:prstGeom prst="rect">
            <a:avLst/>
          </a:prstGeom>
        </p:spPr>
      </p:pic>
      <p:sp>
        <p:nvSpPr>
          <p:cNvPr id="27" name="Text 20"/>
          <p:cNvSpPr txBox="1"/>
          <p:nvPr/>
        </p:nvSpPr>
        <p:spPr>
          <a:xfrm>
            <a:off x="2761488" y="521208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Beneficiary feedback</a:t>
            </a:r>
            <a:endParaRPr lang="en-US" sz="1400" dirty="0"/>
          </a:p>
        </p:txBody>
      </p:sp>
      <p:sp>
        <p:nvSpPr>
          <p:cNvPr id="28" name="Text 21"/>
          <p:cNvSpPr txBox="1"/>
          <p:nvPr/>
        </p:nvSpPr>
        <p:spPr>
          <a:xfrm>
            <a:off x="4434840" y="4892040"/>
            <a:ext cx="320040" cy="457200"/>
          </a:xfrm>
          <a:prstGeom prst="rect">
            <a:avLst/>
          </a:prstGeom>
          <a:noFill/>
          <a:ln/>
        </p:spPr>
        <p:txBody>
          <a:bodyPr wrap="square" lIns="0" tIns="0" rIns="0" bIns="0" rtlCol="0" anchor="ctr"/>
          <a:lstStyle/>
          <a:p>
            <a:pPr algn="ctr" indent="0" marL="0">
              <a:buNone/>
            </a:pPr>
            <a:r>
              <a:rPr lang="en-US" sz="2200" b="1" dirty="0">
                <a:solidFill>
                  <a:srgbClr val="5B6770"/>
                </a:solidFill>
                <a:latin typeface="Calibri" pitchFamily="34" charset="0"/>
                <a:ea typeface="Calibri" pitchFamily="34" charset="-122"/>
                <a:cs typeface="Calibri" pitchFamily="34" charset="-120"/>
              </a:rPr>
              <a:t>+</a:t>
            </a:r>
            <a:endParaRPr lang="en-US" sz="2200" dirty="0"/>
          </a:p>
        </p:txBody>
      </p:sp>
      <p:sp>
        <p:nvSpPr>
          <p:cNvPr id="29" name="Shape 22"/>
          <p:cNvSpPr/>
          <p:nvPr/>
        </p:nvSpPr>
        <p:spPr>
          <a:xfrm>
            <a:off x="4754880" y="4160520"/>
            <a:ext cx="1783080" cy="1920240"/>
          </a:xfrm>
          <a:prstGeom prst="roundRect">
            <a:avLst>
              <a:gd name="adj" fmla="val 4103"/>
            </a:avLst>
          </a:prstGeom>
          <a:solidFill>
            <a:srgbClr val="FFFFFF"/>
          </a:solidFill>
          <a:ln w="9525">
            <a:solidFill>
              <a:srgbClr val="D3DDE1"/>
            </a:solidFill>
            <a:prstDash val="solid"/>
          </a:ln>
          <a:effectLst>
            <a:outerShdw sx="100000" sy="100000" kx="0" ky="0" algn="bl" rotWithShape="0" blurRad="76200" dist="25400" dir="5400000">
              <a:srgbClr val="000000">
                <a:alpha val="10000"/>
              </a:srgbClr>
            </a:outerShdw>
          </a:effectLst>
        </p:spPr>
      </p:sp>
      <p:sp>
        <p:nvSpPr>
          <p:cNvPr id="30" name="Shape 23"/>
          <p:cNvSpPr/>
          <p:nvPr/>
        </p:nvSpPr>
        <p:spPr>
          <a:xfrm>
            <a:off x="5317236" y="4434840"/>
            <a:ext cx="658368" cy="658368"/>
          </a:xfrm>
          <a:prstGeom prst="ellipse">
            <a:avLst/>
          </a:prstGeom>
          <a:solidFill>
            <a:srgbClr val="4A8A45"/>
          </a:solidFill>
          <a:ln w="12700">
            <a:solidFill>
              <a:srgbClr val="4A8A45"/>
            </a:solidFill>
            <a:prstDash val="solid"/>
          </a:ln>
        </p:spPr>
      </p:sp>
      <p:pic>
        <p:nvPicPr>
          <p:cNvPr id="31" name="Image 5" descr="preencoded.png">    </p:cNvPr>
          <p:cNvPicPr>
            <a:picLocks noChangeAspect="1"/>
          </p:cNvPicPr>
          <p:nvPr/>
        </p:nvPicPr>
        <p:blipFill>
          <a:blip r:embed="rId6"/>
          <a:stretch>
            <a:fillRect/>
          </a:stretch>
        </p:blipFill>
        <p:spPr>
          <a:xfrm>
            <a:off x="5475244" y="4592848"/>
            <a:ext cx="342351" cy="342351"/>
          </a:xfrm>
          <a:prstGeom prst="rect">
            <a:avLst/>
          </a:prstGeom>
        </p:spPr>
      </p:pic>
      <p:sp>
        <p:nvSpPr>
          <p:cNvPr id="32" name="Text 24"/>
          <p:cNvSpPr txBox="1"/>
          <p:nvPr/>
        </p:nvSpPr>
        <p:spPr>
          <a:xfrm>
            <a:off x="4864608" y="5212080"/>
            <a:ext cx="1563624" cy="731520"/>
          </a:xfrm>
          <a:prstGeom prst="rect">
            <a:avLst/>
          </a:prstGeom>
          <a:noFill/>
          <a:ln/>
        </p:spPr>
        <p:txBody>
          <a:bodyPr wrap="square" lIns="0" tIns="0" rIns="0" bIns="0" rtlCol="0" anchor="ctr"/>
          <a:lstStyle/>
          <a:p>
            <a:pPr algn="ctr" indent="0" marL="0">
              <a:buNone/>
            </a:pPr>
            <a:r>
              <a:rPr lang="en-US" sz="1400" b="1" dirty="0">
                <a:solidFill>
                  <a:srgbClr val="1B2B34"/>
                </a:solidFill>
                <a:latin typeface="Calibri" pitchFamily="34" charset="0"/>
                <a:ea typeface="Calibri" pitchFamily="34" charset="-122"/>
                <a:cs typeface="Calibri" pitchFamily="34" charset="-120"/>
              </a:rPr>
              <a:t>Financial records</a:t>
            </a:r>
            <a:endParaRPr lang="en-US" sz="1400" dirty="0"/>
          </a:p>
        </p:txBody>
      </p:sp>
      <p:sp>
        <p:nvSpPr>
          <p:cNvPr id="33" name="Text 25"/>
          <p:cNvSpPr txBox="1"/>
          <p:nvPr/>
        </p:nvSpPr>
        <p:spPr>
          <a:xfrm>
            <a:off x="6537960" y="3383280"/>
            <a:ext cx="594360" cy="731520"/>
          </a:xfrm>
          <a:prstGeom prst="rect">
            <a:avLst/>
          </a:prstGeom>
          <a:noFill/>
          <a:ln/>
        </p:spPr>
        <p:txBody>
          <a:bodyPr wrap="square" lIns="0" tIns="0" rIns="0" bIns="0" rtlCol="0" anchor="ctr"/>
          <a:lstStyle/>
          <a:p>
            <a:pPr algn="ctr" indent="0" marL="0">
              <a:buNone/>
            </a:pPr>
            <a:r>
              <a:rPr lang="en-US" sz="5400" b="1" dirty="0">
                <a:solidFill>
                  <a:srgbClr val="0E5E6F"/>
                </a:solidFill>
                <a:latin typeface="Calibri" pitchFamily="34" charset="0"/>
                <a:ea typeface="Calibri" pitchFamily="34" charset="-122"/>
                <a:cs typeface="Calibri" pitchFamily="34" charset="-120"/>
              </a:rPr>
              <a:t>=</a:t>
            </a:r>
            <a:endParaRPr lang="en-US" sz="5400" dirty="0"/>
          </a:p>
        </p:txBody>
      </p:sp>
      <p:sp>
        <p:nvSpPr>
          <p:cNvPr id="34" name="Shape 26"/>
          <p:cNvSpPr/>
          <p:nvPr/>
        </p:nvSpPr>
        <p:spPr>
          <a:xfrm>
            <a:off x="7269480" y="1508760"/>
            <a:ext cx="4370832" cy="4663440"/>
          </a:xfrm>
          <a:prstGeom prst="roundRect">
            <a:avLst>
              <a:gd name="adj" fmla="val 1674"/>
            </a:avLst>
          </a:prstGeom>
          <a:solidFill>
            <a:srgbClr val="0E5E6F"/>
          </a:solidFill>
          <a:ln w="9525">
            <a:solidFill>
              <a:srgbClr val="0E5E6F"/>
            </a:solidFill>
            <a:prstDash val="solid"/>
          </a:ln>
          <a:effectLst>
            <a:outerShdw sx="100000" sy="100000" kx="0" ky="0" algn="bl" rotWithShape="0" blurRad="76200" dist="25400" dir="5400000">
              <a:srgbClr val="000000">
                <a:alpha val="10000"/>
              </a:srgbClr>
            </a:outerShdw>
          </a:effectLst>
        </p:spPr>
      </p:sp>
      <p:sp>
        <p:nvSpPr>
          <p:cNvPr id="35" name="Text 27"/>
          <p:cNvSpPr txBox="1"/>
          <p:nvPr/>
        </p:nvSpPr>
        <p:spPr>
          <a:xfrm>
            <a:off x="7543800" y="1719072"/>
            <a:ext cx="3840480" cy="274320"/>
          </a:xfrm>
          <a:prstGeom prst="rect">
            <a:avLst/>
          </a:prstGeom>
          <a:noFill/>
          <a:ln/>
        </p:spPr>
        <p:txBody>
          <a:bodyPr wrap="square" lIns="0" tIns="0" rIns="0" bIns="0" rtlCol="0" anchor="t"/>
          <a:lstStyle/>
          <a:p>
            <a:pPr indent="0" marL="0">
              <a:buNone/>
            </a:pPr>
            <a:r>
              <a:rPr lang="en-US" sz="1200" b="1" spc="200" kern="0" dirty="0">
                <a:solidFill>
                  <a:srgbClr val="A9D3DA"/>
                </a:solidFill>
                <a:latin typeface="Calibri" pitchFamily="34" charset="0"/>
                <a:ea typeface="Calibri" pitchFamily="34" charset="-122"/>
                <a:cs typeface="Calibri" pitchFamily="34" charset="-120"/>
              </a:rPr>
              <a:t>WHAT IS PRODUCED</a:t>
            </a:r>
            <a:endParaRPr lang="en-US" sz="1200" dirty="0"/>
          </a:p>
        </p:txBody>
      </p:sp>
      <p:sp>
        <p:nvSpPr>
          <p:cNvPr id="36" name="Text 28"/>
          <p:cNvSpPr txBox="1"/>
          <p:nvPr/>
        </p:nvSpPr>
        <p:spPr>
          <a:xfrm>
            <a:off x="7543800" y="2011680"/>
            <a:ext cx="393192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Project Documentation &amp; Reports</a:t>
            </a:r>
            <a:endParaRPr lang="en-US" sz="2000" dirty="0"/>
          </a:p>
        </p:txBody>
      </p:sp>
      <p:sp>
        <p:nvSpPr>
          <p:cNvPr id="37" name="Shape 29"/>
          <p:cNvSpPr/>
          <p:nvPr/>
        </p:nvSpPr>
        <p:spPr>
          <a:xfrm>
            <a:off x="7543800" y="2651760"/>
            <a:ext cx="384048" cy="384048"/>
          </a:xfrm>
          <a:prstGeom prst="ellipse">
            <a:avLst/>
          </a:prstGeom>
          <a:solidFill>
            <a:srgbClr val="0A4552"/>
          </a:solidFill>
          <a:ln w="12700">
            <a:solidFill>
              <a:srgbClr val="0A4552"/>
            </a:solidFill>
            <a:prstDash val="solid"/>
          </a:ln>
        </p:spPr>
      </p:sp>
      <p:pic>
        <p:nvPicPr>
          <p:cNvPr id="38" name="Image 6" descr="preencoded.png">    </p:cNvPr>
          <p:cNvPicPr>
            <a:picLocks noChangeAspect="1"/>
          </p:cNvPicPr>
          <p:nvPr/>
        </p:nvPicPr>
        <p:blipFill>
          <a:blip r:embed="rId7"/>
          <a:stretch>
            <a:fillRect/>
          </a:stretch>
        </p:blipFill>
        <p:spPr>
          <a:xfrm>
            <a:off x="7635972" y="2743932"/>
            <a:ext cx="199705" cy="199705"/>
          </a:xfrm>
          <a:prstGeom prst="rect">
            <a:avLst/>
          </a:prstGeom>
        </p:spPr>
      </p:pic>
      <p:sp>
        <p:nvSpPr>
          <p:cNvPr id="39" name="Text 30"/>
          <p:cNvSpPr txBox="1"/>
          <p:nvPr/>
        </p:nvSpPr>
        <p:spPr>
          <a:xfrm>
            <a:off x="8065008" y="2651760"/>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Project dashboard (milestones &amp; issues)</a:t>
            </a:r>
            <a:endParaRPr lang="en-US" sz="1500" dirty="0"/>
          </a:p>
        </p:txBody>
      </p:sp>
      <p:sp>
        <p:nvSpPr>
          <p:cNvPr id="40" name="Shape 31"/>
          <p:cNvSpPr/>
          <p:nvPr/>
        </p:nvSpPr>
        <p:spPr>
          <a:xfrm>
            <a:off x="7543800" y="3136392"/>
            <a:ext cx="384048" cy="384048"/>
          </a:xfrm>
          <a:prstGeom prst="ellipse">
            <a:avLst/>
          </a:prstGeom>
          <a:solidFill>
            <a:srgbClr val="0A4552"/>
          </a:solidFill>
          <a:ln w="12700">
            <a:solidFill>
              <a:srgbClr val="0A4552"/>
            </a:solidFill>
            <a:prstDash val="solid"/>
          </a:ln>
        </p:spPr>
      </p:sp>
      <p:pic>
        <p:nvPicPr>
          <p:cNvPr id="41" name="Image 7" descr="preencoded.png">    </p:cNvPr>
          <p:cNvPicPr>
            <a:picLocks noChangeAspect="1"/>
          </p:cNvPicPr>
          <p:nvPr/>
        </p:nvPicPr>
        <p:blipFill>
          <a:blip r:embed="rId8"/>
          <a:stretch>
            <a:fillRect/>
          </a:stretch>
        </p:blipFill>
        <p:spPr>
          <a:xfrm>
            <a:off x="7635972" y="3228564"/>
            <a:ext cx="199705" cy="199705"/>
          </a:xfrm>
          <a:prstGeom prst="rect">
            <a:avLst/>
          </a:prstGeom>
        </p:spPr>
      </p:pic>
      <p:sp>
        <p:nvSpPr>
          <p:cNvPr id="42" name="Text 32"/>
          <p:cNvSpPr txBox="1"/>
          <p:nvPr/>
        </p:nvSpPr>
        <p:spPr>
          <a:xfrm>
            <a:off x="8065008" y="3136392"/>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Monthly progress reports</a:t>
            </a:r>
            <a:endParaRPr lang="en-US" sz="1500" dirty="0"/>
          </a:p>
        </p:txBody>
      </p:sp>
      <p:sp>
        <p:nvSpPr>
          <p:cNvPr id="43" name="Shape 33"/>
          <p:cNvSpPr/>
          <p:nvPr/>
        </p:nvSpPr>
        <p:spPr>
          <a:xfrm>
            <a:off x="7543800" y="3621024"/>
            <a:ext cx="384048" cy="384048"/>
          </a:xfrm>
          <a:prstGeom prst="ellipse">
            <a:avLst/>
          </a:prstGeom>
          <a:solidFill>
            <a:srgbClr val="0A4552"/>
          </a:solidFill>
          <a:ln w="12700">
            <a:solidFill>
              <a:srgbClr val="0A4552"/>
            </a:solidFill>
            <a:prstDash val="solid"/>
          </a:ln>
        </p:spPr>
      </p:sp>
      <p:pic>
        <p:nvPicPr>
          <p:cNvPr id="44" name="Image 8" descr="preencoded.png">    </p:cNvPr>
          <p:cNvPicPr>
            <a:picLocks noChangeAspect="1"/>
          </p:cNvPicPr>
          <p:nvPr/>
        </p:nvPicPr>
        <p:blipFill>
          <a:blip r:embed="rId9"/>
          <a:stretch>
            <a:fillRect/>
          </a:stretch>
        </p:blipFill>
        <p:spPr>
          <a:xfrm>
            <a:off x="7635972" y="3713196"/>
            <a:ext cx="199705" cy="199705"/>
          </a:xfrm>
          <a:prstGeom prst="rect">
            <a:avLst/>
          </a:prstGeom>
        </p:spPr>
      </p:pic>
      <p:sp>
        <p:nvSpPr>
          <p:cNvPr id="45" name="Text 34"/>
          <p:cNvSpPr txBox="1"/>
          <p:nvPr/>
        </p:nvSpPr>
        <p:spPr>
          <a:xfrm>
            <a:off x="8065008" y="3621024"/>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Quarterly reports</a:t>
            </a:r>
            <a:endParaRPr lang="en-US" sz="1500" dirty="0"/>
          </a:p>
        </p:txBody>
      </p:sp>
      <p:sp>
        <p:nvSpPr>
          <p:cNvPr id="46" name="Shape 35"/>
          <p:cNvSpPr/>
          <p:nvPr/>
        </p:nvSpPr>
        <p:spPr>
          <a:xfrm>
            <a:off x="7543800" y="4105656"/>
            <a:ext cx="384048" cy="384048"/>
          </a:xfrm>
          <a:prstGeom prst="ellipse">
            <a:avLst/>
          </a:prstGeom>
          <a:solidFill>
            <a:srgbClr val="0A4552"/>
          </a:solidFill>
          <a:ln w="12700">
            <a:solidFill>
              <a:srgbClr val="0A4552"/>
            </a:solidFill>
            <a:prstDash val="solid"/>
          </a:ln>
        </p:spPr>
      </p:sp>
      <p:pic>
        <p:nvPicPr>
          <p:cNvPr id="47" name="Image 9" descr="preencoded.png">    </p:cNvPr>
          <p:cNvPicPr>
            <a:picLocks noChangeAspect="1"/>
          </p:cNvPicPr>
          <p:nvPr/>
        </p:nvPicPr>
        <p:blipFill>
          <a:blip r:embed="rId10"/>
          <a:stretch>
            <a:fillRect/>
          </a:stretch>
        </p:blipFill>
        <p:spPr>
          <a:xfrm>
            <a:off x="7635972" y="4197828"/>
            <a:ext cx="199705" cy="199705"/>
          </a:xfrm>
          <a:prstGeom prst="rect">
            <a:avLst/>
          </a:prstGeom>
        </p:spPr>
      </p:pic>
      <p:sp>
        <p:nvSpPr>
          <p:cNvPr id="48" name="Text 36"/>
          <p:cNvSpPr txBox="1"/>
          <p:nvPr/>
        </p:nvSpPr>
        <p:spPr>
          <a:xfrm>
            <a:off x="8065008" y="4105656"/>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Financial documentation</a:t>
            </a:r>
            <a:endParaRPr lang="en-US" sz="1500" dirty="0"/>
          </a:p>
        </p:txBody>
      </p:sp>
      <p:sp>
        <p:nvSpPr>
          <p:cNvPr id="49" name="Shape 37"/>
          <p:cNvSpPr/>
          <p:nvPr/>
        </p:nvSpPr>
        <p:spPr>
          <a:xfrm>
            <a:off x="7543800" y="4590288"/>
            <a:ext cx="384048" cy="384048"/>
          </a:xfrm>
          <a:prstGeom prst="ellipse">
            <a:avLst/>
          </a:prstGeom>
          <a:solidFill>
            <a:srgbClr val="0A4552"/>
          </a:solidFill>
          <a:ln w="12700">
            <a:solidFill>
              <a:srgbClr val="0A4552"/>
            </a:solidFill>
            <a:prstDash val="solid"/>
          </a:ln>
        </p:spPr>
      </p:sp>
      <p:pic>
        <p:nvPicPr>
          <p:cNvPr id="50" name="Image 10" descr="preencoded.png">    </p:cNvPr>
          <p:cNvPicPr>
            <a:picLocks noChangeAspect="1"/>
          </p:cNvPicPr>
          <p:nvPr/>
        </p:nvPicPr>
        <p:blipFill>
          <a:blip r:embed="rId11"/>
          <a:stretch>
            <a:fillRect/>
          </a:stretch>
        </p:blipFill>
        <p:spPr>
          <a:xfrm>
            <a:off x="7635972" y="4682460"/>
            <a:ext cx="199705" cy="199705"/>
          </a:xfrm>
          <a:prstGeom prst="rect">
            <a:avLst/>
          </a:prstGeom>
        </p:spPr>
      </p:pic>
      <p:sp>
        <p:nvSpPr>
          <p:cNvPr id="51" name="Text 38"/>
          <p:cNvSpPr txBox="1"/>
          <p:nvPr/>
        </p:nvSpPr>
        <p:spPr>
          <a:xfrm>
            <a:off x="8065008" y="4590288"/>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Success stories &amp; case studies</a:t>
            </a:r>
            <a:endParaRPr lang="en-US" sz="1500" dirty="0"/>
          </a:p>
        </p:txBody>
      </p:sp>
      <p:sp>
        <p:nvSpPr>
          <p:cNvPr id="52" name="Shape 39"/>
          <p:cNvSpPr/>
          <p:nvPr/>
        </p:nvSpPr>
        <p:spPr>
          <a:xfrm>
            <a:off x="7543800" y="5074920"/>
            <a:ext cx="384048" cy="384048"/>
          </a:xfrm>
          <a:prstGeom prst="ellipse">
            <a:avLst/>
          </a:prstGeom>
          <a:solidFill>
            <a:srgbClr val="0A4552"/>
          </a:solidFill>
          <a:ln w="12700">
            <a:solidFill>
              <a:srgbClr val="0A4552"/>
            </a:solidFill>
            <a:prstDash val="solid"/>
          </a:ln>
        </p:spPr>
      </p:sp>
      <p:pic>
        <p:nvPicPr>
          <p:cNvPr id="53" name="Image 11" descr="preencoded.png">    </p:cNvPr>
          <p:cNvPicPr>
            <a:picLocks noChangeAspect="1"/>
          </p:cNvPicPr>
          <p:nvPr/>
        </p:nvPicPr>
        <p:blipFill>
          <a:blip r:embed="rId12"/>
          <a:stretch>
            <a:fillRect/>
          </a:stretch>
        </p:blipFill>
        <p:spPr>
          <a:xfrm>
            <a:off x="7635972" y="5167092"/>
            <a:ext cx="199705" cy="199705"/>
          </a:xfrm>
          <a:prstGeom prst="rect">
            <a:avLst/>
          </a:prstGeom>
        </p:spPr>
      </p:pic>
      <p:sp>
        <p:nvSpPr>
          <p:cNvPr id="54" name="Text 40"/>
          <p:cNvSpPr txBox="1"/>
          <p:nvPr/>
        </p:nvSpPr>
        <p:spPr>
          <a:xfrm>
            <a:off x="8065008" y="5074920"/>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Impact assessment report</a:t>
            </a:r>
            <a:endParaRPr lang="en-US" sz="1500" dirty="0"/>
          </a:p>
        </p:txBody>
      </p:sp>
      <p:sp>
        <p:nvSpPr>
          <p:cNvPr id="55" name="Shape 41"/>
          <p:cNvSpPr/>
          <p:nvPr/>
        </p:nvSpPr>
        <p:spPr>
          <a:xfrm>
            <a:off x="7543800" y="5559552"/>
            <a:ext cx="384048" cy="384048"/>
          </a:xfrm>
          <a:prstGeom prst="ellipse">
            <a:avLst/>
          </a:prstGeom>
          <a:solidFill>
            <a:srgbClr val="0A4552"/>
          </a:solidFill>
          <a:ln w="12700">
            <a:solidFill>
              <a:srgbClr val="0A4552"/>
            </a:solidFill>
            <a:prstDash val="solid"/>
          </a:ln>
        </p:spPr>
      </p:sp>
      <p:pic>
        <p:nvPicPr>
          <p:cNvPr id="56" name="Image 12" descr="preencoded.png">    </p:cNvPr>
          <p:cNvPicPr>
            <a:picLocks noChangeAspect="1"/>
          </p:cNvPicPr>
          <p:nvPr/>
        </p:nvPicPr>
        <p:blipFill>
          <a:blip r:embed="rId13"/>
          <a:stretch>
            <a:fillRect/>
          </a:stretch>
        </p:blipFill>
        <p:spPr>
          <a:xfrm>
            <a:off x="7635972" y="5651724"/>
            <a:ext cx="199705" cy="199705"/>
          </a:xfrm>
          <a:prstGeom prst="rect">
            <a:avLst/>
          </a:prstGeom>
        </p:spPr>
      </p:pic>
      <p:sp>
        <p:nvSpPr>
          <p:cNvPr id="57" name="Text 42"/>
          <p:cNvSpPr txBox="1"/>
          <p:nvPr/>
        </p:nvSpPr>
        <p:spPr>
          <a:xfrm>
            <a:off x="8065008" y="5559552"/>
            <a:ext cx="3474720" cy="38404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Final project dossier</a:t>
            </a:r>
            <a:endParaRPr lang="en-US" sz="1500" dirty="0"/>
          </a:p>
        </p:txBody>
      </p:sp>
      <p:sp>
        <p:nvSpPr>
          <p:cNvPr id="58" name="Text 43"/>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59" name="Text 44"/>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SUSTAINABILITY</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What Happens After Installation</a:t>
            </a:r>
            <a:endParaRPr lang="en-US" sz="3200" dirty="0"/>
          </a:p>
        </p:txBody>
      </p:sp>
      <p:sp>
        <p:nvSpPr>
          <p:cNvPr id="4" name="Shape 2"/>
          <p:cNvSpPr/>
          <p:nvPr/>
        </p:nvSpPr>
        <p:spPr>
          <a:xfrm>
            <a:off x="548640" y="1463040"/>
            <a:ext cx="2313432" cy="731520"/>
          </a:xfrm>
          <a:prstGeom prst="homePlate">
            <a:avLst/>
          </a:prstGeom>
          <a:solidFill>
            <a:srgbClr val="0E5E6F"/>
          </a:solidFill>
          <a:ln w="19050">
            <a:solidFill>
              <a:srgbClr val="FFFFFF"/>
            </a:solidFill>
            <a:prstDash val="solid"/>
          </a:ln>
        </p:spPr>
      </p:sp>
      <p:sp>
        <p:nvSpPr>
          <p:cNvPr id="5" name="Text 3"/>
          <p:cNvSpPr txBox="1"/>
          <p:nvPr/>
        </p:nvSpPr>
        <p:spPr>
          <a:xfrm>
            <a:off x="685800" y="1463040"/>
            <a:ext cx="1627632" cy="7315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Installation</a:t>
            </a:r>
            <a:endParaRPr lang="en-US" sz="1450" dirty="0"/>
          </a:p>
        </p:txBody>
      </p:sp>
      <p:sp>
        <p:nvSpPr>
          <p:cNvPr id="6" name="Shape 4"/>
          <p:cNvSpPr/>
          <p:nvPr/>
        </p:nvSpPr>
        <p:spPr>
          <a:xfrm>
            <a:off x="640080" y="2359152"/>
            <a:ext cx="2011680" cy="1618488"/>
          </a:xfrm>
          <a:prstGeom prst="roundRect">
            <a:avLst>
              <a:gd name="adj" fmla="val 4520"/>
            </a:avLst>
          </a:prstGeom>
          <a:solidFill>
            <a:srgbClr val="F2F5F6"/>
          </a:solidFill>
          <a:ln w="9525">
            <a:solidFill>
              <a:srgbClr val="F2F5F6"/>
            </a:solidFill>
            <a:prstDash val="solid"/>
          </a:ln>
        </p:spPr>
      </p:sp>
      <p:sp>
        <p:nvSpPr>
          <p:cNvPr id="7" name="Text 5"/>
          <p:cNvSpPr txBox="1"/>
          <p:nvPr/>
        </p:nvSpPr>
        <p:spPr>
          <a:xfrm>
            <a:off x="749808" y="2487168"/>
            <a:ext cx="1810512"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System installed, tested &amp; verified at each school</a:t>
            </a:r>
            <a:endParaRPr lang="en-US" sz="1250" dirty="0"/>
          </a:p>
        </p:txBody>
      </p:sp>
      <p:sp>
        <p:nvSpPr>
          <p:cNvPr id="8" name="Shape 6"/>
          <p:cNvSpPr/>
          <p:nvPr/>
        </p:nvSpPr>
        <p:spPr>
          <a:xfrm>
            <a:off x="2743200" y="1463040"/>
            <a:ext cx="2313432" cy="731520"/>
          </a:xfrm>
          <a:prstGeom prst="chevron">
            <a:avLst/>
          </a:prstGeom>
          <a:solidFill>
            <a:srgbClr val="1B7A8C"/>
          </a:solidFill>
          <a:ln w="19050">
            <a:solidFill>
              <a:srgbClr val="FFFFFF"/>
            </a:solidFill>
            <a:prstDash val="solid"/>
          </a:ln>
        </p:spPr>
      </p:sp>
      <p:sp>
        <p:nvSpPr>
          <p:cNvPr id="9" name="Text 7"/>
          <p:cNvSpPr txBox="1"/>
          <p:nvPr/>
        </p:nvSpPr>
        <p:spPr>
          <a:xfrm>
            <a:off x="3154680" y="1463040"/>
            <a:ext cx="1627632" cy="7315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Ownership</a:t>
            </a:r>
            <a:endParaRPr lang="en-US" sz="1450" dirty="0"/>
          </a:p>
        </p:txBody>
      </p:sp>
      <p:sp>
        <p:nvSpPr>
          <p:cNvPr id="10" name="Shape 8"/>
          <p:cNvSpPr/>
          <p:nvPr/>
        </p:nvSpPr>
        <p:spPr>
          <a:xfrm>
            <a:off x="2834640" y="2359152"/>
            <a:ext cx="2011680" cy="1618488"/>
          </a:xfrm>
          <a:prstGeom prst="roundRect">
            <a:avLst>
              <a:gd name="adj" fmla="val 4520"/>
            </a:avLst>
          </a:prstGeom>
          <a:solidFill>
            <a:srgbClr val="F2F5F6"/>
          </a:solidFill>
          <a:ln w="9525">
            <a:solidFill>
              <a:srgbClr val="F2F5F6"/>
            </a:solidFill>
            <a:prstDash val="solid"/>
          </a:ln>
        </p:spPr>
      </p:sp>
      <p:sp>
        <p:nvSpPr>
          <p:cNvPr id="11" name="Text 9"/>
          <p:cNvSpPr txBox="1"/>
          <p:nvPr/>
        </p:nvSpPr>
        <p:spPr>
          <a:xfrm>
            <a:off x="2944368" y="2487168"/>
            <a:ext cx="1810512"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Hardware handed over to school authorities</a:t>
            </a:r>
            <a:endParaRPr lang="en-US" sz="1250" dirty="0"/>
          </a:p>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With documentation &amp; training</a:t>
            </a:r>
            <a:endParaRPr lang="en-US" sz="1250" dirty="0"/>
          </a:p>
        </p:txBody>
      </p:sp>
      <p:sp>
        <p:nvSpPr>
          <p:cNvPr id="12" name="Shape 10"/>
          <p:cNvSpPr/>
          <p:nvPr/>
        </p:nvSpPr>
        <p:spPr>
          <a:xfrm>
            <a:off x="4937760" y="1463040"/>
            <a:ext cx="2313432" cy="731520"/>
          </a:xfrm>
          <a:prstGeom prst="chevron">
            <a:avLst/>
          </a:prstGeom>
          <a:solidFill>
            <a:srgbClr val="2F9AAE"/>
          </a:solidFill>
          <a:ln w="19050">
            <a:solidFill>
              <a:srgbClr val="FFFFFF"/>
            </a:solidFill>
            <a:prstDash val="solid"/>
          </a:ln>
        </p:spPr>
      </p:sp>
      <p:sp>
        <p:nvSpPr>
          <p:cNvPr id="13" name="Text 11"/>
          <p:cNvSpPr txBox="1"/>
          <p:nvPr/>
        </p:nvSpPr>
        <p:spPr>
          <a:xfrm>
            <a:off x="5349240" y="1463040"/>
            <a:ext cx="1627632" cy="7315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Capacity Building</a:t>
            </a:r>
            <a:endParaRPr lang="en-US" sz="1450" dirty="0"/>
          </a:p>
        </p:txBody>
      </p:sp>
      <p:sp>
        <p:nvSpPr>
          <p:cNvPr id="14" name="Shape 12"/>
          <p:cNvSpPr/>
          <p:nvPr/>
        </p:nvSpPr>
        <p:spPr>
          <a:xfrm>
            <a:off x="5029200" y="2359152"/>
            <a:ext cx="2011680" cy="1618488"/>
          </a:xfrm>
          <a:prstGeom prst="roundRect">
            <a:avLst>
              <a:gd name="adj" fmla="val 4520"/>
            </a:avLst>
          </a:prstGeom>
          <a:solidFill>
            <a:srgbClr val="F2F5F6"/>
          </a:solidFill>
          <a:ln w="9525">
            <a:solidFill>
              <a:srgbClr val="F2F5F6"/>
            </a:solidFill>
            <a:prstDash val="solid"/>
          </a:ln>
        </p:spPr>
      </p:sp>
      <p:sp>
        <p:nvSpPr>
          <p:cNvPr id="15" name="Text 13"/>
          <p:cNvSpPr txBox="1"/>
          <p:nvPr/>
        </p:nvSpPr>
        <p:spPr>
          <a:xfrm>
            <a:off x="5138928" y="2487168"/>
            <a:ext cx="1810512"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Teachers &amp; local staff trained to operate and maintain</a:t>
            </a:r>
            <a:endParaRPr lang="en-US" sz="1250" dirty="0"/>
          </a:p>
        </p:txBody>
      </p:sp>
      <p:sp>
        <p:nvSpPr>
          <p:cNvPr id="16" name="Shape 14"/>
          <p:cNvSpPr/>
          <p:nvPr/>
        </p:nvSpPr>
        <p:spPr>
          <a:xfrm>
            <a:off x="7132320" y="1463040"/>
            <a:ext cx="2313432" cy="731520"/>
          </a:xfrm>
          <a:prstGeom prst="chevron">
            <a:avLst/>
          </a:prstGeom>
          <a:solidFill>
            <a:srgbClr val="B86E0C"/>
          </a:solidFill>
          <a:ln w="19050">
            <a:solidFill>
              <a:srgbClr val="FFFFFF"/>
            </a:solidFill>
            <a:prstDash val="solid"/>
          </a:ln>
        </p:spPr>
      </p:sp>
      <p:sp>
        <p:nvSpPr>
          <p:cNvPr id="17" name="Text 15"/>
          <p:cNvSpPr txBox="1"/>
          <p:nvPr/>
        </p:nvSpPr>
        <p:spPr>
          <a:xfrm>
            <a:off x="7543800" y="1463040"/>
            <a:ext cx="1627632" cy="7315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Maintenance</a:t>
            </a:r>
            <a:endParaRPr lang="en-US" sz="1450" dirty="0"/>
          </a:p>
        </p:txBody>
      </p:sp>
      <p:sp>
        <p:nvSpPr>
          <p:cNvPr id="18" name="Shape 16"/>
          <p:cNvSpPr/>
          <p:nvPr/>
        </p:nvSpPr>
        <p:spPr>
          <a:xfrm>
            <a:off x="7223760" y="2359152"/>
            <a:ext cx="2011680" cy="1618488"/>
          </a:xfrm>
          <a:prstGeom prst="roundRect">
            <a:avLst>
              <a:gd name="adj" fmla="val 4520"/>
            </a:avLst>
          </a:prstGeom>
          <a:solidFill>
            <a:srgbClr val="F2F5F6"/>
          </a:solidFill>
          <a:ln w="9525">
            <a:solidFill>
              <a:srgbClr val="F2F5F6"/>
            </a:solidFill>
            <a:prstDash val="solid"/>
          </a:ln>
        </p:spPr>
      </p:sp>
      <p:sp>
        <p:nvSpPr>
          <p:cNvPr id="19" name="Text 17"/>
          <p:cNvSpPr txBox="1"/>
          <p:nvPr/>
        </p:nvSpPr>
        <p:spPr>
          <a:xfrm>
            <a:off x="7333488" y="2487168"/>
            <a:ext cx="1810512"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12-month maintenance support</a:t>
            </a:r>
            <a:endParaRPr lang="en-US" sz="1250" dirty="0"/>
          </a:p>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12-month water-quality testing</a:t>
            </a:r>
            <a:endParaRPr lang="en-US" sz="1250" dirty="0"/>
          </a:p>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Local technicians for check-ups &amp; repairs</a:t>
            </a:r>
            <a:endParaRPr lang="en-US" sz="1250" dirty="0"/>
          </a:p>
        </p:txBody>
      </p:sp>
      <p:sp>
        <p:nvSpPr>
          <p:cNvPr id="20" name="Shape 18"/>
          <p:cNvSpPr/>
          <p:nvPr/>
        </p:nvSpPr>
        <p:spPr>
          <a:xfrm>
            <a:off x="9326880" y="1463040"/>
            <a:ext cx="2313432" cy="731520"/>
          </a:xfrm>
          <a:prstGeom prst="chevron">
            <a:avLst/>
          </a:prstGeom>
          <a:solidFill>
            <a:srgbClr val="4A8A45"/>
          </a:solidFill>
          <a:ln w="19050">
            <a:solidFill>
              <a:srgbClr val="FFFFFF"/>
            </a:solidFill>
            <a:prstDash val="solid"/>
          </a:ln>
        </p:spPr>
      </p:sp>
      <p:sp>
        <p:nvSpPr>
          <p:cNvPr id="21" name="Text 19"/>
          <p:cNvSpPr txBox="1"/>
          <p:nvPr/>
        </p:nvSpPr>
        <p:spPr>
          <a:xfrm>
            <a:off x="9738360" y="1463040"/>
            <a:ext cx="1627632" cy="73152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Long-Term Use</a:t>
            </a:r>
            <a:endParaRPr lang="en-US" sz="1450" dirty="0"/>
          </a:p>
        </p:txBody>
      </p:sp>
      <p:sp>
        <p:nvSpPr>
          <p:cNvPr id="22" name="Shape 20"/>
          <p:cNvSpPr/>
          <p:nvPr/>
        </p:nvSpPr>
        <p:spPr>
          <a:xfrm>
            <a:off x="9418320" y="2359152"/>
            <a:ext cx="2011680" cy="1618488"/>
          </a:xfrm>
          <a:prstGeom prst="roundRect">
            <a:avLst>
              <a:gd name="adj" fmla="val 4520"/>
            </a:avLst>
          </a:prstGeom>
          <a:solidFill>
            <a:srgbClr val="F2F5F6"/>
          </a:solidFill>
          <a:ln w="9525">
            <a:solidFill>
              <a:srgbClr val="F2F5F6"/>
            </a:solidFill>
            <a:prstDash val="solid"/>
          </a:ln>
        </p:spPr>
      </p:sp>
      <p:sp>
        <p:nvSpPr>
          <p:cNvPr id="23" name="Text 21"/>
          <p:cNvSpPr txBox="1"/>
          <p:nvPr/>
        </p:nvSpPr>
        <p:spPr>
          <a:xfrm>
            <a:off x="9528048" y="2487168"/>
            <a:ext cx="1810512"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Periodic visits &amp; usage monitoring</a:t>
            </a:r>
            <a:endParaRPr lang="en-US" sz="1250" dirty="0"/>
          </a:p>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Community-led minor upkeep</a:t>
            </a:r>
            <a:endParaRPr lang="en-US" sz="1250" dirty="0"/>
          </a:p>
          <a:p>
            <a:pPr marL="152400" indent="-152400">
              <a:spcAft>
                <a:spcPts val="600"/>
              </a:spcAft>
              <a:buSzPct val="100000"/>
              <a:buChar char="•"/>
            </a:pPr>
            <a:r>
              <a:rPr lang="en-US" sz="1250" dirty="0">
                <a:solidFill>
                  <a:srgbClr val="1B2B34"/>
                </a:solidFill>
                <a:latin typeface="Calibri" pitchFamily="34" charset="0"/>
                <a:ea typeface="Calibri" pitchFamily="34" charset="-122"/>
                <a:cs typeface="Calibri" pitchFamily="34" charset="-120"/>
              </a:rPr>
              <a:t>Hardware life of 15–20 years</a:t>
            </a:r>
            <a:endParaRPr lang="en-US" sz="1250" dirty="0"/>
          </a:p>
        </p:txBody>
      </p:sp>
      <p:sp>
        <p:nvSpPr>
          <p:cNvPr id="24" name="Shape 22"/>
          <p:cNvSpPr/>
          <p:nvPr/>
        </p:nvSpPr>
        <p:spPr>
          <a:xfrm>
            <a:off x="548640" y="4160520"/>
            <a:ext cx="4894682" cy="2057400"/>
          </a:xfrm>
          <a:prstGeom prst="roundRect">
            <a:avLst>
              <a:gd name="adj" fmla="val 3556"/>
            </a:avLst>
          </a:prstGeom>
          <a:solidFill>
            <a:srgbClr val="E4F1F3"/>
          </a:solidFill>
          <a:ln w="9525">
            <a:solidFill>
              <a:srgbClr val="E4F1F3"/>
            </a:solidFill>
            <a:prstDash val="solid"/>
          </a:ln>
        </p:spPr>
      </p:sp>
      <p:sp>
        <p:nvSpPr>
          <p:cNvPr id="25" name="Shape 23"/>
          <p:cNvSpPr/>
          <p:nvPr/>
        </p:nvSpPr>
        <p:spPr>
          <a:xfrm>
            <a:off x="731520" y="4389120"/>
            <a:ext cx="502920" cy="502920"/>
          </a:xfrm>
          <a:prstGeom prst="ellipse">
            <a:avLst/>
          </a:prstGeom>
          <a:solidFill>
            <a:srgbClr val="0E5E6F"/>
          </a:solidFill>
          <a:ln w="12700">
            <a:solidFill>
              <a:srgbClr val="0E5E6F"/>
            </a:solidFill>
            <a:prstDash val="solid"/>
          </a:ln>
        </p:spPr>
      </p:sp>
      <p:pic>
        <p:nvPicPr>
          <p:cNvPr id="26" name="Image 0" descr="preencoded.png">    </p:cNvPr>
          <p:cNvPicPr>
            <a:picLocks noChangeAspect="1"/>
          </p:cNvPicPr>
          <p:nvPr/>
        </p:nvPicPr>
        <p:blipFill>
          <a:blip r:embed="rId1"/>
          <a:stretch>
            <a:fillRect/>
          </a:stretch>
        </p:blipFill>
        <p:spPr>
          <a:xfrm>
            <a:off x="852221" y="4509821"/>
            <a:ext cx="261518" cy="261518"/>
          </a:xfrm>
          <a:prstGeom prst="rect">
            <a:avLst/>
          </a:prstGeom>
        </p:spPr>
      </p:pic>
      <p:sp>
        <p:nvSpPr>
          <p:cNvPr id="27" name="Text 24"/>
          <p:cNvSpPr txBox="1"/>
          <p:nvPr/>
        </p:nvSpPr>
        <p:spPr>
          <a:xfrm>
            <a:off x="1371600" y="4389120"/>
            <a:ext cx="2468880" cy="502920"/>
          </a:xfrm>
          <a:prstGeom prst="rect">
            <a:avLst/>
          </a:prstGeom>
          <a:noFill/>
          <a:ln/>
        </p:spPr>
        <p:txBody>
          <a:bodyPr wrap="square" lIns="0" tIns="0" rIns="0" bIns="0" rtlCol="0" anchor="ctr"/>
          <a:lstStyle/>
          <a:p>
            <a:pPr indent="0" marL="0">
              <a:buNone/>
            </a:pPr>
            <a:r>
              <a:rPr lang="en-US" sz="1300" b="1" spc="200" kern="0" dirty="0">
                <a:solidFill>
                  <a:srgbClr val="0E5E6F"/>
                </a:solidFill>
                <a:latin typeface="Calibri" pitchFamily="34" charset="0"/>
                <a:ea typeface="Calibri" pitchFamily="34" charset="-122"/>
                <a:cs typeface="Calibri" pitchFamily="34" charset="-120"/>
              </a:rPr>
              <a:t>END STATE</a:t>
            </a:r>
            <a:endParaRPr lang="en-US" sz="1300" dirty="0"/>
          </a:p>
        </p:txBody>
      </p:sp>
      <p:sp>
        <p:nvSpPr>
          <p:cNvPr id="28" name="Text 25"/>
          <p:cNvSpPr txBox="1"/>
          <p:nvPr/>
        </p:nvSpPr>
        <p:spPr>
          <a:xfrm>
            <a:off x="731520" y="5074920"/>
            <a:ext cx="4528922" cy="1005840"/>
          </a:xfrm>
          <a:prstGeom prst="rect">
            <a:avLst/>
          </a:prstGeom>
          <a:noFill/>
          <a:ln/>
        </p:spPr>
        <p:txBody>
          <a:bodyPr wrap="square" lIns="0" tIns="0" rIns="0" bIns="0" rtlCol="0" anchor="t"/>
          <a:lstStyle/>
          <a:p>
            <a:pPr indent="0" marL="0">
              <a:buNone/>
            </a:pPr>
            <a:r>
              <a:rPr lang="en-US" sz="1400" dirty="0">
                <a:solidFill>
                  <a:srgbClr val="1B2B34"/>
                </a:solidFill>
                <a:latin typeface="Calibri" pitchFamily="34" charset="0"/>
                <a:ea typeface="Calibri" pitchFamily="34" charset="-122"/>
                <a:cs typeface="Calibri" pitchFamily="34" charset="-120"/>
              </a:rPr>
              <a:t>The school owns and operates the system, backed by trained staff, local technicians and an engaged community.</a:t>
            </a:r>
            <a:endParaRPr lang="en-US" sz="1400" dirty="0"/>
          </a:p>
        </p:txBody>
      </p:sp>
      <p:pic>
        <p:nvPicPr>
          <p:cNvPr id="29" name="Image 1" descr="Inauguration">    </p:cNvPr>
          <p:cNvPicPr>
            <a:picLocks noChangeAspect="1"/>
          </p:cNvPicPr>
          <p:nvPr/>
        </p:nvPicPr>
        <p:blipFill>
          <a:blip r:embed="rId2"/>
          <a:stretch>
            <a:fillRect/>
          </a:stretch>
        </p:blipFill>
        <p:spPr>
          <a:xfrm>
            <a:off x="5626202" y="4160520"/>
            <a:ext cx="3088030" cy="2057400"/>
          </a:xfrm>
          <a:prstGeom prst="rect">
            <a:avLst/>
          </a:prstGeom>
        </p:spPr>
      </p:pic>
      <p:sp>
        <p:nvSpPr>
          <p:cNvPr id="30" name="Shape 26"/>
          <p:cNvSpPr/>
          <p:nvPr/>
        </p:nvSpPr>
        <p:spPr>
          <a:xfrm>
            <a:off x="5717642" y="4251960"/>
            <a:ext cx="1207008"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31" name="Text 27"/>
          <p:cNvSpPr txBox="1"/>
          <p:nvPr/>
        </p:nvSpPr>
        <p:spPr>
          <a:xfrm>
            <a:off x="5717642" y="4251960"/>
            <a:ext cx="1207008"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INAUGURATION</a:t>
            </a:r>
            <a:endParaRPr lang="en-US" sz="1000" dirty="0"/>
          </a:p>
        </p:txBody>
      </p:sp>
      <p:pic>
        <p:nvPicPr>
          <p:cNvPr id="32" name="Image 2" descr="Maintenance">    </p:cNvPr>
          <p:cNvPicPr>
            <a:picLocks noChangeAspect="1"/>
          </p:cNvPicPr>
          <p:nvPr/>
        </p:nvPicPr>
        <p:blipFill>
          <a:blip r:embed="rId3"/>
          <a:stretch>
            <a:fillRect/>
          </a:stretch>
        </p:blipFill>
        <p:spPr>
          <a:xfrm>
            <a:off x="8897112" y="4160520"/>
            <a:ext cx="2743200" cy="2057400"/>
          </a:xfrm>
          <a:prstGeom prst="rect">
            <a:avLst/>
          </a:prstGeom>
        </p:spPr>
      </p:pic>
      <p:sp>
        <p:nvSpPr>
          <p:cNvPr id="33" name="Shape 28"/>
          <p:cNvSpPr/>
          <p:nvPr/>
        </p:nvSpPr>
        <p:spPr>
          <a:xfrm>
            <a:off x="8988552" y="4251960"/>
            <a:ext cx="1129284" cy="274320"/>
          </a:xfrm>
          <a:prstGeom prst="roundRect">
            <a:avLst>
              <a:gd name="adj" fmla="val 20000"/>
            </a:avLst>
          </a:prstGeom>
          <a:solidFill>
            <a:srgbClr val="1B2B34">
              <a:alpha val="85000"/>
            </a:srgbClr>
          </a:solidFill>
          <a:ln w="12700">
            <a:solidFill>
              <a:srgbClr val="1B2B34">
                <a:alpha val="85000"/>
              </a:srgbClr>
            </a:solidFill>
            <a:prstDash val="solid"/>
          </a:ln>
        </p:spPr>
      </p:sp>
      <p:sp>
        <p:nvSpPr>
          <p:cNvPr id="34" name="Text 29"/>
          <p:cNvSpPr txBox="1"/>
          <p:nvPr/>
        </p:nvSpPr>
        <p:spPr>
          <a:xfrm>
            <a:off x="8988552" y="4251960"/>
            <a:ext cx="1129284"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MAINTENANCE</a:t>
            </a:r>
            <a:endParaRPr lang="en-US" sz="1000" dirty="0"/>
          </a:p>
        </p:txBody>
      </p:sp>
      <p:sp>
        <p:nvSpPr>
          <p:cNvPr id="35" name="Text 30"/>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36" name="Text 31"/>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274320"/>
          </a:xfrm>
          <a:prstGeom prst="rect">
            <a:avLst/>
          </a:prstGeom>
          <a:noFill/>
          <a:ln/>
        </p:spPr>
        <p:txBody>
          <a:bodyPr wrap="square" lIns="0" tIns="0" rIns="0" bIns="0" rtlCol="0" anchor="t"/>
          <a:lstStyle/>
          <a:p>
            <a:pPr indent="0" marL="0">
              <a:buNone/>
            </a:pPr>
            <a:r>
              <a:rPr lang="en-US" sz="1300" b="1" spc="200" kern="0" dirty="0">
                <a:solidFill>
                  <a:srgbClr val="B94E2A"/>
                </a:solidFill>
                <a:latin typeface="Calibri" pitchFamily="34" charset="0"/>
                <a:ea typeface="Calibri" pitchFamily="34" charset="-122"/>
                <a:cs typeface="Calibri" pitchFamily="34" charset="-120"/>
              </a:rPr>
              <a:t>OUTCOMES &amp; FIELD EXPERIENCE</a:t>
            </a:r>
            <a:endParaRPr lang="en-US" sz="13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Expected Impact &amp; Past Projects</a:t>
            </a:r>
            <a:endParaRPr lang="en-US" sz="3200" dirty="0"/>
          </a:p>
        </p:txBody>
      </p:sp>
      <p:sp>
        <p:nvSpPr>
          <p:cNvPr id="4" name="Text 2"/>
          <p:cNvSpPr txBox="1"/>
          <p:nvPr/>
        </p:nvSpPr>
        <p:spPr>
          <a:xfrm>
            <a:off x="548640" y="1463040"/>
            <a:ext cx="4480560" cy="274320"/>
          </a:xfrm>
          <a:prstGeom prst="rect">
            <a:avLst/>
          </a:prstGeom>
          <a:noFill/>
          <a:ln/>
        </p:spPr>
        <p:txBody>
          <a:bodyPr wrap="square" lIns="0" tIns="0" rIns="0" bIns="0" rtlCol="0" anchor="t"/>
          <a:lstStyle/>
          <a:p>
            <a:pPr indent="0" marL="0">
              <a:buNone/>
            </a:pPr>
            <a:r>
              <a:rPr lang="en-US" sz="1200" b="1" spc="200" kern="0" dirty="0">
                <a:solidFill>
                  <a:srgbClr val="B94E2A"/>
                </a:solidFill>
                <a:latin typeface="Calibri" pitchFamily="34" charset="0"/>
                <a:ea typeface="Calibri" pitchFamily="34" charset="-122"/>
                <a:cs typeface="Calibri" pitchFamily="34" charset="-120"/>
              </a:rPr>
              <a:t>A · EXPECTED IMPACT</a:t>
            </a:r>
            <a:endParaRPr lang="en-US" sz="1200" dirty="0"/>
          </a:p>
        </p:txBody>
      </p:sp>
      <p:sp>
        <p:nvSpPr>
          <p:cNvPr id="5" name="Shape 3"/>
          <p:cNvSpPr/>
          <p:nvPr/>
        </p:nvSpPr>
        <p:spPr>
          <a:xfrm>
            <a:off x="548640" y="1828800"/>
            <a:ext cx="4480560" cy="1143000"/>
          </a:xfrm>
          <a:prstGeom prst="roundRect">
            <a:avLst>
              <a:gd name="adj" fmla="val 6400"/>
            </a:avLst>
          </a:prstGeom>
          <a:solidFill>
            <a:srgbClr val="F2F5F6"/>
          </a:solidFill>
          <a:ln w="9525">
            <a:solidFill>
              <a:srgbClr val="F2F5F6"/>
            </a:solidFill>
            <a:prstDash val="solid"/>
          </a:ln>
        </p:spPr>
      </p:sp>
      <p:sp>
        <p:nvSpPr>
          <p:cNvPr id="6" name="Shape 4"/>
          <p:cNvSpPr/>
          <p:nvPr/>
        </p:nvSpPr>
        <p:spPr>
          <a:xfrm>
            <a:off x="713232" y="2011680"/>
            <a:ext cx="566928" cy="566928"/>
          </a:xfrm>
          <a:prstGeom prst="ellipse">
            <a:avLst/>
          </a:prstGeom>
          <a:solidFill>
            <a:srgbClr val="B94E2A"/>
          </a:solidFill>
          <a:ln w="12700">
            <a:solidFill>
              <a:srgbClr val="B94E2A"/>
            </a:solidFill>
            <a:prstDash val="solid"/>
          </a:ln>
        </p:spPr>
      </p:sp>
      <p:pic>
        <p:nvPicPr>
          <p:cNvPr id="7" name="Image 0" descr="preencoded.png">    </p:cNvPr>
          <p:cNvPicPr>
            <a:picLocks noChangeAspect="1"/>
          </p:cNvPicPr>
          <p:nvPr/>
        </p:nvPicPr>
        <p:blipFill>
          <a:blip r:embed="rId1"/>
          <a:stretch>
            <a:fillRect/>
          </a:stretch>
        </p:blipFill>
        <p:spPr>
          <a:xfrm>
            <a:off x="849295" y="2147743"/>
            <a:ext cx="294803" cy="294803"/>
          </a:xfrm>
          <a:prstGeom prst="rect">
            <a:avLst/>
          </a:prstGeom>
        </p:spPr>
      </p:pic>
      <p:sp>
        <p:nvSpPr>
          <p:cNvPr id="8" name="Text 5"/>
          <p:cNvSpPr txBox="1"/>
          <p:nvPr/>
        </p:nvSpPr>
        <p:spPr>
          <a:xfrm>
            <a:off x="1444752" y="1965960"/>
            <a:ext cx="3474720" cy="365760"/>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Health</a:t>
            </a:r>
            <a:endParaRPr lang="en-US" sz="1700" dirty="0"/>
          </a:p>
        </p:txBody>
      </p:sp>
      <p:sp>
        <p:nvSpPr>
          <p:cNvPr id="9" name="Text 6"/>
          <p:cNvSpPr txBox="1"/>
          <p:nvPr/>
        </p:nvSpPr>
        <p:spPr>
          <a:xfrm>
            <a:off x="1444752" y="2304288"/>
            <a:ext cx="3474720" cy="6400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Safe drinking water · Fewer cases of fluorosis, diarrhoea &amp; waterborne illness · Better hygiene · Improved attendance</a:t>
            </a:r>
            <a:endParaRPr lang="en-US" sz="1200" dirty="0"/>
          </a:p>
        </p:txBody>
      </p:sp>
      <p:sp>
        <p:nvSpPr>
          <p:cNvPr id="10" name="Shape 7"/>
          <p:cNvSpPr/>
          <p:nvPr/>
        </p:nvSpPr>
        <p:spPr>
          <a:xfrm>
            <a:off x="548640" y="3081528"/>
            <a:ext cx="4480560" cy="1143000"/>
          </a:xfrm>
          <a:prstGeom prst="roundRect">
            <a:avLst>
              <a:gd name="adj" fmla="val 6400"/>
            </a:avLst>
          </a:prstGeom>
          <a:solidFill>
            <a:srgbClr val="F2F5F6"/>
          </a:solidFill>
          <a:ln w="9525">
            <a:solidFill>
              <a:srgbClr val="F2F5F6"/>
            </a:solidFill>
            <a:prstDash val="solid"/>
          </a:ln>
        </p:spPr>
      </p:sp>
      <p:sp>
        <p:nvSpPr>
          <p:cNvPr id="11" name="Shape 8"/>
          <p:cNvSpPr/>
          <p:nvPr/>
        </p:nvSpPr>
        <p:spPr>
          <a:xfrm>
            <a:off x="713232" y="3264408"/>
            <a:ext cx="566928" cy="566928"/>
          </a:xfrm>
          <a:prstGeom prst="ellipse">
            <a:avLst/>
          </a:prstGeom>
          <a:solidFill>
            <a:srgbClr val="2F9AAE"/>
          </a:solidFill>
          <a:ln w="12700">
            <a:solidFill>
              <a:srgbClr val="2F9AAE"/>
            </a:solidFill>
            <a:prstDash val="solid"/>
          </a:ln>
        </p:spPr>
      </p:sp>
      <p:pic>
        <p:nvPicPr>
          <p:cNvPr id="12" name="Image 1" descr="preencoded.png">    </p:cNvPr>
          <p:cNvPicPr>
            <a:picLocks noChangeAspect="1"/>
          </p:cNvPicPr>
          <p:nvPr/>
        </p:nvPicPr>
        <p:blipFill>
          <a:blip r:embed="rId2"/>
          <a:stretch>
            <a:fillRect/>
          </a:stretch>
        </p:blipFill>
        <p:spPr>
          <a:xfrm>
            <a:off x="849295" y="3400471"/>
            <a:ext cx="294803" cy="294803"/>
          </a:xfrm>
          <a:prstGeom prst="rect">
            <a:avLst/>
          </a:prstGeom>
        </p:spPr>
      </p:pic>
      <p:sp>
        <p:nvSpPr>
          <p:cNvPr id="13" name="Text 9"/>
          <p:cNvSpPr txBox="1"/>
          <p:nvPr/>
        </p:nvSpPr>
        <p:spPr>
          <a:xfrm>
            <a:off x="1444752" y="3218688"/>
            <a:ext cx="3474720" cy="365760"/>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Community</a:t>
            </a:r>
            <a:endParaRPr lang="en-US" sz="1700" dirty="0"/>
          </a:p>
        </p:txBody>
      </p:sp>
      <p:sp>
        <p:nvSpPr>
          <p:cNvPr id="14" name="Text 10"/>
          <p:cNvSpPr txBox="1"/>
          <p:nvPr/>
        </p:nvSpPr>
        <p:spPr>
          <a:xfrm>
            <a:off x="1444752" y="3557016"/>
            <a:ext cx="3474720" cy="6400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Community ownership &amp; involvement · Capacity building · Jobs for local technicians &amp; trainers</a:t>
            </a:r>
            <a:endParaRPr lang="en-US" sz="1200" dirty="0"/>
          </a:p>
        </p:txBody>
      </p:sp>
      <p:sp>
        <p:nvSpPr>
          <p:cNvPr id="15" name="Shape 11"/>
          <p:cNvSpPr/>
          <p:nvPr/>
        </p:nvSpPr>
        <p:spPr>
          <a:xfrm>
            <a:off x="548640" y="4334256"/>
            <a:ext cx="4480560" cy="1143000"/>
          </a:xfrm>
          <a:prstGeom prst="roundRect">
            <a:avLst>
              <a:gd name="adj" fmla="val 6400"/>
            </a:avLst>
          </a:prstGeom>
          <a:solidFill>
            <a:srgbClr val="F2F5F6"/>
          </a:solidFill>
          <a:ln w="9525">
            <a:solidFill>
              <a:srgbClr val="F2F5F6"/>
            </a:solidFill>
            <a:prstDash val="solid"/>
          </a:ln>
        </p:spPr>
      </p:sp>
      <p:sp>
        <p:nvSpPr>
          <p:cNvPr id="16" name="Shape 12"/>
          <p:cNvSpPr/>
          <p:nvPr/>
        </p:nvSpPr>
        <p:spPr>
          <a:xfrm>
            <a:off x="713232" y="4517136"/>
            <a:ext cx="566928" cy="566928"/>
          </a:xfrm>
          <a:prstGeom prst="ellipse">
            <a:avLst/>
          </a:prstGeom>
          <a:solidFill>
            <a:srgbClr val="4A8A45"/>
          </a:solidFill>
          <a:ln w="12700">
            <a:solidFill>
              <a:srgbClr val="4A8A45"/>
            </a:solidFill>
            <a:prstDash val="solid"/>
          </a:ln>
        </p:spPr>
      </p:sp>
      <p:pic>
        <p:nvPicPr>
          <p:cNvPr id="17" name="Image 2" descr="preencoded.png">    </p:cNvPr>
          <p:cNvPicPr>
            <a:picLocks noChangeAspect="1"/>
          </p:cNvPicPr>
          <p:nvPr/>
        </p:nvPicPr>
        <p:blipFill>
          <a:blip r:embed="rId3"/>
          <a:stretch>
            <a:fillRect/>
          </a:stretch>
        </p:blipFill>
        <p:spPr>
          <a:xfrm>
            <a:off x="849295" y="4653199"/>
            <a:ext cx="294803" cy="294803"/>
          </a:xfrm>
          <a:prstGeom prst="rect">
            <a:avLst/>
          </a:prstGeom>
        </p:spPr>
      </p:pic>
      <p:sp>
        <p:nvSpPr>
          <p:cNvPr id="18" name="Text 13"/>
          <p:cNvSpPr txBox="1"/>
          <p:nvPr/>
        </p:nvSpPr>
        <p:spPr>
          <a:xfrm>
            <a:off x="1444752" y="4471416"/>
            <a:ext cx="3474720" cy="365760"/>
          </a:xfrm>
          <a:prstGeom prst="rect">
            <a:avLst/>
          </a:prstGeom>
          <a:noFill/>
          <a:ln/>
        </p:spPr>
        <p:txBody>
          <a:bodyPr wrap="square" lIns="0" tIns="0" rIns="0" bIns="0" rtlCol="0" anchor="t"/>
          <a:lstStyle/>
          <a:p>
            <a:pPr indent="0" marL="0">
              <a:buNone/>
            </a:pPr>
            <a:r>
              <a:rPr lang="en-US" sz="1700" b="1" dirty="0">
                <a:solidFill>
                  <a:srgbClr val="1B2B34"/>
                </a:solidFill>
                <a:latin typeface="Calibri" pitchFamily="34" charset="0"/>
                <a:ea typeface="Calibri" pitchFamily="34" charset="-122"/>
                <a:cs typeface="Calibri" pitchFamily="34" charset="-120"/>
              </a:rPr>
              <a:t>Environment</a:t>
            </a:r>
            <a:endParaRPr lang="en-US" sz="1700" dirty="0"/>
          </a:p>
        </p:txBody>
      </p:sp>
      <p:sp>
        <p:nvSpPr>
          <p:cNvPr id="19" name="Text 14"/>
          <p:cNvSpPr txBox="1"/>
          <p:nvPr/>
        </p:nvSpPr>
        <p:spPr>
          <a:xfrm>
            <a:off x="1444752" y="4809744"/>
            <a:ext cx="3474720" cy="6400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Renewable solar energy · Low operational costs · Long-lasting, sustainable infrastructure</a:t>
            </a:r>
            <a:endParaRPr lang="en-US" sz="1200" dirty="0"/>
          </a:p>
        </p:txBody>
      </p:sp>
      <p:sp>
        <p:nvSpPr>
          <p:cNvPr id="20" name="Text 15"/>
          <p:cNvSpPr txBox="1"/>
          <p:nvPr/>
        </p:nvSpPr>
        <p:spPr>
          <a:xfrm>
            <a:off x="548640" y="5577840"/>
            <a:ext cx="4480560" cy="594360"/>
          </a:xfrm>
          <a:prstGeom prst="rect">
            <a:avLst/>
          </a:prstGeom>
          <a:noFill/>
          <a:ln/>
        </p:spPr>
        <p:txBody>
          <a:bodyPr wrap="square" lIns="0" tIns="0" rIns="0" bIns="0" rtlCol="0" anchor="t"/>
          <a:lstStyle/>
          <a:p>
            <a:pPr indent="0" marL="0">
              <a:buNone/>
            </a:pPr>
            <a:r>
              <a:rPr lang="en-US" sz="1200" b="1" dirty="0">
                <a:solidFill>
                  <a:srgbClr val="0E5E6F"/>
                </a:solidFill>
                <a:latin typeface="Calibri" pitchFamily="34" charset="0"/>
                <a:ea typeface="Calibri" pitchFamily="34" charset="-122"/>
                <a:cs typeface="Calibri" pitchFamily="34" charset="-120"/>
              </a:rPr>
              <a:t>Measured by: </a:t>
            </a:r>
            <a:pPr indent="0" marL="0">
              <a:buNone/>
            </a:pPr>
            <a:r>
              <a:rPr lang="en-US" sz="1200" dirty="0">
                <a:solidFill>
                  <a:srgbClr val="1B2B34"/>
                </a:solidFill>
                <a:latin typeface="Calibri" pitchFamily="34" charset="0"/>
                <a:ea typeface="Calibri" pitchFamily="34" charset="-122"/>
                <a:cs typeface="Calibri" pitchFamily="34" charset="-120"/>
              </a:rPr>
              <a:t>baseline vs. endline data, surveys, on-site inspections and observation of hygiene practices</a:t>
            </a:r>
            <a:endParaRPr lang="en-US" sz="1200" dirty="0"/>
          </a:p>
        </p:txBody>
      </p:sp>
      <p:sp>
        <p:nvSpPr>
          <p:cNvPr id="21" name="Text 16"/>
          <p:cNvSpPr txBox="1"/>
          <p:nvPr/>
        </p:nvSpPr>
        <p:spPr>
          <a:xfrm>
            <a:off x="5349240" y="1463040"/>
            <a:ext cx="6309360" cy="274320"/>
          </a:xfrm>
          <a:prstGeom prst="rect">
            <a:avLst/>
          </a:prstGeom>
          <a:noFill/>
          <a:ln/>
        </p:spPr>
        <p:txBody>
          <a:bodyPr wrap="square" lIns="0" tIns="0" rIns="0" bIns="0" rtlCol="0" anchor="t"/>
          <a:lstStyle/>
          <a:p>
            <a:pPr indent="0" marL="0">
              <a:buNone/>
            </a:pPr>
            <a:r>
              <a:rPr lang="en-US" sz="1200" b="1" spc="200" kern="0" dirty="0">
                <a:solidFill>
                  <a:srgbClr val="B94E2A"/>
                </a:solidFill>
                <a:latin typeface="Calibri" pitchFamily="34" charset="0"/>
                <a:ea typeface="Calibri" pitchFamily="34" charset="-122"/>
                <a:cs typeface="Calibri" pitchFamily="34" charset="-120"/>
              </a:rPr>
              <a:t>B · PAST PROJECTS &amp; FIELD EXPERIENCE</a:t>
            </a:r>
            <a:endParaRPr lang="en-US" sz="1200" dirty="0"/>
          </a:p>
        </p:txBody>
      </p:sp>
      <p:pic>
        <p:nvPicPr>
          <p:cNvPr id="22" name="Image 3" descr="Project photo">    </p:cNvPr>
          <p:cNvPicPr>
            <a:picLocks noChangeAspect="1"/>
          </p:cNvPicPr>
          <p:nvPr/>
        </p:nvPicPr>
        <p:blipFill>
          <a:blip r:embed="rId4"/>
          <a:stretch>
            <a:fillRect/>
          </a:stretch>
        </p:blipFill>
        <p:spPr>
          <a:xfrm>
            <a:off x="5349240" y="1828800"/>
            <a:ext cx="2857231" cy="2142923"/>
          </a:xfrm>
          <a:prstGeom prst="rect">
            <a:avLst/>
          </a:prstGeom>
        </p:spPr>
      </p:pic>
      <p:pic>
        <p:nvPicPr>
          <p:cNvPr id="23" name="Image 4" descr="Project photo">    </p:cNvPr>
          <p:cNvPicPr>
            <a:picLocks noChangeAspect="1"/>
          </p:cNvPicPr>
          <p:nvPr/>
        </p:nvPicPr>
        <p:blipFill>
          <a:blip r:embed="rId5"/>
          <a:stretch>
            <a:fillRect/>
          </a:stretch>
        </p:blipFill>
        <p:spPr>
          <a:xfrm>
            <a:off x="8316199" y="1828800"/>
            <a:ext cx="1607192" cy="2142923"/>
          </a:xfrm>
          <a:prstGeom prst="rect">
            <a:avLst/>
          </a:prstGeom>
        </p:spPr>
      </p:pic>
      <p:pic>
        <p:nvPicPr>
          <p:cNvPr id="24" name="Image 5" descr="Project photo">    </p:cNvPr>
          <p:cNvPicPr>
            <a:picLocks noChangeAspect="1"/>
          </p:cNvPicPr>
          <p:nvPr/>
        </p:nvPicPr>
        <p:blipFill>
          <a:blip r:embed="rId6"/>
          <a:stretch>
            <a:fillRect/>
          </a:stretch>
        </p:blipFill>
        <p:spPr>
          <a:xfrm>
            <a:off x="10033120" y="1828800"/>
            <a:ext cx="1607192" cy="2142923"/>
          </a:xfrm>
          <a:prstGeom prst="rect">
            <a:avLst/>
          </a:prstGeom>
        </p:spPr>
      </p:pic>
      <p:pic>
        <p:nvPicPr>
          <p:cNvPr id="25" name="Image 6" descr="Project photo">    </p:cNvPr>
          <p:cNvPicPr>
            <a:picLocks noChangeAspect="1"/>
          </p:cNvPicPr>
          <p:nvPr/>
        </p:nvPicPr>
        <p:blipFill>
          <a:blip r:embed="rId7"/>
          <a:stretch>
            <a:fillRect/>
          </a:stretch>
        </p:blipFill>
        <p:spPr>
          <a:xfrm>
            <a:off x="5349240" y="4081451"/>
            <a:ext cx="1517430" cy="2023239"/>
          </a:xfrm>
          <a:prstGeom prst="rect">
            <a:avLst/>
          </a:prstGeom>
        </p:spPr>
      </p:pic>
      <p:pic>
        <p:nvPicPr>
          <p:cNvPr id="26" name="Image 7" descr="Project photo">    </p:cNvPr>
          <p:cNvPicPr>
            <a:picLocks noChangeAspect="1"/>
          </p:cNvPicPr>
          <p:nvPr/>
        </p:nvPicPr>
        <p:blipFill>
          <a:blip r:embed="rId8"/>
          <a:stretch>
            <a:fillRect/>
          </a:stretch>
        </p:blipFill>
        <p:spPr>
          <a:xfrm>
            <a:off x="6976398" y="4081451"/>
            <a:ext cx="1517430" cy="2023239"/>
          </a:xfrm>
          <a:prstGeom prst="rect">
            <a:avLst/>
          </a:prstGeom>
        </p:spPr>
      </p:pic>
      <p:pic>
        <p:nvPicPr>
          <p:cNvPr id="27" name="Image 8" descr="Project photo">    </p:cNvPr>
          <p:cNvPicPr>
            <a:picLocks noChangeAspect="1"/>
          </p:cNvPicPr>
          <p:nvPr/>
        </p:nvPicPr>
        <p:blipFill>
          <a:blip r:embed="rId9"/>
          <a:stretch>
            <a:fillRect/>
          </a:stretch>
        </p:blipFill>
        <p:spPr>
          <a:xfrm>
            <a:off x="8603555" y="4081451"/>
            <a:ext cx="3036757" cy="2023239"/>
          </a:xfrm>
          <a:prstGeom prst="rect">
            <a:avLst/>
          </a:prstGeom>
        </p:spPr>
      </p:pic>
      <p:sp>
        <p:nvSpPr>
          <p:cNvPr id="28" name="Text 17"/>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Solar-Based RO Drinking Water Initiative  ·  DigiGaon Foundation</a:t>
            </a:r>
            <a:endParaRPr lang="en-US" sz="1000" dirty="0"/>
          </a:p>
        </p:txBody>
      </p:sp>
      <p:sp>
        <p:nvSpPr>
          <p:cNvPr id="29" name="Text 18"/>
          <p:cNvSpPr txBox="1"/>
          <p:nvPr/>
        </p:nvSpPr>
        <p:spPr>
          <a:xfrm>
            <a:off x="11091672" y="6419088"/>
            <a:ext cx="548640" cy="256032"/>
          </a:xfrm>
          <a:prstGeom prst="rect">
            <a:avLst/>
          </a:prstGeom>
          <a:noFill/>
          <a:ln/>
        </p:spPr>
        <p:txBody>
          <a:bodyPr wrap="square" lIns="0" tIns="0" rIns="0" bIns="0" rtlCol="0" anchor="t"/>
          <a:lstStyle/>
          <a:p>
            <a:pPr algn="r" indent="0" marL="0">
              <a:buNone/>
            </a:pPr>
            <a:r>
              <a:rPr lang="en-US" sz="1000" dirty="0">
                <a:solidFill>
                  <a:srgbClr val="5B67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Solar-Based RO Drinking Water Initiative — Implementation &amp; Project Delivery Overview</dc:title>
  <dc:subject>PptxGenJS Presentation</dc:subject>
  <dc:creator>DigiGaon Foundation</dc:creator>
  <cp:lastModifiedBy>DigiGaon Foundation</cp:lastModifiedBy>
  <cp:revision>1</cp:revision>
  <dcterms:created xsi:type="dcterms:W3CDTF">2026-09-29T07:31:14Z</dcterms:created>
  <dcterms:modified xsi:type="dcterms:W3CDTF">2026-09-29T07:31:14Z</dcterms:modified>
</cp:coreProperties>
</file>